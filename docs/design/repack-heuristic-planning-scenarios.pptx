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37708bee0641bf" /><Relationship Type="http://schemas.openxmlformats.org/officeDocument/2006/relationships/extended-properties" Target="/docProps/app.xml" Id="Ra85d96274bc54685" /><Relationship Type="http://schemas.openxmlformats.org/officeDocument/2006/relationships/officeDocument" Target="/ppt/presentation.xml" Id="R541a387248cc45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1b4f166db846c0"/>
  </p:sldMasterIdLst>
  <p:notesMasterIdLst>
    <p:notesMasterId xmlns:r="http://schemas.openxmlformats.org/officeDocument/2006/relationships" r:id="R6f53cffecf1242af"/>
  </p:notesMasterIdLst>
  <p:sldIdLst>
    <p:sldId xmlns:r="http://schemas.openxmlformats.org/officeDocument/2006/relationships" id="256" r:id="R03b701baa28a4d7b"/>
    <p:sldId xmlns:r="http://schemas.openxmlformats.org/officeDocument/2006/relationships" id="257" r:id="R003729cb7d1c46e3"/>
    <p:sldId xmlns:r="http://schemas.openxmlformats.org/officeDocument/2006/relationships" id="258" r:id="R5bd1d7705fe44f77"/>
    <p:sldId xmlns:r="http://schemas.openxmlformats.org/officeDocument/2006/relationships" id="259" r:id="R00c42955993e4493"/>
    <p:sldId xmlns:r="http://schemas.openxmlformats.org/officeDocument/2006/relationships" id="260" r:id="Re40ac679374f4792"/>
    <p:sldId xmlns:r="http://schemas.openxmlformats.org/officeDocument/2006/relationships" id="261" r:id="R76599159ffe948ae"/>
    <p:sldId xmlns:r="http://schemas.openxmlformats.org/officeDocument/2006/relationships" id="262" r:id="R34b01fc59c1048e0"/>
    <p:sldId xmlns:r="http://schemas.openxmlformats.org/officeDocument/2006/relationships" id="263" r:id="R187f075ed0e44274"/>
    <p:sldId xmlns:r="http://schemas.openxmlformats.org/officeDocument/2006/relationships" id="264" r:id="Re6f1c020a5f0459b"/>
    <p:sldId xmlns:r="http://schemas.openxmlformats.org/officeDocument/2006/relationships" id="265" r:id="R853f66b34a4a4d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7129de6ffc4cb0" /><Relationship Type="http://schemas.openxmlformats.org/officeDocument/2006/relationships/slideMaster" Target="/ppt/slideMasters/slideMaster1.xml" Id="R771b4f166db846c0" /><Relationship Type="http://schemas.openxmlformats.org/officeDocument/2006/relationships/notesMaster" Target="/ppt/notesMasters/notesMaster1.xml" Id="R6f53cffecf1242af" /><Relationship Type="http://schemas.openxmlformats.org/officeDocument/2006/relationships/presProps" Target="/ppt/presProps.xml" Id="R98e60eef58b2472f" /><Relationship Type="http://schemas.openxmlformats.org/officeDocument/2006/relationships/tableStyles" Target="/ppt/tableStyles.xml" Id="R3ef303f9c1244a84" /><Relationship Type="http://schemas.openxmlformats.org/officeDocument/2006/relationships/slide" Target="/ppt/slides/slide1.xml" Id="R03b701baa28a4d7b" /><Relationship Type="http://schemas.openxmlformats.org/officeDocument/2006/relationships/slide" Target="/ppt/slides/slide2.xml" Id="R003729cb7d1c46e3" /><Relationship Type="http://schemas.openxmlformats.org/officeDocument/2006/relationships/slide" Target="/ppt/slides/slide3.xml" Id="R5bd1d7705fe44f77" /><Relationship Type="http://schemas.openxmlformats.org/officeDocument/2006/relationships/slide" Target="/ppt/slides/slide4.xml" Id="R00c42955993e4493" /><Relationship Type="http://schemas.openxmlformats.org/officeDocument/2006/relationships/slide" Target="/ppt/slides/slide5.xml" Id="Re40ac679374f4792" /><Relationship Type="http://schemas.openxmlformats.org/officeDocument/2006/relationships/slide" Target="/ppt/slides/slide6.xml" Id="R76599159ffe948ae" /><Relationship Type="http://schemas.openxmlformats.org/officeDocument/2006/relationships/slide" Target="/ppt/slides/slide7.xml" Id="R34b01fc59c1048e0" /><Relationship Type="http://schemas.openxmlformats.org/officeDocument/2006/relationships/slide" Target="/ppt/slides/slide8.xml" Id="R187f075ed0e44274" /><Relationship Type="http://schemas.openxmlformats.org/officeDocument/2006/relationships/slide" Target="/ppt/slides/slide9.xml" Id="Re6f1c020a5f0459b" /><Relationship Type="http://schemas.openxmlformats.org/officeDocument/2006/relationships/slide" Target="/ppt/slides/slide10.xml" Id="R853f66b34a4a4d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312c505bc842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9579f981994d56" /><Relationship Type="http://schemas.openxmlformats.org/officeDocument/2006/relationships/notesMaster" Target="/ppt/notesMasters/notesMaster1.xml" Id="Rc12133a5d01e48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f8659e894a42fb" /><Relationship Type="http://schemas.openxmlformats.org/officeDocument/2006/relationships/notesMaster" Target="/ppt/notesMasters/notesMaster1.xml" Id="R8c376013627249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2fa41d5d3b4a74" /><Relationship Type="http://schemas.openxmlformats.org/officeDocument/2006/relationships/notesMaster" Target="/ppt/notesMasters/notesMaster1.xml" Id="Rc9d5f596ab7640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765e0968534261" /><Relationship Type="http://schemas.openxmlformats.org/officeDocument/2006/relationships/notesMaster" Target="/ppt/notesMasters/notesMaster1.xml" Id="R19bdce2a0bc84c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05a3f0bdfb4a2d" /><Relationship Type="http://schemas.openxmlformats.org/officeDocument/2006/relationships/notesMaster" Target="/ppt/notesMasters/notesMaster1.xml" Id="Rd5f70dd569fe43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62fa0466cc48c9" /><Relationship Type="http://schemas.openxmlformats.org/officeDocument/2006/relationships/notesMaster" Target="/ppt/notesMasters/notesMaster1.xml" Id="Ra72cee2b761140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29f9fd4f2a4c70" /><Relationship Type="http://schemas.openxmlformats.org/officeDocument/2006/relationships/notesMaster" Target="/ppt/notesMasters/notesMaster1.xml" Id="R3bd59f333c7642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a5a361b9474630" /><Relationship Type="http://schemas.openxmlformats.org/officeDocument/2006/relationships/notesMaster" Target="/ppt/notesMasters/notesMaster1.xml" Id="R9f0c2697dac94e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a9d4b59b024f76" /><Relationship Type="http://schemas.openxmlformats.org/officeDocument/2006/relationships/notesMaster" Target="/ppt/notesMasters/notesMaster1.xml" Id="R431a06f5e5db44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c73afcbf954b22" /><Relationship Type="http://schemas.openxmlformats.org/officeDocument/2006/relationships/notesMaster" Target="/ppt/notesMasters/notesMaster1.xml" Id="R0a6d63ecf5bf4f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本演示文稿由 9 张 Repack 场景 SVG 重建为原生 PowerPoint 元素。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docs/design/repack-heuristic-planning-rationale.md</a:t>
            </a:r>
          </a:p>
          <a:p xmlns:a="http://schemas.openxmlformats.org/drawingml/2006/main">
            <a:r>
              <a:t>- docs/design/images/repack/heuristic-limit-01-budget.svg 至 heuristic-limit-09-runtime-drift.svg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本页所有文字、节点、箭头和容器均为 PowerPoint 原生可编辑元素。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docs/design/images/repack/heuristic-limit-01-budget.svg</a:t>
            </a:r>
          </a:p>
          <a:p xmlns:a="http://schemas.openxmlformats.org/drawingml/2006/main">
            <a:r>
              <a:t>- docs/design/repack-heuristic-planning-rationale.md §5.1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本页所有文字、节点、箭头和容器均为 PowerPoint 原生可编辑元素。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docs/design/images/repack/heuristic-limit-02-first-fit.svg</a:t>
            </a:r>
          </a:p>
          <a:p xmlns:a="http://schemas.openxmlformats.org/drawingml/2006/main">
            <a:r>
              <a:t>- docs/design/repack-heuristic-planning-rationale.md §5.2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本页所有文字、节点、箭头和容器均为 PowerPoint 原生可编辑元素。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docs/design/images/repack/heuristic-limit-03-best-fit.svg</a:t>
            </a:r>
          </a:p>
          <a:p xmlns:a="http://schemas.openxmlformats.org/drawingml/2006/main">
            <a:r>
              <a:t>- docs/design/repack-heuristic-planning-rationale.md §5.3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本页所有文字、节点、箭头和容器均为 PowerPoint 原生可编辑元素。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docs/design/images/repack/heuristic-limit-04-tie-break.svg</a:t>
            </a:r>
          </a:p>
          <a:p xmlns:a="http://schemas.openxmlformats.org/drawingml/2006/main">
            <a:r>
              <a:t>- docs/design/repack-heuristic-planning-rationale.md §5.4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本页所有文字、节点、箭头和容器均为 PowerPoint 原生可编辑元素。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docs/design/images/repack/heuristic-limit-05-normalization.svg</a:t>
            </a:r>
          </a:p>
          <a:p xmlns:a="http://schemas.openxmlformats.org/drawingml/2006/main">
            <a:r>
              <a:t>- docs/design/repack-heuristic-planning-rationale.md §5.5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本页所有文字、节点、箭头和容器均为 PowerPoint 原生可编辑元素。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docs/design/images/repack/heuristic-limit-06-search-space.svg</a:t>
            </a:r>
          </a:p>
          <a:p xmlns:a="http://schemas.openxmlformats.org/drawingml/2006/main">
            <a:r>
              <a:t>- docs/design/repack-heuristic-planning-rationale.md §5.6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本页所有文字、节点、箭头和容器均为 PowerPoint 原生可编辑元素。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docs/design/images/repack/heuristic-limit-07-cache.svg</a:t>
            </a:r>
          </a:p>
          <a:p xmlns:a="http://schemas.openxmlformats.org/drawingml/2006/main">
            <a:r>
              <a:t>- docs/design/repack-heuristic-planning-rationale.md §5.7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本页所有文字、节点、箭头和容器均为 PowerPoint 原生可编辑元素。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docs/design/images/repack/heuristic-limit-08-gate.svg</a:t>
            </a:r>
          </a:p>
          <a:p xmlns:a="http://schemas.openxmlformats.org/drawingml/2006/main">
            <a:r>
              <a:t>- docs/design/repack-heuristic-planning-rationale.md §5.8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本页所有文字、节点、箭头和容器均为 PowerPoint 原生可编辑元素。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docs/design/images/repack/heuristic-limit-09-runtime-drift.svg</a:t>
            </a:r>
          </a:p>
          <a:p xmlns:a="http://schemas.openxmlformats.org/drawingml/2006/main">
            <a:r>
              <a:t>- docs/design/repack-heuristic-planning-rationale.md §5.9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a19644a2b49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ade641cf6d44a0" /><Relationship Type="http://schemas.openxmlformats.org/officeDocument/2006/relationships/slideLayout" Target="/ppt/slideLayouts/slideLayout1.xml" Id="R14438b33480f41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438b33480f41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2f3ee71644a2b" /><Relationship Type="http://schemas.openxmlformats.org/officeDocument/2006/relationships/notesSlide" Target="/ppt/notesSlides/notesSlide1.xml" Id="R7d396c3b5f444e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6de88c0d44ac0" /><Relationship Type="http://schemas.openxmlformats.org/officeDocument/2006/relationships/notesSlide" Target="/ppt/notesSlides/notesSlide2.xml" Id="Rd230a95b30e043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311f69ce64c08" /><Relationship Type="http://schemas.openxmlformats.org/officeDocument/2006/relationships/notesSlide" Target="/ppt/notesSlides/notesSlide3.xml" Id="Rc540cbae7ec24f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c8e93cd844250" /><Relationship Type="http://schemas.openxmlformats.org/officeDocument/2006/relationships/notesSlide" Target="/ppt/notesSlides/notesSlide4.xml" Id="R6057afea4f5c45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3e809031d46a0" /><Relationship Type="http://schemas.openxmlformats.org/officeDocument/2006/relationships/notesSlide" Target="/ppt/notesSlides/notesSlide5.xml" Id="Rf3c46eb1691147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15a9a44784ff4" /><Relationship Type="http://schemas.openxmlformats.org/officeDocument/2006/relationships/notesSlide" Target="/ppt/notesSlides/notesSlide6.xml" Id="R1e6a0982f87045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fea4f40de49a7" /><Relationship Type="http://schemas.openxmlformats.org/officeDocument/2006/relationships/notesSlide" Target="/ppt/notesSlides/notesSlide7.xml" Id="R8ba40301ceac4a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9a2dab4014d8d" /><Relationship Type="http://schemas.openxmlformats.org/officeDocument/2006/relationships/notesSlide" Target="/ppt/notesSlides/notesSlide8.xml" Id="Rada49de4cabe4a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1f3481dc04262" /><Relationship Type="http://schemas.openxmlformats.org/officeDocument/2006/relationships/notesSlide" Target="/ppt/notesSlides/notesSlide9.xml" Id="R3c3ef00f86f74d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fd1cbe63c4d8b" /><Relationship Type="http://schemas.openxmlformats.org/officeDocument/2006/relationships/notesSlide" Target="/ppt/notesSlides/notesSlide10.xml" Id="Rc3d1454afacf4f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08C270-3384-44C5-B26B-8B4B742F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390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EDITABLE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17D84-D531-4E01-B60C-1327F219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Repack 启发式规划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BB3DF-34C8-4AB9-8E3C-04C5C799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BDD7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DD7F2"/>
                </a:solidFill>
                <a:latin typeface="Microsoft YaHei"/>
                <a:ea typeface="Microsoft YaHei"/>
                <a:cs typeface="Microsoft YaHei"/>
              </a:rPr>
              <a:t>为什么结果可能不是全局最优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75D00-6CB4-4FA0-A896-41986235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657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D9E4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9E4F0"/>
                </a:solidFill>
                <a:latin typeface="Microsoft YaHei"/>
                <a:ea typeface="Microsoft YaHei"/>
                <a:cs typeface="Microsoft YaHei"/>
              </a:rPr>
              <a:t>用 9 个可视化场景说明：当前算法会怎样选择、全局最优会怎样选择，以及这些差异为何合理存在。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4958A-F357-408A-89D9-FA627FB2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66800"/>
            <a:ext cx="10668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03A5F"/>
          </a:solidFill>
          <a:ln xmlns:a="http://schemas.openxmlformats.org/drawingml/2006/main" w="14288">
            <a:solidFill>
              <a:srgbClr val="4B6A9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E7CD2-4DE0-41E7-8A62-A162292A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16205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86B7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6B7E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DBAA87-C5C5-48D6-84C8-A88C86CB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2400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292E4-6E4D-4DC9-9D99-EB9AB76A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066800"/>
            <a:ext cx="10668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9486F"/>
          </a:solidFill>
          <a:ln xmlns:a="http://schemas.openxmlformats.org/drawingml/2006/main" w="14288">
            <a:solidFill>
              <a:srgbClr val="4B6A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AF4BD-EF64-4EFA-9F95-8CA546D3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16205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86B7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6B7E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D2A83-CFDE-4B7E-83C9-E5514CEC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2400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first-fit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55C55-6A40-485C-A153-1A7E9606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66800"/>
            <a:ext cx="10668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03A5F"/>
          </a:solidFill>
          <a:ln xmlns:a="http://schemas.openxmlformats.org/drawingml/2006/main" w="14288">
            <a:solidFill>
              <a:srgbClr val="4B6A9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09252-778D-4EC9-909A-C9D511DC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16205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86B7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6B7E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B71628-8533-435B-8A11-EB219B59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52400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best-fit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A360F-6A31-47FF-B180-17B9356A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10668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9486F"/>
          </a:solidFill>
          <a:ln xmlns:a="http://schemas.openxmlformats.org/drawingml/2006/main" w="14288">
            <a:solidFill>
              <a:srgbClr val="4B6A9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5CF2C-A25B-4946-9261-070C8E77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1935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86B7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6B7E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42861-9AD8-4890-A898-E172318F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8130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671CCD-8110-46B8-BA79-49617456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24100"/>
            <a:ext cx="10668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03A5F"/>
          </a:solidFill>
          <a:ln xmlns:a="http://schemas.openxmlformats.org/drawingml/2006/main" w="14288">
            <a:solidFill>
              <a:srgbClr val="4B6A9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5E39CF-6626-4A81-852F-52AC4164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1935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86B7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6B7E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84288F-AC08-4598-954A-E540C5FD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8130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归一化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1AB32F-EEE4-45DF-8C49-F84F1C91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324100"/>
            <a:ext cx="10668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9486F"/>
          </a:solidFill>
          <a:ln xmlns:a="http://schemas.openxmlformats.org/drawingml/2006/main" w="14288">
            <a:solidFill>
              <a:srgbClr val="4B6A9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9E2B6-7DE3-483C-AB61-DA427806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41935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86B7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6B7E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F8FDC5-A49F-41ED-987E-3E90B184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78130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搜索空间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A4BFA2-08D7-4F0C-AB67-72EBF3B8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81400"/>
            <a:ext cx="10668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03A5F"/>
          </a:solidFill>
          <a:ln xmlns:a="http://schemas.openxmlformats.org/drawingml/2006/main" w="14288">
            <a:solidFill>
              <a:srgbClr val="4B6A9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3250DB-30F8-4670-A7C5-4C924113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7665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86B7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6B7E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92907B-8F83-471E-8AA4-05D68DB2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3860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失败缓存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3016C4-E98B-4EFC-809C-C0853A0B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81400"/>
            <a:ext cx="10668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9486F"/>
          </a:solidFill>
          <a:ln xmlns:a="http://schemas.openxmlformats.org/drawingml/2006/main" w="14288">
            <a:solidFill>
              <a:srgbClr val="4B6A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6054CB-42C5-4274-AE75-193E7564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7665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86B7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6B7E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84568B-CB6D-4F5D-9654-528D2077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3860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收益门槛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F81276-688A-4BD2-8BEB-3B27CB30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581400"/>
            <a:ext cx="10668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03A5F"/>
          </a:solidFill>
          <a:ln xmlns:a="http://schemas.openxmlformats.org/drawingml/2006/main" w="14288">
            <a:solidFill>
              <a:srgbClr val="4B6A9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EE1C6A-ADFE-4698-AEDD-0AC604C7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67665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86B7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6B7E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9B6E6D-ED61-40F4-8827-CB515C52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03860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执行漂移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A0A077-BC52-4823-8D82-8B678917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FC4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4DA"/>
                </a:solidFill>
                <a:latin typeface="Microsoft YaHei"/>
                <a:ea typeface="Microsoft YaHei"/>
                <a:cs typeface="Microsoft YaHei"/>
              </a:rPr>
              <a:t>所有图形与文字均可单独编辑</a:t>
            </a:r>
          </a:p>
        </p:txBody>
      </p:sp>
    </p:spTree>
    <p:extLst>
      <p:ext uri="{BB962C8B-B14F-4D97-AF65-F5344CB8AC3E}">
        <p14:creationId xmlns:p14="http://schemas.microsoft.com/office/powerpoint/2010/main" val="4737265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CF2FD1-E2E5-4462-933B-E1EBFA7F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42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71719-5CF4-4B65-9650-B857D978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14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当前低成本选择可能耗尽关键 PodGroup 预算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F6421-9592-43F6-8DBB-2063D340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FB3BD-87A8-49FA-978D-AF134717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35337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C"/>
          </a:solidFill>
          <a:ln xmlns:a="http://schemas.openxmlformats.org/drawingml/2006/main" w="14288">
            <a:solidFill>
              <a:srgbClr val="2E6FB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rPr>
              <a:t>maxPerRun.podGroups =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E4CA3-5147-4E9D-83A1-2A2F5A58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895350"/>
            <a:ext cx="18192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C"/>
          </a:solidFill>
          <a:ln xmlns:a="http://schemas.openxmlformats.org/drawingml/2006/main" w="14288">
            <a:solidFill>
              <a:srgbClr val="2E6FB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rPr>
              <a:t>PodGroup 预算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BBD05-EEBE-4C6A-8996-F9A4963F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A 属于 G1、迁移 1 卡；B、C 同属 G2、各迁移 2 卡。连续选择 B 与 C 可以释放 2 个节点。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B16071-4038-4C85-B07C-C6169DDD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5486400" cy="3981450"/>
          </a:xfrm>
          <a:prstGeom xmlns:a="http://schemas.openxmlformats.org/drawingml/2006/main" prst="roundRect">
            <a:avLst>
              <a:gd name="adj" fmla="val 4306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2C5CDC-E8EA-4B4F-9142-FA71D4F9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当前算法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7297E-5A26-4EBC-8DA6-17116EED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6690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局部最低中断优先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7959A-F4B2-4317-AB33-FBD681FA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2600"/>
            <a:ext cx="5486400" cy="3981450"/>
          </a:xfrm>
          <a:prstGeom xmlns:a="http://schemas.openxmlformats.org/drawingml/2006/main" prst="roundRect">
            <a:avLst>
              <a:gd name="adj" fmla="val 4306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0B0E7-475F-4F77-9704-E1D5D108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050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全局最优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D5F723-7313-48F8-A320-30C8664D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6690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从完整序列看收益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BF4B04-CCEC-44FB-B29D-9B1633AA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FC0CD4-07BD-4CD6-8D7F-4B637DA9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462D6B-00AC-43B1-BE4A-6CEF5D9F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BD70E-20CC-4CCA-9997-D5B19F67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FA212F-B771-41F5-AD96-EBE0CD53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选择 A · G1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A21FF-1ED5-4713-BC4C-580AB72B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当前迁移量最小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FECE10-E92A-4123-98E7-1851FBB5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1B4809-739A-44ED-B0F6-431A4C25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1718C9-245B-4BFA-86C8-5BDE437E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预算锁定 G1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19DA2A-B056-41E8-9991-E47897EC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已影响 1 个 PodGroup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D3D2A8-A302-4FAC-B49D-CA5F9973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517EE1-E42B-42D6-9C9B-F5691ED6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1D69E8-642F-431F-A168-8E82CB4A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B、C 淘汰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018C28-E45C-4579-A194-F3C4F86E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引入 G2 会超预算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BBED08-0B72-4BB9-9690-107FFBC9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048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14288">
            <a:solidFill>
              <a:srgbClr val="D9485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D948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485F"/>
                </a:solidFill>
                <a:latin typeface="Microsoft YaHei"/>
                <a:ea typeface="Microsoft YaHei"/>
                <a:cs typeface="Microsoft YaHei"/>
              </a:rPr>
              <a:t>结果：释放 1 个节点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E49724-64DA-471D-A7C3-1C418759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580D0D-08AB-4A44-849A-109A5826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5AA80C-BF95-490E-A8F0-1FC59197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E65AE7-8524-4B5D-A8CE-5E740DBD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76EA1A-4706-46D2-9D10-800EDC93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先选 B · G2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531432-D177-4D94-A462-D115E7DD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影响 1 个 PodGroup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01818B-2B01-485A-8626-04348C8A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7DA5C6-70BD-4E89-9B5E-4A917AA6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663E55-107A-41FF-AFF2-175A3140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再选 C · G2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488156-5B46-447A-AB42-B7580CC4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复用已经影响的 G2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1304A6-C85B-4AEC-878E-B23DA612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615837-C3A5-4129-B9A4-78379B83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2FD073-EDB4-4B03-89AA-6B7B57CB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预算仍为 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63433F-1A2A-48FD-A1E1-688DE661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没有新增 PodGroup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9F833D-E754-462F-AA57-9A773830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5048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F9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9E44"/>
                </a:solidFill>
                <a:latin typeface="Microsoft YaHei"/>
                <a:ea typeface="Microsoft YaHei"/>
                <a:cs typeface="Microsoft YaHei"/>
              </a:rPr>
              <a:t>结果：B → C 释放 2 个节点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AA75DC-1106-4CDE-A748-3ADCF21B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2776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14288">
            <a:solidFill>
              <a:srgbClr val="13223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为什么：候选按单步成本排序，但预算消耗具有路径依赖；当前最便宜的选择可能关闭更高收益路径。</a:t>
            </a:r>
          </a:p>
        </p:txBody>
      </p:sp>
    </p:spTree>
    <p:extLst>
      <p:ext uri="{BB962C8B-B14F-4D97-AF65-F5344CB8AC3E}">
        <p14:creationId xmlns:p14="http://schemas.microsoft.com/office/powerpoint/2010/main" val="8443571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C196F2-A0C4-4CF2-B8E5-BE4EC92E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42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E4C8A-435E-4C7B-8E33-2AC6AE38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14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first-fit 可能抢占受限 Pod 的唯一落点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5A2FA-97F5-4CF9-BC00-D0795E72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92506-CDA4-4820-B29C-BE698A3E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2247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C"/>
          </a:solidFill>
          <a:ln xmlns:a="http://schemas.openxmlformats.org/drawingml/2006/main" w="14288">
            <a:solidFill>
              <a:srgbClr val="2E6FB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rPr>
              <a:t>接收节点顺序 R1 → R2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7917A-4AB2-4E47-9008-9C9E5F79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895350"/>
            <a:ext cx="12477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C"/>
          </a:solidFill>
          <a:ln xmlns:a="http://schemas.openxmlformats.org/drawingml/2006/main" w="14288">
            <a:solidFill>
              <a:srgbClr val="2E6FB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rPr>
              <a:t>同一待腾空节点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1C628-A6E5-47E8-B697-C6B9AE68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P1 需要 4 卡，可落 R1 / R2；P2 需要 4 卡，只能落 R1；R1、R2 各有 4 卡空闲。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8E948-08B8-4DB1-A2ED-39DC830F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5486400" cy="3981450"/>
          </a:xfrm>
          <a:prstGeom xmlns:a="http://schemas.openxmlformats.org/drawingml/2006/main" prst="roundRect">
            <a:avLst>
              <a:gd name="adj" fmla="val 4306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4E4AD-6ED8-4692-994C-A44F7638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当前算法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DE638-7AF5-41D2-BFEA-3C234462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6690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第一个可行节点即提交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D52EF-0271-41A5-9068-2FC0B193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2600"/>
            <a:ext cx="5486400" cy="3981450"/>
          </a:xfrm>
          <a:prstGeom xmlns:a="http://schemas.openxmlformats.org/drawingml/2006/main" prst="roundRect">
            <a:avLst>
              <a:gd name="adj" fmla="val 4306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62022-C477-4A45-8151-679A8821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050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全局最优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8DB15-FF9D-41A6-A0EC-9945DC90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6690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联合比较两个 Pod 的映射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C08A7-5D39-4206-A6CD-46C8D8F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5DA2B-C681-4CD4-A21B-C3756589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61EA7-9861-4237-8271-F8DADC63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20645B-BE21-4779-83DA-BF8AF194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E8B530-9696-4324-8AFE-0D1E7C51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P1 → R1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CEB09-C6E9-4F1D-9070-9523E766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R1 是第一个可行节点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891775-36CD-437D-97D9-04E6F007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2B6AC7-C3CD-4B01-8D13-00371288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49DC9B-6FE5-40F6-B0C4-F2CA09C2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R1 被占满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FCFFA0-263C-43B2-BABD-3F0C2A7B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唯一落点被灵活 Pod 使用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6F418C-6254-4777-88B3-6F9CFB8F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186692-87BE-4BDE-B564-4FA00B0E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6D0109-909D-4268-8B1D-0CEB182A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P2 无处可去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76EF25-B4DA-4C6A-97F4-3C6833DD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R2 不满足约束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C330CF-74D6-4E20-88C8-B792F2E2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048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14288">
            <a:solidFill>
              <a:srgbClr val="D9485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D948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485F"/>
                </a:solidFill>
                <a:latin typeface="Microsoft YaHei"/>
                <a:ea typeface="Microsoft YaHei"/>
                <a:cs typeface="Microsoft YaHei"/>
              </a:rPr>
              <a:t>候选不可行，且不回退 P1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DAE869-FE21-4EDC-AB4B-98E4F00B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1E1CAF-A1C6-49E4-9745-6EE2F540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67C4E8-E760-4925-88C5-EA0AE52C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BB4154-7CF7-4542-97C4-2B0BA729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559707-59ED-448D-9906-B3846FED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P1 → R2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51BBA0-9675-4A23-AA78-50B73BDD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灵活 Pod 主动让位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3260CD-F3B0-45C7-87E9-C4C96CDE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61F347-CBC1-4004-BAC3-7AA61960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08AF04-CDBF-4501-9E09-5E7E525F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P2 → R1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F9BB3B-6E61-4B4D-A6F2-935D3D39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保留唯一可行落点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9AAD84-9902-4759-A3A3-AF5CC6EB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681EF9-BBF4-49A2-B5B2-24DA08A1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5D4C34-F061-4498-8D78-473F0359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全部落下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A17A3B-961D-4046-87B7-E65EA95F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源节点可以腾空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A66A20-EB13-455F-88E1-A0578E5D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5048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F9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9E44"/>
                </a:solidFill>
                <a:latin typeface="Microsoft YaHei"/>
                <a:ea typeface="Microsoft YaHei"/>
                <a:cs typeface="Microsoft YaHei"/>
              </a:rPr>
              <a:t>两个 Pod 都成功放置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B46BFF-A81B-4971-AA22-BC48A735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2776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14288">
            <a:solidFill>
              <a:srgbClr val="13223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为什么：first-fit 不为后续 Pod 保留稀缺接收位置，也不会回溯已经提交的局部映射。</a:t>
            </a:r>
          </a:p>
        </p:txBody>
      </p:sp>
    </p:spTree>
    <p:extLst>
      <p:ext uri="{BB962C8B-B14F-4D97-AF65-F5344CB8AC3E}">
        <p14:creationId xmlns:p14="http://schemas.microsoft.com/office/powerpoint/2010/main" val="12560081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4F8B11-DF3E-4A5D-8BA8-63CF7C08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42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E2D0A-46EA-489C-AEFD-7A63EEE3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14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单步 best-fit 可能填掉下一步的腾空目标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20076-2B51-415D-A68E-A5ACF024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C25F5-EFD0-4B0F-A07E-03CA5F52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18192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C"/>
          </a:solidFill>
          <a:ln xmlns:a="http://schemas.openxmlformats.org/drawingml/2006/main" w="14288">
            <a:solidFill>
              <a:srgbClr val="2E6FB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rPr>
              <a:t>单步 best-fit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09C28-0403-478D-8599-BF7ACC32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895350"/>
            <a:ext cx="21050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C"/>
          </a:solidFill>
          <a:ln xmlns:a="http://schemas.openxmlformats.org/drawingml/2006/main" w="14288">
            <a:solidFill>
              <a:srgbClr val="2E6FB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rPr>
              <a:t>filled 节点不再腾空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ED2BF-3F1D-47CC-8445-69E93A8A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T1 有 1 卡 Pod；T2 有 1 卡 Pod + 1 卡空闲；R 有 2 卡空闲。T2 余量更小，因此更符合单步 best-fit。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73127-0A45-49E5-BE0C-15F98243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5486400" cy="3981450"/>
          </a:xfrm>
          <a:prstGeom xmlns:a="http://schemas.openxmlformats.org/drawingml/2006/main" prst="roundRect">
            <a:avLst>
              <a:gd name="adj" fmla="val 4306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60FEC-B115-46FB-B7EC-1ED1EED3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当前算法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82AD7-EFBA-4AF8-B17D-C09291BD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6690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先追求当前放置最紧凑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284E1-6B5D-4DF9-AF37-9355E36F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2600"/>
            <a:ext cx="5486400" cy="3981450"/>
          </a:xfrm>
          <a:prstGeom xmlns:a="http://schemas.openxmlformats.org/drawingml/2006/main" prst="roundRect">
            <a:avLst>
              <a:gd name="adj" fmla="val 4306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DC069-C802-4588-9AAD-45B152AF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050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全局最优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14C6F-63FF-444D-8CFB-2188572F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6690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为后续腾空保留目标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8612E-AF21-40C5-805C-D1FAD9DD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DE823-2A86-4EF6-A78E-8CCD8C45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63FA6-7BAB-459F-8DD0-ABC27EC4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05BE81-43B1-44A9-8D38-7415E80C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E65B63-5300-4324-BBAE-0DE9206B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T1 → T2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982142-F17C-450B-8885-32742B1F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T2 剩余空间最小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468B2F-A1AF-4A80-BAF6-DD1D3BDF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38B0B7-40E0-4A85-B3F8-E067C841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943D26-7EBB-4ABC-AD2C-63635731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T2 被填满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4C59C9-240D-43ED-A5AA-F9B5A64E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标记为 filled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6F1F7A-0594-488D-B5F5-9E800C62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38EB9F-513A-46C3-8B42-4D3C36AC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8F73DA-EA9A-4DDA-90C3-36E9C076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T2 不再候选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C33C1F-475A-4B02-8E7F-A8D0FFCE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无法继续腾空 T2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CF1D17-766F-458B-B434-DF5DD203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048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14288">
            <a:solidFill>
              <a:srgbClr val="D9485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D948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485F"/>
                </a:solidFill>
                <a:latin typeface="Microsoft YaHei"/>
                <a:ea typeface="Microsoft YaHei"/>
                <a:cs typeface="Microsoft YaHei"/>
              </a:rPr>
              <a:t>结果：只释放 T1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0620E9-B50D-46C7-B806-488F8B80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32508A-6789-47A1-9632-0D90606B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F3BD55-E92D-4B5C-8356-41F92C80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E3B932-F71D-430A-AE72-3B4A53D5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C58303-8039-4656-AFC1-C49FC1B8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T1 → 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B7E264-B97D-4374-AF65-518A3F68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使用公共接收节点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D30A6A-5C58-45C6-889A-35541769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A2512C-662D-43BC-ACF8-D0384D4E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820242-269E-48E0-B045-28EBAFB2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T2 → 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5E1FF0-CD20-4A49-A028-7E9442E1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R 恰好容纳两次迁移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1294C2-4F5A-4A16-AB6E-7445217C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837B5E-AA50-4818-9275-466BDA07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7736C3-501E-420D-8507-8CB2D5FC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T1 + T2 腾空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18CA49-A001-4BA2-9A1B-2B85796D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连续释放两个节点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437C33-3EAA-46D4-90E7-32AE2828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5048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F9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9E44"/>
                </a:solidFill>
                <a:latin typeface="Microsoft YaHei"/>
                <a:ea typeface="Microsoft YaHei"/>
                <a:cs typeface="Microsoft YaHei"/>
              </a:rPr>
              <a:t>结果：释放 T1、T2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AEB715-0CCA-49A6-ADBE-8E945698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2776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14288">
            <a:solidFill>
              <a:srgbClr val="13223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为什么：当前落点利用率最优，不等于它在完整腾空序列中最有价值。</a:t>
            </a:r>
          </a:p>
        </p:txBody>
      </p:sp>
    </p:spTree>
    <p:extLst>
      <p:ext uri="{BB962C8B-B14F-4D97-AF65-F5344CB8AC3E}">
        <p14:creationId xmlns:p14="http://schemas.microsoft.com/office/powerpoint/2010/main" val="2019591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672EDD-B8FC-4DDD-9029-D6A55370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42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C6E7F-90CE-44D3-B151-9FAFB5E6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14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同分候选看起来相同，后续潜力却可能不同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7646A-47C6-434D-A1F7-0DDE5DD7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6659C-E12A-4C64-9DC1-CD3359C4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38195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C"/>
          </a:solidFill>
          <a:ln xmlns:a="http://schemas.openxmlformats.org/drawingml/2006/main" w="14288">
            <a:solidFill>
              <a:srgbClr val="2E6FB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rPr>
              <a:t>score(A) = score(B) = 0.2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4F2E2-D13F-4371-A0CA-B875CCBE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895350"/>
            <a:ext cx="18192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C"/>
          </a:solidFill>
          <a:ln xmlns:a="http://schemas.openxmlformats.org/drawingml/2006/main" w="14288">
            <a:solidFill>
              <a:srgbClr val="2E6FB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rPr>
              <a:t>benefit =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C92AB-80DA-48FC-84C6-D420BECC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A 与 B 的中断分数、当前收益相同；C 只有在先选择 B 时仍可腾空。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BA107-A1D9-438B-8279-F8BD5146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5486400" cy="3981450"/>
          </a:xfrm>
          <a:prstGeom xmlns:a="http://schemas.openxmlformats.org/drawingml/2006/main" prst="roundRect">
            <a:avLst>
              <a:gd name="adj" fmla="val 4306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24048-1DD6-49CF-A3A0-0A4D6C90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当前算法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678AA-B053-43DF-915D-791E53A3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6690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稳定规则打破当前平局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AC4BD-B455-4C6C-908B-CFC721EF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2600"/>
            <a:ext cx="5486400" cy="3981450"/>
          </a:xfrm>
          <a:prstGeom xmlns:a="http://schemas.openxmlformats.org/drawingml/2006/main" prst="roundRect">
            <a:avLst>
              <a:gd name="adj" fmla="val 4306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4BA36-21C8-4C9B-B010-E854253B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050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全局最优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01948-F151-4238-AB00-BBF67675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6690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用未来收益打破平局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C4800-241C-42D7-A1C2-7A4FD65A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F74B0B-ED25-420E-ABE3-42A6AA25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13CAC-6984-49DE-845A-F0099FE0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777EC3-0EE0-45C3-8E2D-F6148AC1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AAE38-DEC2-4F25-9560-B3BA2A67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 与 B 同分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60F797-7A31-488A-A6B4-8EE2C929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当前指标无法区分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C9250A-F140-47D4-B368-92F2862F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ADBA63-39C4-4F93-8CFC-8D9AC378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6EF935-24F0-4929-A8F5-D00C4F61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名称 A &lt; 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4C60E8-3BF8-4541-BDDE-A9A94447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稳定选择 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AAA93D-1D86-4FA5-B1B8-394C130B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A0D355-7607-419B-AA19-837A5337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858D4F-C97D-4F8D-8572-D1CC5C94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 被阻塞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804A07-A060-4F27-9598-F4F16B1F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容量或拓扑机会耗尽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8FFC5A-5019-459A-8E4C-C5572FD8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048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14288">
            <a:solidFill>
              <a:srgbClr val="D9485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D948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485F"/>
                </a:solidFill>
                <a:latin typeface="Microsoft YaHei"/>
                <a:ea typeface="Microsoft YaHei"/>
                <a:cs typeface="Microsoft YaHei"/>
              </a:rPr>
              <a:t>结果：释放 A，共 1 个节点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253A6F-DED5-4A35-9595-C8E2C2E8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FE9D08-A1AC-4704-BC34-27162D27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20D976-0676-4BB5-ADF1-C90B9AD1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8E127F-F7EF-42CD-97A3-782994A4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245B70-A36F-4715-9A04-C20DB9DC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选择 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A7595B-8EB5-4B88-BD7D-8ECB71A8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保留关键空间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98B881-1EEE-411D-AD41-B71ADCF2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65BEFB-9AE2-4908-A98D-E0944C06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39562F-54FA-4BF7-916C-2970929C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继续选择 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B66631-F132-4B96-AFAB-D45AD1E6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后续仍满足约束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2018A9-73A8-4CEE-BE39-DD655306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623795-4C73-4E3D-A0E3-24F895D1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4C660B-CD13-4BD5-A8DA-E7F58EF5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B + 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180E64-BB2E-4C89-99C9-B63D243D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完整序列收益更高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CCAF6F-8758-4D41-B69E-25D03DF6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5048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F9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9E44"/>
                </a:solidFill>
                <a:latin typeface="Microsoft YaHei"/>
                <a:ea typeface="Microsoft YaHei"/>
                <a:cs typeface="Microsoft YaHei"/>
              </a:rPr>
              <a:t>结果：释放 B、C，共 2 个节点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2F054C-D59F-4893-BFD8-3D6D6589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2776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14288">
            <a:solidFill>
              <a:srgbClr val="13223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为什么：确定性 tie-break 保证结果稳定，但不预测候选对后续搜索空间的影响。</a:t>
            </a:r>
          </a:p>
        </p:txBody>
      </p:sp>
    </p:spTree>
    <p:extLst>
      <p:ext uri="{BB962C8B-B14F-4D97-AF65-F5344CB8AC3E}">
        <p14:creationId xmlns:p14="http://schemas.microsoft.com/office/powerpoint/2010/main" val="6822691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E39CC0-788A-46AC-B963-FB46B5A6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42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447C4-0070-49FE-B666-A1BD238C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14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每轮相对最低分，不代表完整路径总成本最低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E19A9-7825-42DC-BBA5-501EC6DC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C940D-07E1-407E-813F-E9D600AF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9620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C"/>
          </a:solidFill>
          <a:ln xmlns:a="http://schemas.openxmlformats.org/drawingml/2006/main" w="14288">
            <a:solidFill>
              <a:srgbClr val="2E6FB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rPr>
              <a:t>动态归一化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C1C9B-C775-4C5E-84E2-7952C308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895350"/>
            <a:ext cx="819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C"/>
          </a:solidFill>
          <a:ln xmlns:a="http://schemas.openxmlformats.org/drawingml/2006/main" w="14288">
            <a:solidFill>
              <a:srgbClr val="2E6FB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rPr>
              <a:t>分轮评分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3AE0B-8C94-4E01-BD12-AA73D7EC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每轮都按当前候选最小值与最大值重新缩放到 0～1；候选集合变化会改变同一原始差值的权重。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86B0B-4467-4713-8DF2-AC951B91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5486400" cy="3981450"/>
          </a:xfrm>
          <a:prstGeom xmlns:a="http://schemas.openxmlformats.org/drawingml/2006/main" prst="roundRect">
            <a:avLst>
              <a:gd name="adj" fmla="val 4306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69D31-6F89-43A0-953D-52F01D50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当前算法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01AF7-F503-46A2-9F67-A3BC0070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6690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每轮只比较当前相对值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33B77-0384-4C47-A1AB-5CE4E682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2600"/>
            <a:ext cx="5486400" cy="3981450"/>
          </a:xfrm>
          <a:prstGeom xmlns:a="http://schemas.openxmlformats.org/drawingml/2006/main" prst="roundRect">
            <a:avLst>
              <a:gd name="adj" fmla="val 4306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DF563-BE9C-4BB7-9EED-D7DEAB67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050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全局最优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7CA78-B268-4992-B00A-B0B47AC6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6690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固定量纲比较完整路径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481C18-33BF-4F3B-A477-326F233B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3AFC0-8A5B-4F2B-BE46-0ED81BDE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80D48A-8C05-46DC-B59C-7F0CC834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9E264B-9D2C-483A-8610-308A61D0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E0CC1-0CD4-4A9E-8E3F-9377E95C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 1 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743B50-6D4A-423C-BFDD-6D932FE0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范围 1～100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选择 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EA5A16-E23C-4BA8-A843-EA13D7C0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A75C15-9FB5-4D2F-A20F-589697F8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8C7661-6FB4-4610-BEC8-150A830C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 2 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442999-4939-4EC8-A353-50D661BA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范围 40～41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选择 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721F06-AE30-44FF-A2AD-8BE86CF8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F3AC18-125E-4E3E-96F0-710A91C2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5E00AB-30CE-4AF6-A0CF-E56981D4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 → 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E1D3EE-1E55-4694-89F4-2F9C5E87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原始总成本 81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ED2058-409D-4BE1-B9AC-3831717D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048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14288">
            <a:solidFill>
              <a:srgbClr val="D9485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D948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485F"/>
                </a:solidFill>
                <a:latin typeface="Microsoft YaHei"/>
                <a:ea typeface="Microsoft YaHei"/>
                <a:cs typeface="Microsoft YaHei"/>
              </a:rPr>
              <a:t>“每轮最低”不能推出“全程最低”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44909D-8FD7-426B-A7D7-48AC0D44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13F832-285A-4BF4-A975-ABBFCDDF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B6BDFA-E27A-4AED-9EF1-A7B6C3CA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04B79A-489A-4DD4-AF37-023C17DB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F25704-AE62-4D99-8F00-D0E86D64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路径 A → 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2A287D-F3EC-4A80-98FB-18920C3D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完整成本 81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E864F8-7841-49DC-AB51-D45EB62C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C878E4-7E70-41E1-94C6-2521582D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C391A1-FC67-4D14-A03F-921302DC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路径 B → 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8864A4-8EBD-40B1-B698-5CCDE985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完整成本 12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0CABDE-769C-442B-83EE-0FF5248C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5227B3-32A1-4D6A-BA38-F7892686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79760D-ECA9-45ED-86BF-BAF063EC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选择 B → 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C05FEC-E477-4D26-81C5-1C5D6D4F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全程成本更低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FDFE53-3EAC-4053-934F-18478284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5048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F9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9E44"/>
                </a:solidFill>
                <a:latin typeface="Microsoft YaHei"/>
                <a:ea typeface="Microsoft YaHei"/>
                <a:cs typeface="Microsoft YaHei"/>
              </a:rPr>
              <a:t>完整路径比较得到更低总成本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1D9A61-BB5C-45B4-81D1-E02F7C09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2776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14288">
            <a:solidFill>
              <a:srgbClr val="13223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为什么：动态归一化适合当轮排序，但不同轮次的分数并不处在同一量纲，不能直接合并为全局目标。</a:t>
            </a:r>
          </a:p>
        </p:txBody>
      </p:sp>
    </p:spTree>
    <p:extLst>
      <p:ext uri="{BB962C8B-B14F-4D97-AF65-F5344CB8AC3E}">
        <p14:creationId xmlns:p14="http://schemas.microsoft.com/office/powerpoint/2010/main" val="12507051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603248-B933-484C-B7EB-B81934F5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42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840A6-900E-4D6F-AD7D-FEC3F2E0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14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最优路径可能需要预定义空间之外的联合移动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B8044-8FAF-4752-BA06-0369710F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1F97F-14B1-4768-A0DF-E12A42A9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9620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C"/>
          </a:solidFill>
          <a:ln xmlns:a="http://schemas.openxmlformats.org/drawingml/2006/main" w="14288">
            <a:solidFill>
              <a:srgbClr val="2E6FB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rPr>
              <a:t>单节点腾空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7C65A-63C3-4784-AE42-7B488F20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895350"/>
            <a:ext cx="819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C"/>
          </a:solidFill>
          <a:ln xmlns:a="http://schemas.openxmlformats.org/drawingml/2006/main" w="14288">
            <a:solidFill>
              <a:srgbClr val="2E6FB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rPr>
              <a:t>单跳放置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DF077-107E-4694-A71F-4D311B51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895350"/>
            <a:ext cx="15335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C"/>
          </a:solidFill>
          <a:ln xmlns:a="http://schemas.openxmlformats.org/drawingml/2006/main" w="14288">
            <a:solidFill>
              <a:srgbClr val="2E6FB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rPr>
              <a:t>空节点不作接收节点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6B687-CEF7-47AD-9A5D-07E62A1E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目标节点 T 的 Pod 不能直接到最终节点 R，需要空节点 E 临时中转，并配合交换或多跳迁移。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E4F68-D26F-43FC-AF46-12F82DDF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5486400" cy="3981450"/>
          </a:xfrm>
          <a:prstGeom xmlns:a="http://schemas.openxmlformats.org/drawingml/2006/main" prst="roundRect">
            <a:avLst>
              <a:gd name="adj" fmla="val 4306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93C7C-06D3-4E6A-B2C6-F2A011B2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当前算法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DBA34-3CFF-429A-9CC2-B52EE479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6690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只搜索允许的直接边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F4425-5148-4006-BF4A-666EF0F5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2600"/>
            <a:ext cx="5486400" cy="3981450"/>
          </a:xfrm>
          <a:prstGeom xmlns:a="http://schemas.openxmlformats.org/drawingml/2006/main" prst="roundRect">
            <a:avLst>
              <a:gd name="adj" fmla="val 4306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79A21-CDB6-4225-918A-CFEC4649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050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全局最优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4A978-59B1-45A5-BB88-C272658A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6690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临时缓冲 + 多跳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113E2-E0B0-4E9D-8AA0-34BBB2CD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D9FFB7-D495-4710-BAFF-6455B7FD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513F01-44F6-4098-A38B-D67A184C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77440F-3814-4FAB-8D2A-D3A74869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4D4C14-E97E-497E-89CF-A4D3F0E8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 → 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562C41-7024-4415-B62A-772D68B2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直接放置不满足约束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4E119-A1F9-4653-9EE3-EAA2A119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C9451C-E009-4AF8-9AD7-4D6A43E9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E1AD31-FCF2-408E-B6E2-F654C05C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E 被排除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79802F-59B7-43C9-9FF5-F3ADABDF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加速卡完全空闲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D33A77-B72B-4F36-BB7D-25648213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182AD2-6646-4AD7-B9E9-4D223CAD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7A70C9-7692-425B-BBED-A567DAA3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搜索结束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CEF60B-664A-4E28-8D53-30E4F482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没有其他允许的边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AFEBF6-2C60-4FEF-AA89-648A7DB1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048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14288">
            <a:solidFill>
              <a:srgbClr val="D9485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D948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485F"/>
                </a:solidFill>
                <a:latin typeface="Microsoft YaHei"/>
                <a:ea typeface="Microsoft YaHei"/>
                <a:cs typeface="Microsoft YaHei"/>
              </a:rPr>
              <a:t>结果：NoRepack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DF3937-20C3-437E-BEB5-C5EEC871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620FD6-BFAD-427D-B8F2-5FA81C0D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99D235-4363-436C-9E61-4C8516ED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020457-1AE4-4B3C-B53B-92534F52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94BF80-ECB7-430E-9AFA-77F11C7A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 → 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AAB31D-03EE-48AF-9B30-6D6DEB71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先使用临时缓冲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42C7C6-A781-44BF-8C13-013CBD57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F52401-A038-4F46-97D0-837E5EC4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D359BE-82E2-4CE4-AC12-5F6B1D6A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交换 / 重排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09CDF4-AF21-466A-B885-3192DD2E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释放最终落点条件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A76A71-DD64-44B5-A7E1-E1141826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B1C0C2-801F-4939-89FC-7878757D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953996-95F3-44A1-8D4D-0DF41694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E → 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0B455A-661A-4644-9B2A-3A1B2952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完成多跳迁移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555608-5F1E-413C-9D1C-E913C21A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5048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F9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9E44"/>
                </a:solidFill>
                <a:latin typeface="Microsoft YaHei"/>
                <a:ea typeface="Microsoft YaHei"/>
                <a:cs typeface="Microsoft YaHei"/>
              </a:rPr>
              <a:t>T 腾空，E 最终恢复为空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EA418E-9C3C-4BAB-B816-B0881FB6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2776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14288">
            <a:solidFill>
              <a:srgbClr val="13223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为什么：限制搜索空间可以控制复杂度与执行风险，但会主动放弃需要缓冲、交换或多跳的全局路径。</a:t>
            </a:r>
          </a:p>
        </p:txBody>
      </p:sp>
    </p:spTree>
    <p:extLst>
      <p:ext uri="{BB962C8B-B14F-4D97-AF65-F5344CB8AC3E}">
        <p14:creationId xmlns:p14="http://schemas.microsoft.com/office/powerpoint/2010/main" val="9043700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77C330-829A-4108-BAD5-B7832906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42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1FF45-D2E3-4B70-898D-B137974D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14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调度条件变化后，失败候选可能没有重新进入搜索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F9C2C-42D0-49FE-820E-6B9C0D95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A8737-1A25-435D-A176-05519B81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21050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C"/>
          </a:solidFill>
          <a:ln xmlns:a="http://schemas.openxmlformats.org/drawingml/2006/main" w="14288">
            <a:solidFill>
              <a:srgbClr val="2E6FB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rPr>
              <a:t>stuckUnits 缓存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08CE4-2F78-447E-9578-3803BB4F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895350"/>
            <a:ext cx="12477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C"/>
          </a:solidFill>
          <a:ln xmlns:a="http://schemas.openxmlformats.org/drawingml/2006/main" w="14288">
            <a:solidFill>
              <a:srgbClr val="2E6FB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rPr>
              <a:t>非单调调度谓词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29782-418B-4CF1-AC65-B3CE687D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U 首轮受反亲和 / Topology Spread 阻塞；先迁移 V 会改变拓扑计数，使 U 之后可能重新满足 Filter。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6F1F2-7C1F-4F97-814D-D576EA32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5486400" cy="3981450"/>
          </a:xfrm>
          <a:prstGeom xmlns:a="http://schemas.openxmlformats.org/drawingml/2006/main" prst="roundRect">
            <a:avLst>
              <a:gd name="adj" fmla="val 4306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84BC4-C99E-4D3F-9BD1-9A9AC6EB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当前算法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64788-3247-455E-A22C-58DC15B9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6690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复用第一次失败结果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D181E-74F7-4E0A-9EA7-40F2CB16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2600"/>
            <a:ext cx="5486400" cy="3981450"/>
          </a:xfrm>
          <a:prstGeom xmlns:a="http://schemas.openxmlformats.org/drawingml/2006/main" prst="roundRect">
            <a:avLst>
              <a:gd name="adj" fmla="val 4306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92861-8917-4BFF-A59C-669ABD98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050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全局最优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0F3B3-F8BF-4C92-A45F-D4CB995E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6690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状态变化后选择性重评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7968E-D835-4357-B524-F66846F7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256CA1-0C82-47A8-8226-24D44575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DE5F5-762A-4512-9581-69C94DEB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989E3-33E1-4B29-B64D-B93710D8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6C0DC-7035-4250-A9D4-C04E5BA4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 首轮失败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D605E0-D3D4-421A-A9F1-88A4475B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写入 stuckUnits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5E06B7-AB66-4E81-9A0D-CD84F6EA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C7BC44-776A-4164-B07A-FC735823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79267C-8808-41E7-AF9F-0B46DB71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迁移 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D099E6-170D-4808-9822-83C84FAB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拓扑计数发生变化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302D64-4A8B-4E2A-9E1B-3E0E1179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262B76-AB9F-4B7A-8854-585C6CF5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69A5FA-AEC6-42BE-989A-48F30E0E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 仍被跳过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62DDAF-A34A-4697-A36F-8EAA66D7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命中失败缓存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F80B09-7A82-45B7-A0F9-E6616B22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048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14288">
            <a:solidFill>
              <a:srgbClr val="D9485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D948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485F"/>
                </a:solidFill>
                <a:latin typeface="Microsoft YaHei"/>
                <a:ea typeface="Microsoft YaHei"/>
                <a:cs typeface="Microsoft YaHei"/>
              </a:rPr>
              <a:t>结果：只释放 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87F90A-0D7B-4A79-BA9A-F8844E04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8EA668-B9AD-435D-960D-20336B53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C59A64-74C5-4739-BCB0-D909AF75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F84D8E-A537-4A51-993C-9BF59D3C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8ECE7A-3B67-4CE0-8641-F6B49E8D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先迁移 V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958EFA-289D-4D7E-9ECE-56D0417B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更新谓词状态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97ABB5-5789-4B2A-A196-F0A70321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B9E1BE-20BF-46EC-B8E0-C6DCB497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0F1C62-A1C6-426D-9D72-A6E0ECEE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重新评估 U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5E5458-E242-4955-8B5E-4319C889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Filter 现在通过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3B20D1-85C0-4F4B-9C9C-50EA7EB8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FD607D-BED3-481C-83BD-E302CAA7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0AE977-6C98-4140-A130-C6DD6AD7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 + V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C3C96D-246B-474D-B42B-9FC189E2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两个节点都可释放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867BF9-F52B-4F07-8CA3-365E6175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5048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F9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9E44"/>
                </a:solidFill>
                <a:latin typeface="Microsoft YaHei"/>
                <a:ea typeface="Microsoft YaHei"/>
                <a:cs typeface="Microsoft YaHei"/>
              </a:rPr>
              <a:t>结果：释放 U、V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12A3D6-EFEA-452C-B427-11ECBE19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2776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14288">
            <a:solidFill>
              <a:srgbClr val="13223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为什么：失败缓存减少重复模拟，但对反亲和、拓扑分布等非单调条件，旧结论可能在状态变化后失效。</a:t>
            </a:r>
          </a:p>
        </p:txBody>
      </p:sp>
    </p:spTree>
    <p:extLst>
      <p:ext uri="{BB962C8B-B14F-4D97-AF65-F5344CB8AC3E}">
        <p14:creationId xmlns:p14="http://schemas.microsoft.com/office/powerpoint/2010/main" val="605565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9C1AF2-AB58-476E-BDBA-F8CC3289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42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DFB2B-AE89-4DA6-88BF-D8798124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14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局部路径未达门槛，最终可能表现为没有推荐计划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9D91D-97C2-4DFD-9041-D6FAF7FB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670E9-4E12-461C-AA04-B00A91BF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C"/>
          </a:solidFill>
          <a:ln xmlns:a="http://schemas.openxmlformats.org/drawingml/2006/main" w="14288">
            <a:solidFill>
              <a:srgbClr val="2E6FB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rPr>
              <a:t>最终收益门槛 =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728C2-1C1D-4B9D-91B3-66A98C53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895350"/>
            <a:ext cx="15335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C"/>
          </a:solidFill>
          <a:ln xmlns:a="http://schemas.openxmlformats.org/drawingml/2006/main" w="14288">
            <a:solidFill>
              <a:srgbClr val="2E6FB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rPr>
              <a:t>失败不回到搜索起点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72EF1-E140-44A6-9765-895EECD4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收益门槛要求至少释放 2 个节点，或达到等价碎片率改善；门槛在唯一贪心路径完成后检查。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80024-ACBE-4475-9C2A-DB557278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5486400" cy="3981450"/>
          </a:xfrm>
          <a:prstGeom xmlns:a="http://schemas.openxmlformats.org/drawingml/2006/main" prst="roundRect">
            <a:avLst>
              <a:gd name="adj" fmla="val 4306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EB37E-8160-4BAC-A527-9133D7B4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当前算法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3DFCF-CE32-4E2B-8144-4AC95C00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6690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唯一贪心路径的最终检查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5F483-9531-4A84-90F0-7A93E243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2600"/>
            <a:ext cx="5486400" cy="3981450"/>
          </a:xfrm>
          <a:prstGeom xmlns:a="http://schemas.openxmlformats.org/drawingml/2006/main" prst="roundRect">
            <a:avLst>
              <a:gd name="adj" fmla="val 4306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77FC9-6261-4832-AEC3-8522CC3D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050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全局最优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E22C8-D31E-4DA9-B1D9-80F300EF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6690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另一条序列达到安全门槛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4E8E7-8433-4B1D-A7B1-E011D961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7F661-5174-4A1E-8345-1CF1A248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745DB-286B-451F-9E79-49CEEB9A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17BB01-1FE4-4D3B-8F3A-A8F2EA21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7985B7-C765-42E2-94E0-B3397757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选择 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93093C-6314-4B04-953F-BF6D71FF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释放 1 个节点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53991E-7EFF-416D-9B15-3C405E5A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5AEB69-5DC3-4B2F-BB9F-AC6FA394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02D2A9-B4FB-4F02-9CA0-431CFCA3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最终收益检查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54014B-3A1B-4F36-A5EB-A12D9560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1 &lt;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137695-DECB-4D68-AE78-7CAB8476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07CEBD-37BE-4B4F-8D1B-26D1775F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B50510-1899-4078-8754-14D17DED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整份计划拒绝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09D5D2-394C-40AE-953F-5A6C19EF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不返回局部结果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39BABE-C803-46C9-B240-26BA827E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048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14288">
            <a:solidFill>
              <a:srgbClr val="D9485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D948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485F"/>
                </a:solidFill>
                <a:latin typeface="Microsoft YaHei"/>
                <a:ea typeface="Microsoft YaHei"/>
                <a:cs typeface="Microsoft YaHei"/>
              </a:rPr>
              <a:t>结果：NoRepack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9E4F4F-9A91-459A-B165-3934E97C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A686C9-924B-4DCE-9438-C137D556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C3CC6A-3F87-4C59-AC15-F6ECE228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36488D-ED8E-41B9-86BD-78AD9D7D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53832B-7FBD-4572-A898-6A269605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选择 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7451AA-8A65-4248-816E-AB1825DC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释放 1 个节点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51238C-84BE-4DE8-9399-13ADE7E0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50C692-4D30-407E-99D6-4E9C4BC8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0EBE0C-EA14-4201-804D-1ED02D6C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继续选择 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54CC30-DFB0-46D3-96C5-FBA5BF5F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累计释放 2 个节点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1CAA59-CBD4-4CB4-B617-889571B1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E7D68D-CE16-4BC2-BD5A-B268FF66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832A46-F85D-44C6-B07C-6631E062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通过门槛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A95765-C480-4F11-BEAC-47A75298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计划可推荐执行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DEC285-1024-4BB5-B52A-F670B35F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5048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F9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9E44"/>
                </a:solidFill>
                <a:latin typeface="Microsoft YaHei"/>
                <a:ea typeface="Microsoft YaHei"/>
                <a:cs typeface="Microsoft YaHei"/>
              </a:rPr>
              <a:t>结果：推荐 B → 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764C8C-BDDD-4ACC-A323-56C8EF54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2776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14288">
            <a:solidFill>
              <a:srgbClr val="13223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为什么：门槛用于避免低收益高扰动操作，但当前实现不会为通过门槛而回溯探索其他候选序列。</a:t>
            </a:r>
          </a:p>
        </p:txBody>
      </p:sp>
    </p:spTree>
    <p:extLst>
      <p:ext uri="{BB962C8B-B14F-4D97-AF65-F5344CB8AC3E}">
        <p14:creationId xmlns:p14="http://schemas.microsoft.com/office/powerpoint/2010/main" val="18059678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6BFA49-90DD-4CAE-A23B-9F992F41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42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11EE8-E41E-410D-B479-3F8AB26B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14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快照中的好计划，不代表实时执行结果被锁定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F8F5D-C66D-46E6-ACA4-B9FB9129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01837-63D0-4779-8938-81EF090D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19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C"/>
          </a:solidFill>
          <a:ln xmlns:a="http://schemas.openxmlformats.org/drawingml/2006/main" w="14288">
            <a:solidFill>
              <a:srgbClr val="2E6FB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rPr>
              <a:t>规划快照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63116-9E65-40B5-B75B-0B030E8E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95350"/>
            <a:ext cx="9620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C"/>
          </a:solidFill>
          <a:ln xmlns:a="http://schemas.openxmlformats.org/drawingml/2006/main" w="14288">
            <a:solidFill>
              <a:srgbClr val="2E6FB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rPr>
              <a:t>无资源预留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B090D-F2C2-46CA-B3B8-B78FDE24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895350"/>
            <a:ext cx="35337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C"/>
          </a:solidFill>
          <a:ln xmlns:a="http://schemas.openxmlformats.org/drawingml/2006/main" w="14288">
            <a:solidFill>
              <a:srgbClr val="2E6FB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6FBB"/>
                </a:solidFill>
                <a:latin typeface="Microsoft YaHei"/>
                <a:ea typeface="Microsoft YaHei"/>
                <a:cs typeface="Microsoft YaHei"/>
              </a:rPr>
              <a:t>nominatedNodeName 非强制绑定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E4B34-68D4-4690-8981-36913D57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规划不锁定节点、不预留资源，也不绕过 PDB；Scheduler 与 API Server 始终以 Execute 时的真实状态决策。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9B226-88CE-4B13-874A-C3AB1686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5486400" cy="3981450"/>
          </a:xfrm>
          <a:prstGeom xmlns:a="http://schemas.openxmlformats.org/drawingml/2006/main" prst="roundRect">
            <a:avLst>
              <a:gd name="adj" fmla="val 4306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5A26D-B375-4077-BBD7-E3D4E8F7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当前算法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CF51E-5058-41D7-AE98-786E7AF2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6690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稳定快照下的预期结果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79A0F4-D826-4862-B424-8BCD57AA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2600"/>
            <a:ext cx="5486400" cy="3981450"/>
          </a:xfrm>
          <a:prstGeom xmlns:a="http://schemas.openxmlformats.org/drawingml/2006/main" prst="roundRect">
            <a:avLst>
              <a:gd name="adj" fmla="val 4306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B238D-A3E3-4472-9002-B618C9A1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050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执行现实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7AEF9-7746-4482-A3D1-18FC94D3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6690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实时 Execute 可能发生漂移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7E1AB-1C18-41DE-A56E-C742F5F5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B5FC5-B622-4AE5-9A81-EED5C324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ABA8A-8FD1-43EC-A68B-036D703F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90E2E0-BF3D-43DF-BB92-7B74DAD0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A6C90-53CA-4592-9046-1017B88B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源节点 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EDE73E-2578-4644-A68E-86CCD8BF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victim Pod 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088174-D1CE-46FD-8510-4EDAD97C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BDB4AA-4E37-4A85-8F8A-5F52A977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C7381B-006B-4480-B4BC-55DDFF1A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模拟 P → R1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A83415-F860-4E89-8E2D-A943D8CD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容量与约束均可用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29B124-FD81-4DB0-8EDA-D05B79F5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90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B76EA3-21DB-44B9-8601-92211DA9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CE7436-B0AD-44CF-A05A-9F4835CB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 腾空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2E0204-0C30-4E51-9DF1-96FF5447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计划收益实现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8D94CE-E601-4FB5-9993-F7E8DE27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048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F9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9E44"/>
                </a:solidFill>
                <a:latin typeface="Microsoft YaHei"/>
                <a:ea typeface="Microsoft YaHei"/>
                <a:cs typeface="Microsoft YaHei"/>
              </a:rPr>
              <a:t>这是计划快照，不是资源承诺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6DAD0F-C7CF-4ECE-9593-91549A32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FAE01C-D735-4F85-9B36-D63FB5E7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9718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6FFD4A-7F0B-45FF-B165-96E5261F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12E6EE-36B4-4FC4-86B5-699FDF96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A3A982-3BC9-40CE-B8D3-8A523F74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外部状态变化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CA6C90-A563-4ABE-808B-5F9DC7C6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新 Pod 占 R1 / 节点变化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B258D2-C0BD-4612-B385-1D650104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137A91-8135-48A5-A061-90EC6DCC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C757C2-34E8-464D-A436-AF760CA0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驱逐或调度改变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E34ED1-E0E8-4EAC-889D-77470FF7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PDB 拒绝 / P → R2 / Pending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012FC9-86E1-4DC0-8A9A-A7676C24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955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34A89E-D0DA-4C66-8888-92E2C77A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955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1CEB05-902F-4390-B4F0-7AE04933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 未腾空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BF7C7F-628B-498B-8F9D-3D7A77D2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38450"/>
            <a:ext cx="120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D6A7E"/>
                </a:solidFill>
                <a:latin typeface="Microsoft YaHei"/>
                <a:ea typeface="Microsoft YaHei"/>
                <a:cs typeface="Microsoft YaHei"/>
              </a:rPr>
              <a:t>实际收益低于计划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4E2E28-B051-4299-9AC4-1A7D009C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5048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14288">
            <a:solidFill>
              <a:srgbClr val="D9485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D948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485F"/>
                </a:solidFill>
                <a:latin typeface="Microsoft YaHei"/>
                <a:ea typeface="Microsoft YaHei"/>
                <a:cs typeface="Microsoft YaHei"/>
              </a:rPr>
              <a:t>以 status.result 与终态验证为准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F76388-B70D-490B-A690-5C8EB294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2776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14288">
            <a:solidFill>
              <a:srgbClr val="13223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为什么：这是执行期并发与约束漂移，而非规划器单纯选错；实时系统不能用离线计划强行覆盖安全约束。</a:t>
            </a:r>
          </a:p>
        </p:txBody>
      </p:sp>
    </p:spTree>
    <p:extLst>
      <p:ext uri="{BB962C8B-B14F-4D97-AF65-F5344CB8AC3E}">
        <p14:creationId xmlns:p14="http://schemas.microsoft.com/office/powerpoint/2010/main" val="9876294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2026-08-07T06:55:16.1850000Z</dcterms:created>
  <dcterms:modified xsi:type="dcterms:W3CDTF">2026-08-07T06:55:16.1850000Z</dcterms:modified>
</coreProperties>
</file>