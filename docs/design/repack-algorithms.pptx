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D9488"/>
                </a:solidFill>
                <a:latin typeface="Microsoft YaHei"/>
                <a:ea typeface="Microsoft YaHei"/>
              </a:rPr>
              <a:t>方案 A · 节点腾空法（drain）  ·  自顶向下、盯节点、构造式贪心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E293B"/>
                </a:solidFill>
                <a:latin typeface="Microsoft YaHei"/>
                <a:ea typeface="Microsoft YaHei"/>
              </a:rPr>
              <a:t>挑节点、整组搬走、整空才提交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36192"/>
            <a:ext cx="10927080" cy="1371600"/>
          </a:xfrm>
          <a:prstGeom prst="roundRect">
            <a:avLst>
              <a:gd name="adj" fmla="val 5000"/>
            </a:avLst>
          </a:prstGeom>
          <a:solidFill>
            <a:srgbClr val="E7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424160" cy="1188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 i="0">
                <a:solidFill>
                  <a:srgbClr val="0F766E"/>
                </a:solidFill>
                <a:latin typeface="Microsoft YaHei"/>
                <a:ea typeface="Microsoft YaHei"/>
              </a:rPr>
              <a:t>思路（打比方）： </a:t>
            </a:r>
            <a:r>
              <a:rPr sz="1450" b="0" i="0">
                <a:solidFill>
                  <a:srgbClr val="1E293B"/>
                </a:solidFill>
                <a:latin typeface="Microsoft YaHei"/>
                <a:ea typeface="Microsoft YaHei"/>
              </a:rPr>
              <a:t>像 清仓合并 —— 挑一个“最容易清空”的节点，把它的作业用装箱（FFD/best-fit）塞进别处碎片；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0" i="0">
                <a:solidFill>
                  <a:srgbClr val="1E293B"/>
                </a:solidFill>
                <a:latin typeface="Microsoft YaHei"/>
                <a:ea typeface="Microsoft YaHei"/>
              </a:rPr>
              <a:t>能整个清空 才真的搬，清不空就换下一个。外层循环=节点，</a:t>
            </a:r>
            <a:r>
              <a:rPr sz="1450" b="1" i="0">
                <a:solidFill>
                  <a:srgbClr val="0F766E"/>
                </a:solidFill>
                <a:latin typeface="Microsoft YaHei"/>
                <a:ea typeface="Microsoft YaHei"/>
              </a:rPr>
              <a:t>每提交一次 = 腾出一个整机，且只动“被腾节点”上的负载。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063240"/>
            <a:ext cx="5532120" cy="2926080"/>
          </a:xfrm>
          <a:prstGeom prst="roundRect">
            <a:avLst>
              <a:gd name="adj" fmla="val 5000"/>
            </a:avLst>
          </a:prstGeom>
          <a:solidFill>
            <a:srgbClr val="E7F6F4"/>
          </a:solidFill>
          <a:ln>
            <a:noFill/>
          </a:ln>
          <a:effectLst/>
          <a:effectLst>
            <a:outerShdw blurRad="55000" dist="22000" dir="5400000" rotWithShape="0">
              <a:srgbClr val="0F1E3D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3282696"/>
            <a:ext cx="498348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F766E"/>
                </a:solidFill>
                <a:latin typeface="Microsoft YaHei"/>
                <a:ea typeface="Microsoft YaHei"/>
              </a:rPr>
              <a:t>优势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3776472"/>
            <a:ext cx="4983480" cy="2011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 i="0">
                <a:solidFill>
                  <a:srgbClr val="0F766E"/>
                </a:solidFill>
                <a:latin typeface="Microsoft YaHei"/>
                <a:ea typeface="Microsoft YaHei"/>
              </a:rPr>
              <a:t>· </a:t>
            </a:r>
            <a:r>
              <a:rPr sz="1300" b="0" i="0">
                <a:solidFill>
                  <a:srgbClr val="1E293B"/>
                </a:solidFill>
                <a:latin typeface="Microsoft YaHei"/>
                <a:ea typeface="Microsoft YaHei"/>
              </a:rPr>
              <a:t>直达目标：每次提交=一个整机，可直接签核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 i="0">
                <a:solidFill>
                  <a:srgbClr val="0F766E"/>
                </a:solidFill>
                <a:latin typeface="Microsoft YaHei"/>
                <a:ea typeface="Microsoft YaHei"/>
              </a:rPr>
              <a:t>· </a:t>
            </a:r>
            <a:r>
              <a:rPr sz="1300" b="0" i="0">
                <a:solidFill>
                  <a:srgbClr val="1E293B"/>
                </a:solidFill>
                <a:latin typeface="Microsoft YaHei"/>
                <a:ea typeface="Microsoft YaHei"/>
              </a:rPr>
              <a:t>扰动天然有界 · 零空转（原子提交，不 churn）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 i="0">
                <a:solidFill>
                  <a:srgbClr val="0F766E"/>
                </a:solidFill>
                <a:latin typeface="Microsoft YaHei"/>
                <a:ea typeface="Microsoft YaHei"/>
              </a:rPr>
              <a:t>· </a:t>
            </a:r>
            <a:r>
              <a:rPr sz="1300" b="0" i="0">
                <a:solidFill>
                  <a:srgbClr val="1E293B"/>
                </a:solidFill>
                <a:latin typeface="Microsoft YaHei"/>
                <a:ea typeface="Microsoft YaHei"/>
              </a:rPr>
              <a:t>几乎零配置：难配错、易评审、易定位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 i="0">
                <a:solidFill>
                  <a:srgbClr val="0F766E"/>
                </a:solidFill>
                <a:latin typeface="Microsoft YaHei"/>
                <a:ea typeface="Microsoft YaHei"/>
              </a:rPr>
              <a:t>· </a:t>
            </a:r>
            <a:r>
              <a:rPr sz="1300" b="0" i="0">
                <a:solidFill>
                  <a:srgbClr val="1E293B"/>
                </a:solidFill>
                <a:latin typeface="Microsoft YaHei"/>
                <a:ea typeface="Microsoft YaHei"/>
              </a:rPr>
              <a:t>最贴运维：动作单元=节点=cordon/drain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 i="0">
                <a:solidFill>
                  <a:srgbClr val="0F766E"/>
                </a:solidFill>
                <a:latin typeface="Microsoft YaHei"/>
                <a:ea typeface="Microsoft YaHei"/>
              </a:rPr>
              <a:t>· </a:t>
            </a:r>
            <a:r>
              <a:rPr sz="1300" b="1" i="0">
                <a:solidFill>
                  <a:srgbClr val="15803D"/>
                </a:solidFill>
                <a:latin typeface="Microsoft YaHei"/>
                <a:ea typeface="Microsoft YaHei"/>
              </a:rPr>
              <a:t>已实现 + 已验证</a:t>
            </a:r>
            <a:r>
              <a:rPr sz="1300" b="0" i="0">
                <a:solidFill>
                  <a:srgbClr val="1E293B"/>
                </a:solidFill>
                <a:latin typeface="Microsoft YaHei"/>
                <a:ea typeface="Microsoft YaHei"/>
              </a:rPr>
              <a:t>（orchestrator.go + 单测 + Python）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3063240"/>
            <a:ext cx="5257800" cy="292608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  <a:effectLst/>
          <a:effectLst>
            <a:outerShdw blurRad="55000" dist="22000" dir="5400000" rotWithShape="0">
              <a:srgbClr val="0F1E3D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1968" y="3282696"/>
            <a:ext cx="470916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B91C1C"/>
                </a:solidFill>
                <a:latin typeface="Microsoft YaHei"/>
                <a:ea typeface="Microsoft YaHei"/>
              </a:rPr>
              <a:t>劣势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1968" y="3776472"/>
            <a:ext cx="4709160" cy="2011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 i="0">
                <a:solidFill>
                  <a:srgbClr val="B91C1C"/>
                </a:solidFill>
                <a:latin typeface="Microsoft YaHei"/>
                <a:ea typeface="Microsoft YaHei"/>
              </a:rPr>
              <a:t>· </a:t>
            </a:r>
            <a:r>
              <a:rPr sz="1300" b="0" i="0">
                <a:solidFill>
                  <a:srgbClr val="1E293B"/>
                </a:solidFill>
                <a:latin typeface="Microsoft YaHei"/>
                <a:ea typeface="Microsoft YaHei"/>
              </a:rPr>
              <a:t>贪心定序，偶尔卡在局部最优（多节点协同抓不到）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 i="0">
                <a:solidFill>
                  <a:srgbClr val="B91C1C"/>
                </a:solidFill>
                <a:latin typeface="Microsoft YaHei"/>
                <a:ea typeface="Microsoft YaHei"/>
              </a:rPr>
              <a:t>· </a:t>
            </a:r>
            <a:r>
              <a:rPr sz="1300" b="0" i="0">
                <a:solidFill>
                  <a:srgbClr val="1E293B"/>
                </a:solidFill>
                <a:latin typeface="Microsoft YaHei"/>
                <a:ea typeface="Microsoft YaHei"/>
              </a:rPr>
              <a:t>偏批量 / 离线，在线增量弱（集群一变全量重算）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 i="0">
                <a:solidFill>
                  <a:srgbClr val="B91C1C"/>
                </a:solidFill>
                <a:latin typeface="Microsoft YaHei"/>
                <a:ea typeface="Microsoft YaHei"/>
              </a:rPr>
              <a:t>· </a:t>
            </a:r>
            <a:r>
              <a:rPr sz="1300" b="0" i="0">
                <a:solidFill>
                  <a:srgbClr val="1E293B"/>
                </a:solidFill>
                <a:latin typeface="Microsoft YaHei"/>
                <a:ea typeface="Microsoft YaHei"/>
              </a:rPr>
              <a:t>加新策略扩展偏硬（选谁搬+节点排序+择优 多处）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6144768"/>
            <a:ext cx="10927080" cy="502920"/>
          </a:xfrm>
          <a:prstGeom prst="roundRect">
            <a:avLst>
              <a:gd name="adj" fmla="val 5000"/>
            </a:avLst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6144768"/>
            <a:ext cx="1042416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D9488"/>
                </a:solidFill>
                <a:latin typeface="Microsoft YaHei"/>
                <a:ea typeface="Microsoft YaHei"/>
              </a:rPr>
              <a:t>擅长： </a:t>
            </a:r>
            <a:r>
              <a:rPr sz="1350" b="0" i="0">
                <a:solidFill>
                  <a:srgbClr val="FFFFFF"/>
                </a:solidFill>
                <a:latin typeface="Microsoft YaHei"/>
                <a:ea typeface="Microsoft YaHei"/>
              </a:rPr>
              <a:t>批量周期整理 · 大规模商用重运维 · 要快稳可预测 · 碎片率低时精准少扰动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D9488"/>
                </a:solidFill>
                <a:latin typeface="Microsoft YaHei"/>
                <a:ea typeface="Microsoft YaHei"/>
              </a:rPr>
              <a:t>方案 A · 节点腾空法 · 算法图解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E293B"/>
                </a:solidFill>
                <a:latin typeface="Microsoft YaHei"/>
                <a:ea typeface="Microsoft YaHei"/>
              </a:rPr>
              <a:t>一轮 drain：挑节点 → 装箱塞碎片 → 整空才提交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08760"/>
            <a:ext cx="4297680" cy="278892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27632"/>
            <a:ext cx="429768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64748B"/>
                </a:solidFill>
                <a:latin typeface="Microsoft YaHei"/>
                <a:ea typeface="Microsoft YaHei"/>
              </a:rPr>
              <a:t>整理前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148840"/>
            <a:ext cx="713232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5840" y="2617470"/>
            <a:ext cx="621792" cy="126873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959352"/>
            <a:ext cx="987552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E293B"/>
                </a:solidFill>
                <a:latin typeface="Microsoft YaHei"/>
                <a:ea typeface="Microsoft YaHei"/>
              </a:rPr>
              <a:t>N1 6</a:t>
            </a:r>
          </a:p>
        </p:txBody>
      </p:sp>
      <p:sp>
        <p:nvSpPr>
          <p:cNvPr id="9" name="Rectangle 8"/>
          <p:cNvSpPr/>
          <p:nvPr/>
        </p:nvSpPr>
        <p:spPr>
          <a:xfrm>
            <a:off x="1984248" y="2148840"/>
            <a:ext cx="713232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29967" y="3040379"/>
            <a:ext cx="621792" cy="845819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47088" y="3959352"/>
            <a:ext cx="987552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E293B"/>
                </a:solidFill>
                <a:latin typeface="Microsoft YaHei"/>
                <a:ea typeface="Microsoft YaHei"/>
              </a:rPr>
              <a:t>N2 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08376" y="2148840"/>
            <a:ext cx="713232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054096" y="3463289"/>
            <a:ext cx="621792" cy="422909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71216" y="3959352"/>
            <a:ext cx="987552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E293B"/>
                </a:solidFill>
                <a:latin typeface="Microsoft YaHei"/>
                <a:ea typeface="Microsoft YaHei"/>
              </a:rPr>
              <a:t>N3 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32504" y="2148840"/>
            <a:ext cx="713232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078224" y="3463289"/>
            <a:ext cx="621792" cy="422909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95344" y="3959352"/>
            <a:ext cx="987552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E293B"/>
                </a:solidFill>
                <a:latin typeface="Microsoft YaHei"/>
                <a:ea typeface="Microsoft YaHei"/>
              </a:rPr>
              <a:t>N4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2148840"/>
            <a:ext cx="23774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766E"/>
                </a:solidFill>
                <a:latin typeface="Microsoft YaHei"/>
                <a:ea typeface="Microsoft YaHei"/>
              </a:rPr>
              <a:t>① 腾 N4 → N1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074920" y="2651760"/>
            <a:ext cx="2011680" cy="502920"/>
          </a:xfrm>
          <a:prstGeom prst="rightArrow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92040" y="3246120"/>
            <a:ext cx="23774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766E"/>
                </a:solidFill>
                <a:latin typeface="Microsoft YaHei"/>
                <a:ea typeface="Microsoft YaHei"/>
              </a:rPr>
              <a:t>② 腾 N3 → N2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69480" y="1508760"/>
            <a:ext cx="4297680" cy="2788920"/>
          </a:xfrm>
          <a:prstGeom prst="roundRect">
            <a:avLst>
              <a:gd name="adj" fmla="val 5000"/>
            </a:avLst>
          </a:prstGeom>
          <a:solidFill>
            <a:srgbClr val="E7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69480" y="1627632"/>
            <a:ext cx="429768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F766E"/>
                </a:solidFill>
                <a:latin typeface="Microsoft YaHei"/>
                <a:ea typeface="Microsoft YaHei"/>
              </a:rPr>
              <a:t>整理后 · 腾出 2 台整机 ✓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589520" y="2148840"/>
            <a:ext cx="713232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635240" y="2194560"/>
            <a:ext cx="621792" cy="1691639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52360" y="3959352"/>
            <a:ext cx="987552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E293B"/>
                </a:solidFill>
                <a:latin typeface="Microsoft YaHei"/>
                <a:ea typeface="Microsoft YaHei"/>
              </a:rPr>
              <a:t>N1 8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613648" y="2148840"/>
            <a:ext cx="713232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659368" y="2194560"/>
            <a:ext cx="621792" cy="1691639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76488" y="3959352"/>
            <a:ext cx="987552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E293B"/>
                </a:solidFill>
                <a:latin typeface="Microsoft YaHei"/>
                <a:ea typeface="Microsoft YaHei"/>
              </a:rPr>
              <a:t>N2 8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37776" y="2148840"/>
            <a:ext cx="713232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00616" y="3959352"/>
            <a:ext cx="987552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5803D"/>
                </a:solidFill>
                <a:latin typeface="Microsoft YaHei"/>
                <a:ea typeface="Microsoft YaHei"/>
              </a:rPr>
              <a:t>N3 空 ✓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661904" y="2148840"/>
            <a:ext cx="713232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24744" y="3959352"/>
            <a:ext cx="987552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5803D"/>
                </a:solidFill>
                <a:latin typeface="Microsoft YaHei"/>
                <a:ea typeface="Microsoft YaHei"/>
              </a:rPr>
              <a:t>N4 空 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4526280"/>
            <a:ext cx="1097280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E293B"/>
                </a:solidFill>
                <a:latin typeface="Microsoft YaHei"/>
                <a:ea typeface="Microsoft YaHei"/>
              </a:rPr>
              <a:t>循环核心（外层=节点）：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" y="4892040"/>
            <a:ext cx="2487168" cy="1051560"/>
          </a:xfrm>
          <a:prstGeom prst="roundRect">
            <a:avLst>
              <a:gd name="adj" fmla="val 5000"/>
            </a:avLst>
          </a:prstGeom>
          <a:solidFill>
            <a:srgbClr val="E7F6F4"/>
          </a:solidFill>
          <a:ln>
            <a:noFill/>
          </a:ln>
          <a:effectLst/>
          <a:effectLst>
            <a:outerShdw blurRad="55000" dist="22000" dir="5400000" rotWithShape="0">
              <a:srgbClr val="0F1E3D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04671" y="5038344"/>
            <a:ext cx="384048" cy="384048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6384" y="5495544"/>
            <a:ext cx="2212848" cy="365759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293B"/>
                </a:solidFill>
                <a:latin typeface="Microsoft YaHei"/>
                <a:ea typeface="Microsoft YaHei"/>
              </a:rPr>
              <a:t>挑“最容易清空”的节点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3200400" y="5276088"/>
            <a:ext cx="292608" cy="292608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3529584" y="4892040"/>
            <a:ext cx="2487168" cy="1051560"/>
          </a:xfrm>
          <a:prstGeom prst="roundRect">
            <a:avLst>
              <a:gd name="adj" fmla="val 5000"/>
            </a:avLst>
          </a:prstGeom>
          <a:solidFill>
            <a:srgbClr val="E7F6F4"/>
          </a:solidFill>
          <a:ln>
            <a:noFill/>
          </a:ln>
          <a:effectLst/>
          <a:effectLst>
            <a:outerShdw blurRad="55000" dist="22000" dir="5400000" rotWithShape="0">
              <a:srgbClr val="0F1E3D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694176" y="5038344"/>
            <a:ext cx="384048" cy="384048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75887" y="5495544"/>
            <a:ext cx="2212848" cy="365759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293B"/>
                </a:solidFill>
                <a:latin typeface="Microsoft YaHei"/>
                <a:ea typeface="Microsoft YaHei"/>
              </a:rPr>
              <a:t>装箱：把它的作业塞进别处碎片（best-fit）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6089904" y="5276088"/>
            <a:ext cx="292608" cy="292608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419088" y="4892040"/>
            <a:ext cx="2487168" cy="1051560"/>
          </a:xfrm>
          <a:prstGeom prst="roundRect">
            <a:avLst>
              <a:gd name="adj" fmla="val 5000"/>
            </a:avLst>
          </a:prstGeom>
          <a:solidFill>
            <a:srgbClr val="E7F6F4"/>
          </a:solidFill>
          <a:ln>
            <a:noFill/>
          </a:ln>
          <a:effectLst/>
          <a:effectLst>
            <a:outerShdw blurRad="55000" dist="22000" dir="5400000" rotWithShape="0">
              <a:srgbClr val="0F1E3D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583679" y="5038344"/>
            <a:ext cx="384048" cy="384048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65392" y="5495544"/>
            <a:ext cx="2212848" cy="365759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293B"/>
                </a:solidFill>
                <a:latin typeface="Microsoft YaHei"/>
                <a:ea typeface="Microsoft YaHei"/>
              </a:rPr>
              <a:t>INV-RESCHED：都能落下？</a:t>
            </a:r>
          </a:p>
        </p:txBody>
      </p:sp>
      <p:sp>
        <p:nvSpPr>
          <p:cNvPr id="45" name="Right Arrow 44"/>
          <p:cNvSpPr/>
          <p:nvPr/>
        </p:nvSpPr>
        <p:spPr>
          <a:xfrm>
            <a:off x="8979408" y="5276088"/>
            <a:ext cx="292608" cy="292608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9308592" y="4892040"/>
            <a:ext cx="2258568" cy="1051560"/>
          </a:xfrm>
          <a:prstGeom prst="roundRect">
            <a:avLst>
              <a:gd name="adj" fmla="val 5000"/>
            </a:avLst>
          </a:prstGeom>
          <a:solidFill>
            <a:srgbClr val="E7F6F4"/>
          </a:solidFill>
          <a:ln>
            <a:noFill/>
          </a:ln>
          <a:effectLst/>
          <a:effectLst>
            <a:outerShdw blurRad="55000" dist="22000" dir="5400000" rotWithShape="0">
              <a:srgbClr val="0F1E3D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473184" y="5038344"/>
            <a:ext cx="384048" cy="384048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454896" y="5495544"/>
            <a:ext cx="1984248" cy="365759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293B"/>
                </a:solidFill>
                <a:latin typeface="Microsoft YaHei"/>
                <a:ea typeface="Microsoft YaHei"/>
              </a:rPr>
              <a:t>整空才原子提交；否则跳过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" y="6053328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766E"/>
                </a:solidFill>
                <a:latin typeface="Microsoft YaHei"/>
                <a:ea typeface="Microsoft YaHei"/>
              </a:rPr>
              <a:t>↻ 回到 ①，直到扫完；</a:t>
            </a:r>
            <a:r>
              <a:rPr sz="1250" b="0" i="0">
                <a:solidFill>
                  <a:srgbClr val="64748B"/>
                </a:solidFill>
                <a:latin typeface="Microsoft YaHei"/>
                <a:ea typeface="Microsoft YaHei"/>
              </a:rPr>
              <a:t>每提交一次 = 腾出一个整机，且只动“被腾节点”上的负载。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26A08"/>
                </a:solidFill>
                <a:latin typeface="Microsoft YaHei"/>
                <a:ea typeface="Microsoft YaHei"/>
              </a:rPr>
              <a:t>方案 B · 集中度法（consolidation）  ·  自底向上、盯作业、爬山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E293B"/>
                </a:solidFill>
                <a:latin typeface="Microsoft YaHei"/>
                <a:ea typeface="Microsoft YaHei"/>
              </a:rPr>
              <a:t>给集群打“集中度分数”，只做涨分的搬迁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36192"/>
            <a:ext cx="10927080" cy="1371600"/>
          </a:xfrm>
          <a:prstGeom prst="roundRect">
            <a:avLst>
              <a:gd name="adj" fmla="val 5000"/>
            </a:avLst>
          </a:prstGeom>
          <a:solidFill>
            <a:srgbClr val="FD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424160" cy="1188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 i="0">
                <a:solidFill>
                  <a:srgbClr val="C26A08"/>
                </a:solidFill>
                <a:latin typeface="Microsoft YaHei"/>
                <a:ea typeface="Microsoft YaHei"/>
              </a:rPr>
              <a:t>思路： </a:t>
            </a:r>
            <a:r>
              <a:rPr sz="1450" b="0" i="0">
                <a:solidFill>
                  <a:srgbClr val="1E293B"/>
                </a:solidFill>
                <a:latin typeface="Microsoft YaHei"/>
                <a:ea typeface="Microsoft YaHei"/>
              </a:rPr>
              <a:t>集中度分数 = 每个节点用量的平方和（Σ用量²）；只做能让分数变大的搬迁，像 往更满的箱子塞 ，爬到不能再涨。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 i="0">
                <a:solidFill>
                  <a:srgbClr val="C26A08"/>
                </a:solidFill>
                <a:latin typeface="Microsoft YaHei"/>
                <a:ea typeface="Microsoft YaHei"/>
              </a:rPr>
              <a:t>平方点睛： </a:t>
            </a:r>
            <a:r>
              <a:rPr sz="1450" b="0" i="0">
                <a:solidFill>
                  <a:srgbClr val="1E293B"/>
                </a:solidFill>
                <a:latin typeface="Microsoft YaHei"/>
                <a:ea typeface="Microsoft YaHei"/>
              </a:rPr>
              <a:t>同样 8 卡，放成 (8,0)= </a:t>
            </a:r>
            <a:r>
              <a:rPr sz="1500" b="1" i="0">
                <a:solidFill>
                  <a:srgbClr val="15803D"/>
                </a:solidFill>
                <a:latin typeface="Microsoft YaHei"/>
                <a:ea typeface="Microsoft YaHei"/>
              </a:rPr>
              <a:t>64</a:t>
            </a:r>
            <a:r>
              <a:rPr sz="1450" b="0" i="0">
                <a:solidFill>
                  <a:srgbClr val="1E293B"/>
                </a:solidFill>
                <a:latin typeface="Microsoft YaHei"/>
                <a:ea typeface="Microsoft YaHei"/>
              </a:rPr>
              <a:t>、放成 (4,4)= </a:t>
            </a:r>
            <a:r>
              <a:rPr sz="1500" b="1" i="0">
                <a:solidFill>
                  <a:srgbClr val="B91C1C"/>
                </a:solidFill>
                <a:latin typeface="Microsoft YaHei"/>
                <a:ea typeface="Microsoft YaHei"/>
              </a:rPr>
              <a:t>32</a:t>
            </a:r>
            <a:r>
              <a:rPr sz="1450" b="1" i="0">
                <a:solidFill>
                  <a:srgbClr val="C26A08"/>
                </a:solidFill>
                <a:latin typeface="Microsoft YaHei"/>
                <a:ea typeface="Microsoft YaHei"/>
              </a:rPr>
              <a:t>——“把分数做大”自动等于“把节点腾空”。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063240"/>
            <a:ext cx="5532120" cy="2926080"/>
          </a:xfrm>
          <a:prstGeom prst="roundRect">
            <a:avLst>
              <a:gd name="adj" fmla="val 5000"/>
            </a:avLst>
          </a:prstGeom>
          <a:solidFill>
            <a:srgbClr val="FDF1E3"/>
          </a:solidFill>
          <a:ln>
            <a:noFill/>
          </a:ln>
          <a:effectLst/>
          <a:effectLst>
            <a:outerShdw blurRad="55000" dist="22000" dir="5400000" rotWithShape="0">
              <a:srgbClr val="0F1E3D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3282696"/>
            <a:ext cx="498348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26A08"/>
                </a:solidFill>
                <a:latin typeface="Microsoft YaHei"/>
                <a:ea typeface="Microsoft YaHei"/>
              </a:rPr>
              <a:t>优势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3776472"/>
            <a:ext cx="4983480" cy="2011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 i="0">
                <a:solidFill>
                  <a:srgbClr val="C26A08"/>
                </a:solidFill>
                <a:latin typeface="Microsoft YaHei"/>
                <a:ea typeface="Microsoft YaHei"/>
              </a:rPr>
              <a:t>· </a:t>
            </a:r>
            <a:r>
              <a:rPr sz="1300" b="0" i="0">
                <a:solidFill>
                  <a:srgbClr val="1E293B"/>
                </a:solidFill>
                <a:latin typeface="Microsoft YaHei"/>
                <a:ea typeface="Microsoft YaHei"/>
              </a:rPr>
              <a:t>叙事最统一：全靠一个“集中度分数”，概念最好讲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 i="0">
                <a:solidFill>
                  <a:srgbClr val="C26A08"/>
                </a:solidFill>
                <a:latin typeface="Microsoft YaHei"/>
                <a:ea typeface="Microsoft YaHei"/>
              </a:rPr>
              <a:t>· </a:t>
            </a:r>
            <a:r>
              <a:rPr sz="1300" b="0" i="0">
                <a:solidFill>
                  <a:srgbClr val="1E293B"/>
                </a:solidFill>
                <a:latin typeface="Microsoft YaHei"/>
                <a:ea typeface="Microsoft YaHei"/>
              </a:rPr>
              <a:t>最好演进：加新维度=打分函数+权重，不碰主循环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 i="0">
                <a:solidFill>
                  <a:srgbClr val="C26A08"/>
                </a:solidFill>
                <a:latin typeface="Microsoft YaHei"/>
                <a:ea typeface="Microsoft YaHei"/>
              </a:rPr>
              <a:t>· </a:t>
            </a:r>
            <a:r>
              <a:rPr sz="1300" b="0" i="0">
                <a:solidFill>
                  <a:srgbClr val="1E293B"/>
                </a:solidFill>
                <a:latin typeface="Microsoft YaHei"/>
                <a:ea typeface="Microsoft YaHei"/>
              </a:rPr>
              <a:t>天然在线增量：集群变了只重算受影响的少数作业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 i="0">
                <a:solidFill>
                  <a:srgbClr val="C26A08"/>
                </a:solidFill>
                <a:latin typeface="Microsoft YaHei"/>
                <a:ea typeface="Microsoft YaHei"/>
              </a:rPr>
              <a:t>· </a:t>
            </a:r>
            <a:r>
              <a:rPr sz="1300" b="0" i="0">
                <a:solidFill>
                  <a:srgbClr val="1E293B"/>
                </a:solidFill>
                <a:latin typeface="Microsoft YaHei"/>
                <a:ea typeface="Microsoft YaHei"/>
              </a:rPr>
              <a:t>能逃 A 的部分局部最优，理论上限略高一点点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3063240"/>
            <a:ext cx="5257800" cy="292608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  <a:effectLst/>
          <a:effectLst>
            <a:outerShdw blurRad="55000" dist="22000" dir="5400000" rotWithShape="0">
              <a:srgbClr val="0F1E3D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1968" y="3282696"/>
            <a:ext cx="470916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B91C1C"/>
                </a:solidFill>
                <a:latin typeface="Microsoft YaHei"/>
                <a:ea typeface="Microsoft YaHei"/>
              </a:rPr>
              <a:t>劣势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1968" y="3776472"/>
            <a:ext cx="4709160" cy="2011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 i="0">
                <a:solidFill>
                  <a:srgbClr val="B91C1C"/>
                </a:solidFill>
                <a:latin typeface="Microsoft YaHei"/>
                <a:ea typeface="Microsoft YaHei"/>
              </a:rPr>
              <a:t>· </a:t>
            </a:r>
            <a:r>
              <a:rPr sz="1300" b="0" i="0">
                <a:solidFill>
                  <a:srgbClr val="1E293B"/>
                </a:solidFill>
                <a:latin typeface="Microsoft YaHei"/>
                <a:ea typeface="Microsoft YaHei"/>
              </a:rPr>
              <a:t>目标间接：须加“净腾空才提交”闸门，否则空转（thrashing）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 i="0">
                <a:solidFill>
                  <a:srgbClr val="B91C1C"/>
                </a:solidFill>
                <a:latin typeface="Microsoft YaHei"/>
                <a:ea typeface="Microsoft YaHei"/>
              </a:rPr>
              <a:t>· </a:t>
            </a:r>
            <a:r>
              <a:rPr sz="1300" b="0" i="0">
                <a:solidFill>
                  <a:srgbClr val="1E293B"/>
                </a:solidFill>
                <a:latin typeface="Microsoft YaHei"/>
                <a:ea typeface="Microsoft YaHei"/>
              </a:rPr>
              <a:t>要调参：λ+权重+阈值，多团队多集群下易配错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 i="0">
                <a:solidFill>
                  <a:srgbClr val="B91C1C"/>
                </a:solidFill>
                <a:latin typeface="Microsoft YaHei"/>
                <a:ea typeface="Microsoft YaHei"/>
              </a:rPr>
              <a:t>· </a:t>
            </a:r>
            <a:r>
              <a:rPr sz="1300" b="0" i="0">
                <a:solidFill>
                  <a:srgbClr val="1E293B"/>
                </a:solidFill>
                <a:latin typeface="Microsoft YaHei"/>
                <a:ea typeface="Microsoft YaHei"/>
              </a:rPr>
              <a:t>对一线运维不友好：理由抽象、故障要回放轨迹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 i="0">
                <a:solidFill>
                  <a:srgbClr val="B91C1C"/>
                </a:solidFill>
                <a:latin typeface="Microsoft YaHei"/>
                <a:ea typeface="Microsoft YaHei"/>
              </a:rPr>
              <a:t>· </a:t>
            </a:r>
            <a:r>
              <a:rPr sz="1300" b="0" i="0">
                <a:solidFill>
                  <a:srgbClr val="1E293B"/>
                </a:solidFill>
                <a:latin typeface="Microsoft YaHei"/>
                <a:ea typeface="Microsoft YaHei"/>
              </a:rPr>
              <a:t>朴素约 O(N³)，大集群到分钟级</a:t>
            </a:r>
            <a:r>
              <a:rPr sz="1300" b="1" i="0">
                <a:solidFill>
                  <a:srgbClr val="C26A08"/>
                </a:solidFill>
                <a:latin typeface="Microsoft YaHei"/>
                <a:ea typeface="Microsoft YaHei"/>
              </a:rPr>
              <a:t> · 待编码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6144768"/>
            <a:ext cx="10927080" cy="502920"/>
          </a:xfrm>
          <a:prstGeom prst="roundRect">
            <a:avLst>
              <a:gd name="adj" fmla="val 5000"/>
            </a:avLst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6144768"/>
            <a:ext cx="1042416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C26A08"/>
                </a:solidFill>
                <a:latin typeface="Microsoft YaHei"/>
                <a:ea typeface="Microsoft YaHei"/>
              </a:rPr>
              <a:t>擅长： </a:t>
            </a:r>
            <a:r>
              <a:rPr sz="1350" b="0" i="0">
                <a:solidFill>
                  <a:srgbClr val="FFFFFF"/>
                </a:solidFill>
                <a:latin typeface="Microsoft YaHei"/>
                <a:ea typeface="Microsoft YaHei"/>
              </a:rPr>
              <a:t>持续 / 在线整理 · 平台团队 · 策略常调权重 · 大搜索空间多节点协同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26A08"/>
                </a:solidFill>
                <a:latin typeface="Microsoft YaHei"/>
                <a:ea typeface="Microsoft YaHei"/>
              </a:rPr>
              <a:t>方案 B · 集中度法 · 算法图解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E293B"/>
                </a:solidFill>
                <a:latin typeface="Microsoft YaHei"/>
                <a:ea typeface="Microsoft YaHei"/>
              </a:rPr>
              <a:t>集中度分数 = Σ用量²；只走涨分的搬迁，爬到不能再涨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08760"/>
            <a:ext cx="5852160" cy="356616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27632"/>
            <a:ext cx="5486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293B"/>
                </a:solidFill>
                <a:latin typeface="Microsoft YaHei"/>
                <a:ea typeface="Microsoft YaHei"/>
              </a:rPr>
              <a:t>一步搬迁：分数涨、节点空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84831"/>
            <a:ext cx="17373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4748B"/>
                </a:solidFill>
                <a:latin typeface="Microsoft YaHei"/>
                <a:ea typeface="Microsoft YaHei"/>
              </a:rPr>
              <a:t>搬前</a:t>
            </a:r>
          </a:p>
        </p:txBody>
      </p:sp>
      <p:sp>
        <p:nvSpPr>
          <p:cNvPr id="7" name="Rectangle 6"/>
          <p:cNvSpPr/>
          <p:nvPr/>
        </p:nvSpPr>
        <p:spPr>
          <a:xfrm>
            <a:off x="960120" y="2331720"/>
            <a:ext cx="7315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05840" y="2743199"/>
            <a:ext cx="640080" cy="1097280"/>
          </a:xfrm>
          <a:prstGeom prst="rect">
            <a:avLst/>
          </a:prstGeom>
          <a:solidFill>
            <a:srgbClr val="C26A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913632"/>
            <a:ext cx="10058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E293B"/>
                </a:solidFill>
                <a:latin typeface="Microsoft YaHei"/>
                <a:ea typeface="Microsoft YaHei"/>
              </a:rPr>
              <a:t>A 6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0" y="2331720"/>
            <a:ext cx="7315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874519" y="3474720"/>
            <a:ext cx="640080" cy="365759"/>
          </a:xfrm>
          <a:prstGeom prst="rect">
            <a:avLst/>
          </a:prstGeom>
          <a:solidFill>
            <a:srgbClr val="C26A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91640" y="3913632"/>
            <a:ext cx="10058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E293B"/>
                </a:solidFill>
                <a:latin typeface="Microsoft YaHei"/>
                <a:ea typeface="Microsoft YaHei"/>
              </a:rPr>
              <a:t>B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114800"/>
            <a:ext cx="192024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293B"/>
                </a:solidFill>
                <a:latin typeface="Microsoft YaHei"/>
                <a:ea typeface="Microsoft YaHei"/>
              </a:rPr>
              <a:t>6²+2² = </a:t>
            </a:r>
            <a:r>
              <a:rPr sz="1600" b="1" i="0">
                <a:solidFill>
                  <a:srgbClr val="1E293B"/>
                </a:solidFill>
                <a:latin typeface="Microsoft YaHei"/>
                <a:ea typeface="Microsoft YaHei"/>
              </a:rPr>
              <a:t>40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971800" y="2834639"/>
            <a:ext cx="914400" cy="457200"/>
          </a:xfrm>
          <a:prstGeom prst="rightArrow">
            <a:avLst/>
          </a:prstGeom>
          <a:solidFill>
            <a:srgbClr val="C26A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88920" y="2240279"/>
            <a:ext cx="12801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C26A08"/>
                </a:solidFill>
                <a:latin typeface="Microsoft YaHei"/>
                <a:ea typeface="Microsoft YaHei"/>
              </a:rPr>
              <a:t>B→A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2084831"/>
            <a:ext cx="17373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4748B"/>
                </a:solidFill>
                <a:latin typeface="Microsoft YaHei"/>
                <a:ea typeface="Microsoft YaHei"/>
              </a:rPr>
              <a:t>搬后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60520" y="2331720"/>
            <a:ext cx="7315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06240" y="2377439"/>
            <a:ext cx="640080" cy="1463039"/>
          </a:xfrm>
          <a:prstGeom prst="rect">
            <a:avLst/>
          </a:prstGeom>
          <a:solidFill>
            <a:srgbClr val="C26A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23359" y="3913632"/>
            <a:ext cx="10058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E293B"/>
                </a:solidFill>
                <a:latin typeface="Microsoft YaHei"/>
                <a:ea typeface="Microsoft YaHei"/>
              </a:rPr>
              <a:t>A 8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0" y="2331720"/>
            <a:ext cx="7315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92040" y="3913632"/>
            <a:ext cx="10058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5803D"/>
                </a:solidFill>
                <a:latin typeface="Microsoft YaHei"/>
                <a:ea typeface="Microsoft YaHei"/>
              </a:rPr>
              <a:t>B 空 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69080" y="4114800"/>
            <a:ext cx="21031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293B"/>
                </a:solidFill>
                <a:latin typeface="Microsoft YaHei"/>
                <a:ea typeface="Microsoft YaHei"/>
              </a:rPr>
              <a:t>8²+0² = </a:t>
            </a:r>
            <a:r>
              <a:rPr sz="1600" b="1" i="0">
                <a:solidFill>
                  <a:srgbClr val="15803D"/>
                </a:solidFill>
                <a:latin typeface="Microsoft YaHei"/>
                <a:ea typeface="Microsoft YaHei"/>
              </a:rPr>
              <a:t>64 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590288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26A08"/>
                </a:solidFill>
                <a:latin typeface="Microsoft YaHei"/>
                <a:ea typeface="Microsoft YaHei"/>
              </a:rPr>
              <a:t>分数 40 → 64（涨），顺带把 B 腾空 —— 这一步就走。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720840" y="1508760"/>
            <a:ext cx="4846320" cy="3566160"/>
          </a:xfrm>
          <a:prstGeom prst="roundRect">
            <a:avLst>
              <a:gd name="adj" fmla="val 5000"/>
            </a:avLst>
          </a:prstGeom>
          <a:solidFill>
            <a:srgbClr val="FD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0" y="1627632"/>
            <a:ext cx="44805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26A08"/>
                </a:solidFill>
                <a:latin typeface="Microsoft YaHei"/>
                <a:ea typeface="Microsoft YaHei"/>
              </a:rPr>
              <a:t>为什么用“平方”：扎堆更值钱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06640" y="2606039"/>
            <a:ext cx="1371600" cy="155448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78040" y="4206240"/>
            <a:ext cx="18288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E293B"/>
                </a:solidFill>
                <a:latin typeface="Microsoft YaHei"/>
                <a:ea typeface="Microsoft YaHei"/>
              </a:rPr>
              <a:t>(8, 0)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78040" y="2313432"/>
            <a:ext cx="18288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5803D"/>
                </a:solidFill>
                <a:latin typeface="Microsoft YaHei"/>
                <a:ea typeface="Microsoft YaHei"/>
              </a:rPr>
              <a:t>64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92640" y="3383279"/>
            <a:ext cx="1371600" cy="77724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64040" y="4206240"/>
            <a:ext cx="18288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E293B"/>
                </a:solidFill>
                <a:latin typeface="Microsoft YaHei"/>
                <a:ea typeface="Microsoft YaHei"/>
              </a:rPr>
              <a:t>(4, 4)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64040" y="3090672"/>
            <a:ext cx="18288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B91C1C"/>
                </a:solidFill>
                <a:latin typeface="Microsoft YaHei"/>
                <a:ea typeface="Microsoft YaHei"/>
              </a:rPr>
              <a:t>32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4526280"/>
            <a:ext cx="448056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26A08"/>
                </a:solidFill>
                <a:latin typeface="Microsoft YaHei"/>
                <a:ea typeface="Microsoft YaHei"/>
              </a:rPr>
              <a:t>同样 8 卡，扎堆得分高一倍 → “把分数做大”自动等于“把节点腾空”。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5257800"/>
            <a:ext cx="10927080" cy="1051560"/>
          </a:xfrm>
          <a:prstGeom prst="roundRect">
            <a:avLst>
              <a:gd name="adj" fmla="val 5000"/>
            </a:avLst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5358384"/>
            <a:ext cx="1042416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C26A08"/>
                </a:solidFill>
                <a:latin typeface="Microsoft YaHei"/>
                <a:ea typeface="Microsoft YaHei"/>
              </a:rPr>
              <a:t>爬山：</a:t>
            </a:r>
            <a:r>
              <a:rPr sz="1400" b="0" i="0">
                <a:solidFill>
                  <a:srgbClr val="FFFFFF"/>
                </a:solidFill>
                <a:latin typeface="Microsoft YaHei"/>
                <a:ea typeface="Microsoft YaHei"/>
              </a:rPr>
              <a:t>逐个作业试“挪到更满的节点分数涨不涨？”涨就走，一直爬到不能再涨（局部最优）。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C7D6E6"/>
                </a:solidFill>
                <a:latin typeface="Microsoft YaHei"/>
                <a:ea typeface="Microsoft YaHei"/>
              </a:rPr>
              <a:t>必备闸门：只提交“净腾出节点”的那批搬迁，否则会空转（thrashing，搬来搬去停不下来）。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F1E3D"/>
                </a:solidFill>
                <a:latin typeface="Microsoft YaHei"/>
                <a:ea typeface="Microsoft YaHei"/>
              </a:rPr>
              <a:t>总结 · 结合 AI 生产场景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E293B"/>
                </a:solidFill>
                <a:latin typeface="Microsoft YaHei"/>
                <a:ea typeface="Microsoft YaHei"/>
              </a:rPr>
              <a:t>两点前提下，方案 A 更契合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54480"/>
            <a:ext cx="6720840" cy="4160520"/>
          </a:xfrm>
          <a:prstGeom prst="roundRect">
            <a:avLst>
              <a:gd name="adj" fmla="val 5000"/>
            </a:avLst>
          </a:prstGeom>
          <a:solidFill>
            <a:srgbClr val="E7F6F4"/>
          </a:solidFill>
          <a:ln>
            <a:noFill/>
          </a:ln>
          <a:effectLst/>
          <a:effectLst>
            <a:outerShdw blurRad="55000" dist="22000" dir="5400000" rotWithShape="0">
              <a:srgbClr val="0F1E3D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62636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F766E"/>
                </a:solidFill>
                <a:latin typeface="Microsoft YaHei"/>
                <a:ea typeface="Microsoft YaHei"/>
              </a:rPr>
              <a:t>为什么 A 更优（对上你说的两点）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6263640" cy="3291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 i="0">
                <a:solidFill>
                  <a:srgbClr val="1E293B"/>
                </a:solidFill>
                <a:latin typeface="Microsoft YaHei"/>
                <a:ea typeface="Microsoft YaHei"/>
              </a:rPr>
              <a:t>① 作业尽量不被中断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1E293B"/>
                </a:solidFill>
                <a:latin typeface="Microsoft YaHei"/>
                <a:ea typeface="Microsoft YaHei"/>
              </a:rPr>
              <a:t>两者都要驱逐重建，但 A 扰动 天然有界、零空转（只动被腾节点、绝不搬来搬去）；B 靠 λ+闸门防 churn，仍有无谓搬迁风险。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0F766E"/>
                </a:solidFill>
                <a:latin typeface="Microsoft YaHei"/>
                <a:ea typeface="Microsoft YaHei"/>
              </a:rPr>
              <a:t>→ 按“把中断降到最少”，A 更稳。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400" b="0" i="0">
                <a:solidFill>
                  <a:srgbClr val="1E293B"/>
                </a:solidFill>
                <a:latin typeface="Microsoft YaHei"/>
                <a:ea typeface="Microsoft YaHei"/>
              </a:rPr>
              <a:t> 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 i="0">
                <a:solidFill>
                  <a:srgbClr val="1E293B"/>
                </a:solidFill>
                <a:latin typeface="Microsoft YaHei"/>
                <a:ea typeface="Microsoft YaHei"/>
              </a:rPr>
              <a:t>② 碎片率低（个位数）、集群较满、少大量空节点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1E293B"/>
                </a:solidFill>
                <a:latin typeface="Microsoft YaHei"/>
                <a:ea typeface="Microsoft YaHei"/>
              </a:rPr>
              <a:t>要动的本来就少：A 精准挑几个节点腾、每次提交必有一个整机收益、开销 O(N²) 亚秒级；B 的全局爬山在小碎片下是“杀鸡用牛刀”，其强项（在线/逃多节点局部最优）用不上。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0F766E"/>
                </a:solidFill>
                <a:latin typeface="Microsoft YaHei"/>
                <a:ea typeface="Microsoft YaHei"/>
              </a:rPr>
              <a:t>→ 低碎片+高利用率，恰恰奖励 A“整空才提交”的纪律。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43800" y="1554480"/>
            <a:ext cx="4023360" cy="416052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  <a:effectLst/>
          <a:effectLst>
            <a:outerShdw blurRad="55000" dist="22000" dir="5400000" rotWithShape="0">
              <a:srgbClr val="0F1E3D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0" y="1737360"/>
            <a:ext cx="361188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26A08"/>
                </a:solidFill>
                <a:latin typeface="Microsoft YaHei"/>
                <a:ea typeface="Microsoft YaHei"/>
              </a:rPr>
              <a:t>别忘了 B 的长期价值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286000"/>
            <a:ext cx="3611880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320" b="0" i="0">
                <a:solidFill>
                  <a:srgbClr val="1E293B"/>
                </a:solidFill>
                <a:latin typeface="Microsoft YaHei"/>
                <a:ea typeface="Microsoft YaHei"/>
              </a:rPr>
              <a:t>统一可讲、可插拔演进、在线持续整理——是 平台长期引擎 。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320" b="0" i="0">
                <a:solidFill>
                  <a:srgbClr val="1E293B"/>
                </a:solidFill>
                <a:latin typeface="Microsoft YaHei"/>
                <a:ea typeface="Microsoft YaHei"/>
              </a:rPr>
              <a:t>可作 P1，或“A 出可见提交 + B 内部精修”的混合。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4160520"/>
            <a:ext cx="3566160" cy="1371600"/>
          </a:xfrm>
          <a:prstGeom prst="roundRect">
            <a:avLst>
              <a:gd name="adj" fmla="val 5000"/>
            </a:avLst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73568" y="4297680"/>
            <a:ext cx="3200400" cy="1143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0D9488"/>
                </a:solidFill>
                <a:latin typeface="Microsoft YaHei"/>
                <a:ea typeface="Microsoft YaHei"/>
              </a:rPr>
              <a:t>结论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FFFFFF"/>
                </a:solidFill>
                <a:latin typeface="Microsoft YaHei"/>
                <a:ea typeface="Microsoft YaHei"/>
              </a:rPr>
              <a:t>P0 / 生产（少中断、低碎片）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0D9488"/>
                </a:solidFill>
                <a:latin typeface="Microsoft YaHei"/>
                <a:ea typeface="Microsoft YaHei"/>
              </a:rPr>
              <a:t>→ 选 方案 A。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989320"/>
            <a:ext cx="1092708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1">
                <a:solidFill>
                  <a:srgbClr val="64748B"/>
                </a:solidFill>
                <a:latin typeface="Microsoft YaHei"/>
                <a:ea typeface="Microsoft YaHei"/>
              </a:rPr>
              <a:t>一句话：目标场景下两者腾的节点数其实差不多；抉择点是“少中断 + 好运维”——这恰是 A 的主场。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