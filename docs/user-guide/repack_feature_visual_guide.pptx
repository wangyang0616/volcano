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4865c76fa64a28" /><Relationship Type="http://schemas.openxmlformats.org/officeDocument/2006/relationships/extended-properties" Target="/docProps/app.xml" Id="R3cf46946c3a54090" /><Relationship Type="http://schemas.openxmlformats.org/officeDocument/2006/relationships/officeDocument" Target="/ppt/presentation.xml" Id="Re9b40662ed8448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398fc788e9463c"/>
  </p:sldMasterIdLst>
  <p:notesMasterIdLst>
    <p:notesMasterId xmlns:r="http://schemas.openxmlformats.org/officeDocument/2006/relationships" r:id="Rf2fb26c5e59f40f8"/>
  </p:notesMasterIdLst>
  <p:sldIdLst>
    <p:sldId xmlns:r="http://schemas.openxmlformats.org/officeDocument/2006/relationships" id="256" r:id="Rfe25f684f08c425f"/>
    <p:sldId xmlns:r="http://schemas.openxmlformats.org/officeDocument/2006/relationships" id="257" r:id="Rb0812af8819c4b63"/>
    <p:sldId xmlns:r="http://schemas.openxmlformats.org/officeDocument/2006/relationships" id="258" r:id="Rd65110c8deda4b38"/>
    <p:sldId xmlns:r="http://schemas.openxmlformats.org/officeDocument/2006/relationships" id="259" r:id="R747c201b7e964a30"/>
    <p:sldId xmlns:r="http://schemas.openxmlformats.org/officeDocument/2006/relationships" id="260" r:id="R4a14804e8eb7454a"/>
    <p:sldId xmlns:r="http://schemas.openxmlformats.org/officeDocument/2006/relationships" id="261" r:id="Rac60de4f7dff4c09"/>
    <p:sldId xmlns:r="http://schemas.openxmlformats.org/officeDocument/2006/relationships" id="262" r:id="R02d1461c60e040b8"/>
    <p:sldId xmlns:r="http://schemas.openxmlformats.org/officeDocument/2006/relationships" id="263" r:id="R6bb648c014164dd3"/>
    <p:sldId xmlns:r="http://schemas.openxmlformats.org/officeDocument/2006/relationships" id="264" r:id="Rd49cdecd59b44a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ac06a2e95b4027" /><Relationship Type="http://schemas.openxmlformats.org/officeDocument/2006/relationships/slideMaster" Target="/ppt/slideMasters/slideMaster1.xml" Id="R06398fc788e9463c" /><Relationship Type="http://schemas.openxmlformats.org/officeDocument/2006/relationships/notesMaster" Target="/ppt/notesMasters/notesMaster1.xml" Id="Rf2fb26c5e59f40f8" /><Relationship Type="http://schemas.openxmlformats.org/officeDocument/2006/relationships/presProps" Target="/ppt/presProps.xml" Id="R3c816c29b825498b" /><Relationship Type="http://schemas.openxmlformats.org/officeDocument/2006/relationships/tableStyles" Target="/ppt/tableStyles.xml" Id="R50de90b4ee514fe4" /><Relationship Type="http://schemas.openxmlformats.org/officeDocument/2006/relationships/slide" Target="/ppt/slides/slide1.xml" Id="Rfe25f684f08c425f" /><Relationship Type="http://schemas.openxmlformats.org/officeDocument/2006/relationships/slide" Target="/ppt/slides/slide2.xml" Id="Rb0812af8819c4b63" /><Relationship Type="http://schemas.openxmlformats.org/officeDocument/2006/relationships/slide" Target="/ppt/slides/slide3.xml" Id="Rd65110c8deda4b38" /><Relationship Type="http://schemas.openxmlformats.org/officeDocument/2006/relationships/slide" Target="/ppt/slides/slide4.xml" Id="R747c201b7e964a30" /><Relationship Type="http://schemas.openxmlformats.org/officeDocument/2006/relationships/slide" Target="/ppt/slides/slide5.xml" Id="R4a14804e8eb7454a" /><Relationship Type="http://schemas.openxmlformats.org/officeDocument/2006/relationships/slide" Target="/ppt/slides/slide6.xml" Id="Rac60de4f7dff4c09" /><Relationship Type="http://schemas.openxmlformats.org/officeDocument/2006/relationships/slide" Target="/ppt/slides/slide7.xml" Id="R02d1461c60e040b8" /><Relationship Type="http://schemas.openxmlformats.org/officeDocument/2006/relationships/slide" Target="/ppt/slides/slide8.xml" Id="R6bb648c014164dd3" /><Relationship Type="http://schemas.openxmlformats.org/officeDocument/2006/relationships/slide" Target="/ppt/slides/slide9.xml" Id="Rd49cdecd59b44a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18ff091f5143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808f9d1ec9475f" /><Relationship Type="http://schemas.openxmlformats.org/officeDocument/2006/relationships/notesMaster" Target="/ppt/notesMasters/notesMaster1.xml" Id="R82ccdd3f316749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18d62e4ba140dc" /><Relationship Type="http://schemas.openxmlformats.org/officeDocument/2006/relationships/notesMaster" Target="/ppt/notesMasters/notesMaster1.xml" Id="Rfbdb507aa71e4b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3cfb838b484eeb" /><Relationship Type="http://schemas.openxmlformats.org/officeDocument/2006/relationships/notesMaster" Target="/ppt/notesMasters/notesMaster1.xml" Id="R65ac321a9f434f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260a1edbbe4a6e" /><Relationship Type="http://schemas.openxmlformats.org/officeDocument/2006/relationships/notesMaster" Target="/ppt/notesMasters/notesMaster1.xml" Id="Rc46b0de51cda4e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607a0cc19c4a7a" /><Relationship Type="http://schemas.openxmlformats.org/officeDocument/2006/relationships/notesMaster" Target="/ppt/notesMasters/notesMaster1.xml" Id="Rce9893504d3d42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68de1a3e72439d" /><Relationship Type="http://schemas.openxmlformats.org/officeDocument/2006/relationships/notesMaster" Target="/ppt/notesMasters/notesMaster1.xml" Id="R1827b5a8450c42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c4ed787d2c4c27" /><Relationship Type="http://schemas.openxmlformats.org/officeDocument/2006/relationships/notesMaster" Target="/ppt/notesMasters/notesMaster1.xml" Id="Rd4a8a0f44cb443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efbeafdce64ecd" /><Relationship Type="http://schemas.openxmlformats.org/officeDocument/2006/relationships/notesMaster" Target="/ppt/notesMasters/notesMaster1.xml" Id="R2bc24cd4c75a4a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747299d54646a7" /><Relationship Type="http://schemas.openxmlformats.org/officeDocument/2006/relationships/notesMaster" Target="/ppt/notesMasters/notesMaster1.xml" Id="Rbf93b19b9e3c4b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/Users/wangyang/Code/github-wangyang0616/volcano.sh/volcano/docs/images/repack/repack-decision-loop.svg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visual elements on this slide were converted to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/Users/wangyang/Code/github-wangyang0616/volcano.sh/volcano/docs/images/repack/repack-typical-scenarios.svg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visual elements on this slide were converted to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/Users/wangyang/Code/github-wangyang0616/volcano.sh/volcano/docs/images/repack/repack-value-impact.svg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visual elements on this slide were converted to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/Users/wangyang/Code/github-wangyang0616/volcano.sh/volcano/docs/images/repack/scope-boundary.svg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visual elements on this slide were converted to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/Users/wangyang/Code/github-wangyang0616/volcano.sh/volcano/docs/images/repack/gang-disruption-cost.svg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visual elements on this slide were converted to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/Users/wangyang/Code/github-wangyang0616/volcano.sh/volcano/docs/images/repack/drain-candidate-order.svg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visual elements on this slide were converted to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/Users/wangyang/Code/github-wangyang0616/volcano.sh/volcano/docs/images/repack/receiver-fill-ranking.svg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visual elements on this slide were converted to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/Users/wangyang/Code/github-wangyang0616/volcano.sh/volcano/docs/images/repack/blast-radius-control.svg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visual elements on this slide were converted to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/Users/wangyang/Code/github-wangyang0616/volcano.sh/volcano/docs/images/repack/nominated-soft-steering.svg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visual elements on this slide were converted to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ff3ad635ef4c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a91332b56d4fce" /><Relationship Type="http://schemas.openxmlformats.org/officeDocument/2006/relationships/slideLayout" Target="/ppt/slideLayouts/slideLayout1.xml" Id="R9715835a8cc64e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15835a8cc64e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1b2487f32450b" /><Relationship Type="http://schemas.openxmlformats.org/officeDocument/2006/relationships/notesSlide" Target="/ppt/notesSlides/notesSlide1.xml" Id="R0c0c2fe8ff954a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e689b5f414fc1" /><Relationship Type="http://schemas.openxmlformats.org/officeDocument/2006/relationships/notesSlide" Target="/ppt/notesSlides/notesSlide2.xml" Id="Rfdae191d524943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3ad762ef74480" /><Relationship Type="http://schemas.openxmlformats.org/officeDocument/2006/relationships/notesSlide" Target="/ppt/notesSlides/notesSlide3.xml" Id="Rb57118cc7a6447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7877e50da45f2" /><Relationship Type="http://schemas.openxmlformats.org/officeDocument/2006/relationships/notesSlide" Target="/ppt/notesSlides/notesSlide4.xml" Id="R97c6f754612446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20e489ac0414a" /><Relationship Type="http://schemas.openxmlformats.org/officeDocument/2006/relationships/notesSlide" Target="/ppt/notesSlides/notesSlide5.xml" Id="R913bb830ce2342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9be9e188e40d6" /><Relationship Type="http://schemas.openxmlformats.org/officeDocument/2006/relationships/notesSlide" Target="/ppt/notesSlides/notesSlide6.xml" Id="R952af0140e5044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e3f6300d247d7" /><Relationship Type="http://schemas.openxmlformats.org/officeDocument/2006/relationships/notesSlide" Target="/ppt/notesSlides/notesSlide7.xml" Id="R91b39d2dea924c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85f12aeaa4902" /><Relationship Type="http://schemas.openxmlformats.org/officeDocument/2006/relationships/notesSlide" Target="/ppt/notesSlides/notesSlide8.xml" Id="R612245664b9542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bd9de23cd4c6f" /><Relationship Type="http://schemas.openxmlformats.org/officeDocument/2006/relationships/notesSlide" Target="/ppt/notesSlides/notesSlide9.xml" Id="R5dec9d18af0943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svg-rect-1">
            <a:extLst xmlns:a="http://schemas.openxmlformats.org/drawingml/2006/main">
              <a:ext uri="{FF2B5EF4-FFF2-40B4-BE49-F238E27FC236}">
                <a16:creationId xmlns:a16="http://schemas.microsoft.com/office/drawing/2014/main" id="{01A5C245-8B3F-4FF6-B84C-2E8366BB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14438"/>
            <a:ext cx="11811000" cy="442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vg-text-2">
            <a:extLst xmlns:a="http://schemas.openxmlformats.org/drawingml/2006/main">
              <a:ext uri="{FF2B5EF4-FFF2-40B4-BE49-F238E27FC236}">
                <a16:creationId xmlns:a16="http://schemas.microsoft.com/office/drawing/2014/main" id="{5CCCDBA4-2156-445E-9911-90AB3965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57" y="1358279"/>
            <a:ext cx="4456537" cy="259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12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412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从 DryRun 到 Execute：先评估计划，再执行受控迁移</a:t>
            </a:r>
          </a:p>
        </p:txBody>
      </p:sp>
      <p:sp>
        <p:nvSpPr>
          <p:cNvPr id="3" name="svg-text-3">
            <a:extLst xmlns:a="http://schemas.openxmlformats.org/drawingml/2006/main">
              <a:ext uri="{FF2B5EF4-FFF2-40B4-BE49-F238E27FC236}">
                <a16:creationId xmlns:a16="http://schemas.microsoft.com/office/drawing/2014/main" id="{4909F8E4-36BB-48F4-8DD2-B405A6C4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57" y="1679707"/>
            <a:ext cx="5843275" cy="168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3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913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DryRun 与 Execute 使用同一套规划逻辑；Execute 会基于实时状态重新计算，不会照搬一份已经过期的计划。</a:t>
            </a:r>
          </a:p>
        </p:txBody>
      </p:sp>
      <p:sp>
        <p:nvSpPr>
          <p:cNvPr id="4" name="svg-rect-4">
            <a:extLst xmlns:a="http://schemas.openxmlformats.org/drawingml/2006/main">
              <a:ext uri="{FF2B5EF4-FFF2-40B4-BE49-F238E27FC236}">
                <a16:creationId xmlns:a16="http://schemas.microsoft.com/office/drawing/2014/main" id="{0CBF9DF2-6464-4834-9BE7-AD34275E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139" y="2311173"/>
            <a:ext cx="1813832" cy="1181100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0546">
            <a:solidFill>
              <a:srgbClr val="1C7ED6"/>
            </a:solidFill>
            <a:prstDash val="solid"/>
          </a:ln>
        </p:spPr>
      </p:sp>
      <p:sp>
        <p:nvSpPr>
          <p:cNvPr id="5" name="svg-text-5">
            <a:extLst xmlns:a="http://schemas.openxmlformats.org/drawingml/2006/main">
              <a:ext uri="{FF2B5EF4-FFF2-40B4-BE49-F238E27FC236}">
                <a16:creationId xmlns:a16="http://schemas.microsoft.com/office/drawing/2014/main" id="{2FC14AB0-C484-4E1E-B760-44B743FF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13" y="2469778"/>
            <a:ext cx="968284" cy="183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96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996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① 创建 DryRun</a:t>
            </a:r>
          </a:p>
        </p:txBody>
      </p:sp>
      <p:sp>
        <p:nvSpPr>
          <p:cNvPr id="6" name="svg-text-6">
            <a:extLst xmlns:a="http://schemas.openxmlformats.org/drawingml/2006/main">
              <a:ext uri="{FF2B5EF4-FFF2-40B4-BE49-F238E27FC236}">
                <a16:creationId xmlns:a16="http://schemas.microsoft.com/office/drawing/2014/main" id="{92461D6D-4392-41F9-BEB1-891252E6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928" y="2747927"/>
            <a:ext cx="894255" cy="149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14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14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目标资源 · Scope</a:t>
            </a:r>
          </a:p>
        </p:txBody>
      </p:sp>
      <p:sp>
        <p:nvSpPr>
          <p:cNvPr id="7" name="svg-text-7">
            <a:extLst xmlns:a="http://schemas.openxmlformats.org/drawingml/2006/main">
              <a:ext uri="{FF2B5EF4-FFF2-40B4-BE49-F238E27FC236}">
                <a16:creationId xmlns:a16="http://schemas.microsoft.com/office/drawing/2014/main" id="{FF4C24B7-C4B2-4088-A364-7F53D5EA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013" y="2948292"/>
            <a:ext cx="1136085" cy="149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14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14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收益门槛 · maxPerRun</a:t>
            </a:r>
          </a:p>
        </p:txBody>
      </p:sp>
      <p:sp>
        <p:nvSpPr>
          <p:cNvPr id="8" name="svg-text-8">
            <a:extLst xmlns:a="http://schemas.openxmlformats.org/drawingml/2006/main">
              <a:ext uri="{FF2B5EF4-FFF2-40B4-BE49-F238E27FC236}">
                <a16:creationId xmlns:a16="http://schemas.microsoft.com/office/drawing/2014/main" id="{BD226EFE-46DF-463C-B320-CF4FC478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274" y="3201385"/>
            <a:ext cx="687562" cy="149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14" b="1">
                <a:solidFill>
                  <a:srgbClr val="1C7ED6"/>
                </a:solidFill>
                <a:latin typeface="Arial"/>
                <a:ea typeface="Arial"/>
                <a:cs typeface="Arial"/>
              </a:defRPr>
            </a:pPr>
            <a:r>
              <a:rPr sz="814" b="1">
                <a:solidFill>
                  <a:srgbClr val="1C7ED6"/>
                </a:solidFill>
                <a:latin typeface="Arial"/>
                <a:ea typeface="Arial"/>
                <a:cs typeface="Arial"/>
              </a:rPr>
              <a:t>不会驱逐 Pod</a:t>
            </a:r>
          </a:p>
        </p:txBody>
      </p:sp>
      <p:sp>
        <p:nvSpPr>
          <p:cNvPr id="9" name="svg-line-9-1">
            <a:extLst xmlns:a="http://schemas.openxmlformats.org/drawingml/2006/main">
              <a:ext uri="{FF2B5EF4-FFF2-40B4-BE49-F238E27FC236}">
                <a16:creationId xmlns:a16="http://schemas.microsoft.com/office/drawing/2014/main" id="{CE7ED40B-A7C4-40FD-BA1A-082E88D9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89427" y="2901723"/>
            <a:ext cx="42182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091">
            <a:solidFill>
              <a:srgbClr val="1C7ED6"/>
            </a:solidFill>
            <a:prstDash val="solid"/>
          </a:ln>
        </p:spPr>
      </p:sp>
      <p:sp>
        <p:nvSpPr>
          <p:cNvPr id="10" name="svg-arrow-9">
            <a:extLst xmlns:a="http://schemas.openxmlformats.org/drawingml/2006/main">
              <a:ext uri="{FF2B5EF4-FFF2-40B4-BE49-F238E27FC236}">
                <a16:creationId xmlns:a16="http://schemas.microsoft.com/office/drawing/2014/main" id="{70212ABE-02EE-4AA8-A8B5-8E8884BD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866430" y="2856905"/>
            <a:ext cx="89637" cy="896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4763">
            <a:solidFill>
              <a:srgbClr val="1C7ED6"/>
            </a:solidFill>
            <a:prstDash val="solid"/>
          </a:ln>
        </p:spPr>
      </p:sp>
      <p:sp>
        <p:nvSpPr>
          <p:cNvPr id="11" name="svg-rect-10">
            <a:extLst xmlns:a="http://schemas.openxmlformats.org/drawingml/2006/main">
              <a:ext uri="{FF2B5EF4-FFF2-40B4-BE49-F238E27FC236}">
                <a16:creationId xmlns:a16="http://schemas.microsoft.com/office/drawing/2014/main" id="{B4565BF8-1833-496B-B02E-924EE9FD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886" y="2142445"/>
            <a:ext cx="3332389" cy="1518557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0546">
            <a:solidFill>
              <a:srgbClr val="D0D7DE"/>
            </a:solidFill>
            <a:prstDash val="solid"/>
          </a:ln>
        </p:spPr>
      </p:sp>
      <p:sp>
        <p:nvSpPr>
          <p:cNvPr id="12" name="svg-text-11">
            <a:extLst xmlns:a="http://schemas.openxmlformats.org/drawingml/2006/main">
              <a:ext uri="{FF2B5EF4-FFF2-40B4-BE49-F238E27FC236}">
                <a16:creationId xmlns:a16="http://schemas.microsoft.com/office/drawing/2014/main" id="{FF4C7718-B90C-462C-8A16-B24BB4EE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892" y="2301050"/>
            <a:ext cx="730377" cy="183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96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996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② 计划评估</a:t>
            </a:r>
          </a:p>
        </p:txBody>
      </p:sp>
      <p:sp>
        <p:nvSpPr>
          <p:cNvPr id="13" name="svg-rect-13">
            <a:extLst xmlns:a="http://schemas.openxmlformats.org/drawingml/2006/main">
              <a:ext uri="{FF2B5EF4-FFF2-40B4-BE49-F238E27FC236}">
                <a16:creationId xmlns:a16="http://schemas.microsoft.com/office/drawing/2014/main" id="{2F18B119-F741-4192-B4B3-51E43C60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9796" y="2669721"/>
            <a:ext cx="653823" cy="611641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1C7ED6"/>
            </a:solidFill>
            <a:prstDash val="solid"/>
          </a:ln>
        </p:spPr>
      </p:sp>
      <p:sp>
        <p:nvSpPr>
          <p:cNvPr id="14" name="svg-rect-14">
            <a:extLst xmlns:a="http://schemas.openxmlformats.org/drawingml/2006/main">
              <a:ext uri="{FF2B5EF4-FFF2-40B4-BE49-F238E27FC236}">
                <a16:creationId xmlns:a16="http://schemas.microsoft.com/office/drawing/2014/main" id="{817CC905-64CD-4524-80E3-24CC15FC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669721"/>
            <a:ext cx="653823" cy="611641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2F9E44"/>
            </a:solidFill>
            <a:prstDash val="solid"/>
          </a:ln>
        </p:spPr>
      </p:sp>
      <p:sp>
        <p:nvSpPr>
          <p:cNvPr id="15" name="svg-rect-15">
            <a:extLst xmlns:a="http://schemas.openxmlformats.org/drawingml/2006/main">
              <a:ext uri="{FF2B5EF4-FFF2-40B4-BE49-F238E27FC236}">
                <a16:creationId xmlns:a16="http://schemas.microsoft.com/office/drawing/2014/main" id="{FB2F0CE1-45A2-485C-A620-618D54DF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354" y="2669721"/>
            <a:ext cx="653823" cy="611641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E8890C"/>
            </a:solidFill>
            <a:prstDash val="solid"/>
          </a:ln>
        </p:spPr>
      </p:sp>
      <p:sp>
        <p:nvSpPr>
          <p:cNvPr id="16" name="svg-rect-16">
            <a:extLst xmlns:a="http://schemas.openxmlformats.org/drawingml/2006/main">
              <a:ext uri="{FF2B5EF4-FFF2-40B4-BE49-F238E27FC236}">
                <a16:creationId xmlns:a16="http://schemas.microsoft.com/office/drawing/2014/main" id="{C3D38750-4A42-4F1E-A18D-FE075F71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7632" y="2669721"/>
            <a:ext cx="653823" cy="611641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8B5CF6"/>
            </a:solidFill>
            <a:prstDash val="solid"/>
          </a:ln>
        </p:spPr>
      </p:sp>
      <p:sp>
        <p:nvSpPr>
          <p:cNvPr id="17" name="svg-text-17">
            <a:extLst xmlns:a="http://schemas.openxmlformats.org/drawingml/2006/main">
              <a:ext uri="{FF2B5EF4-FFF2-40B4-BE49-F238E27FC236}">
                <a16:creationId xmlns:a16="http://schemas.microsoft.com/office/drawing/2014/main" id="{47AC65A0-4CA7-45A6-AE5F-EB6882A6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2868" y="2814617"/>
            <a:ext cx="347680" cy="14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9" b="0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789" b="0">
                <a:solidFill>
                  <a:srgbClr val="1F2328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18" name="svg-text-18">
            <a:extLst xmlns:a="http://schemas.openxmlformats.org/drawingml/2006/main">
              <a:ext uri="{FF2B5EF4-FFF2-40B4-BE49-F238E27FC236}">
                <a16:creationId xmlns:a16="http://schemas.microsoft.com/office/drawing/2014/main" id="{CF498F3B-A048-44F6-8169-95B498CF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090" y="3030632"/>
            <a:ext cx="555237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98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598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工作负载/节点</a:t>
            </a:r>
          </a:p>
        </p:txBody>
      </p:sp>
      <p:sp>
        <p:nvSpPr>
          <p:cNvPr id="19" name="svg-text-19">
            <a:extLst xmlns:a="http://schemas.openxmlformats.org/drawingml/2006/main">
              <a:ext uri="{FF2B5EF4-FFF2-40B4-BE49-F238E27FC236}">
                <a16:creationId xmlns:a16="http://schemas.microsoft.com/office/drawing/2014/main" id="{3E186643-DC64-417D-8B74-ACD23413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046" y="2814617"/>
            <a:ext cx="457880" cy="14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9" b="0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789" b="0">
                <a:solidFill>
                  <a:srgbClr val="1F2328"/>
                </a:solidFill>
                <a:latin typeface="Arial"/>
                <a:ea typeface="Arial"/>
                <a:cs typeface="Arial"/>
              </a:rPr>
              <a:t>迁移模拟</a:t>
            </a:r>
          </a:p>
        </p:txBody>
      </p:sp>
      <p:sp>
        <p:nvSpPr>
          <p:cNvPr id="20" name="svg-text-20">
            <a:extLst xmlns:a="http://schemas.openxmlformats.org/drawingml/2006/main">
              <a:ext uri="{FF2B5EF4-FFF2-40B4-BE49-F238E27FC236}">
                <a16:creationId xmlns:a16="http://schemas.microsoft.com/office/drawing/2014/main" id="{2813C798-E408-4305-83EA-7ED62373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138" y="3015826"/>
            <a:ext cx="415698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06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706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调度可行</a:t>
            </a:r>
          </a:p>
        </p:txBody>
      </p:sp>
      <p:sp>
        <p:nvSpPr>
          <p:cNvPr id="21" name="svg-text-21">
            <a:extLst xmlns:a="http://schemas.openxmlformats.org/drawingml/2006/main">
              <a:ext uri="{FF2B5EF4-FFF2-40B4-BE49-F238E27FC236}">
                <a16:creationId xmlns:a16="http://schemas.microsoft.com/office/drawing/2014/main" id="{C142F833-3144-45D6-A369-3C5F82B3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814617"/>
            <a:ext cx="457880" cy="14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9" b="0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789" b="0">
                <a:solidFill>
                  <a:srgbClr val="1F2328"/>
                </a:solidFill>
                <a:latin typeface="Arial"/>
                <a:ea typeface="Arial"/>
                <a:cs typeface="Arial"/>
              </a:rPr>
              <a:t>中断评分</a:t>
            </a:r>
          </a:p>
        </p:txBody>
      </p:sp>
      <p:sp>
        <p:nvSpPr>
          <p:cNvPr id="22" name="svg-text-22">
            <a:extLst xmlns:a="http://schemas.openxmlformats.org/drawingml/2006/main">
              <a:ext uri="{FF2B5EF4-FFF2-40B4-BE49-F238E27FC236}">
                <a16:creationId xmlns:a16="http://schemas.microsoft.com/office/drawing/2014/main" id="{68E06527-53D7-4088-9F68-56360E82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416" y="3015826"/>
            <a:ext cx="415698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06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706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影响最小</a:t>
            </a:r>
          </a:p>
        </p:txBody>
      </p:sp>
      <p:sp>
        <p:nvSpPr>
          <p:cNvPr id="23" name="svg-text-23">
            <a:extLst xmlns:a="http://schemas.openxmlformats.org/drawingml/2006/main">
              <a:ext uri="{FF2B5EF4-FFF2-40B4-BE49-F238E27FC236}">
                <a16:creationId xmlns:a16="http://schemas.microsoft.com/office/drawing/2014/main" id="{5FF97213-531A-4B4F-9F6D-5E0B8B5B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7552" y="2814617"/>
            <a:ext cx="513983" cy="14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9" b="0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789" b="0">
                <a:solidFill>
                  <a:srgbClr val="1F2328"/>
                </a:solidFill>
                <a:latin typeface="Arial"/>
                <a:ea typeface="Arial"/>
                <a:cs typeface="Arial"/>
              </a:rPr>
              <a:t>预算/收益</a:t>
            </a:r>
          </a:p>
        </p:txBody>
      </p:sp>
      <p:sp>
        <p:nvSpPr>
          <p:cNvPr id="24" name="svg-text-24">
            <a:extLst xmlns:a="http://schemas.openxmlformats.org/drawingml/2006/main">
              <a:ext uri="{FF2B5EF4-FFF2-40B4-BE49-F238E27FC236}">
                <a16:creationId xmlns:a16="http://schemas.microsoft.com/office/drawing/2014/main" id="{B1B29C5D-BAC0-45C1-AB64-9B31F30B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6695" y="3015826"/>
            <a:ext cx="415698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06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706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达到阈值</a:t>
            </a:r>
          </a:p>
        </p:txBody>
      </p:sp>
      <p:sp>
        <p:nvSpPr>
          <p:cNvPr id="25" name="svg-text-25">
            <a:extLst xmlns:a="http://schemas.openxmlformats.org/drawingml/2006/main">
              <a:ext uri="{FF2B5EF4-FFF2-40B4-BE49-F238E27FC236}">
                <a16:creationId xmlns:a16="http://schemas.microsoft.com/office/drawing/2014/main" id="{95094FE7-49A3-4DA2-B346-38E8F414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305" y="3405167"/>
            <a:ext cx="2471550" cy="14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9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789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任一约束不满足：不驱逐 Pod，并在状态中记录原因。</a:t>
            </a:r>
          </a:p>
        </p:txBody>
      </p:sp>
      <p:sp>
        <p:nvSpPr>
          <p:cNvPr id="26" name="svg-line-26-1">
            <a:extLst xmlns:a="http://schemas.openxmlformats.org/drawingml/2006/main">
              <a:ext uri="{FF2B5EF4-FFF2-40B4-BE49-F238E27FC236}">
                <a16:creationId xmlns:a16="http://schemas.microsoft.com/office/drawing/2014/main" id="{3BC63386-B92E-4F2E-A1DA-0645A3D7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96730" y="2901723"/>
            <a:ext cx="42182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091">
            <a:solidFill>
              <a:srgbClr val="1C7ED6"/>
            </a:solidFill>
            <a:prstDash val="solid"/>
          </a:ln>
        </p:spPr>
      </p:sp>
      <p:sp>
        <p:nvSpPr>
          <p:cNvPr id="27" name="svg-arrow-26">
            <a:extLst xmlns:a="http://schemas.openxmlformats.org/drawingml/2006/main">
              <a:ext uri="{FF2B5EF4-FFF2-40B4-BE49-F238E27FC236}">
                <a16:creationId xmlns:a16="http://schemas.microsoft.com/office/drawing/2014/main" id="{96763959-B3A7-4B52-954C-991D06B0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873733" y="2856905"/>
            <a:ext cx="89637" cy="896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4763">
            <a:solidFill>
              <a:srgbClr val="1C7ED6"/>
            </a:solidFill>
            <a:prstDash val="solid"/>
          </a:ln>
        </p:spPr>
      </p:sp>
      <p:sp>
        <p:nvSpPr>
          <p:cNvPr id="28" name="svg-rect-27">
            <a:extLst xmlns:a="http://schemas.openxmlformats.org/drawingml/2006/main">
              <a:ext uri="{FF2B5EF4-FFF2-40B4-BE49-F238E27FC236}">
                <a16:creationId xmlns:a16="http://schemas.microsoft.com/office/drawing/2014/main" id="{729A220B-0263-48F2-85D1-9C1B285B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6189" y="2311173"/>
            <a:ext cx="2003652" cy="1181100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0546">
            <a:solidFill>
              <a:srgbClr val="E8890C"/>
            </a:solidFill>
            <a:prstDash val="solid"/>
          </a:ln>
        </p:spPr>
      </p:sp>
      <p:sp>
        <p:nvSpPr>
          <p:cNvPr id="29" name="svg-text-28">
            <a:extLst xmlns:a="http://schemas.openxmlformats.org/drawingml/2006/main">
              <a:ext uri="{FF2B5EF4-FFF2-40B4-BE49-F238E27FC236}">
                <a16:creationId xmlns:a16="http://schemas.microsoft.com/office/drawing/2014/main" id="{7DC36DB6-F235-4912-81E9-D11904EE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363" y="2469778"/>
            <a:ext cx="1297305" cy="183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96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996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③ 审核 status.plan</a:t>
            </a:r>
          </a:p>
        </p:txBody>
      </p:sp>
      <p:sp>
        <p:nvSpPr>
          <p:cNvPr id="30" name="svg-text-29">
            <a:extLst xmlns:a="http://schemas.openxmlformats.org/drawingml/2006/main">
              <a:ext uri="{FF2B5EF4-FFF2-40B4-BE49-F238E27FC236}">
                <a16:creationId xmlns:a16="http://schemas.microsoft.com/office/drawing/2014/main" id="{6B140388-7F2B-4013-A1B8-B01B29DE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4343" y="2747927"/>
            <a:ext cx="1607344" cy="149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14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14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影响哪些工作负载？迁移多少卡？</a:t>
            </a:r>
          </a:p>
        </p:txBody>
      </p:sp>
      <p:sp>
        <p:nvSpPr>
          <p:cNvPr id="31" name="svg-text-30">
            <a:extLst xmlns:a="http://schemas.openxmlformats.org/drawingml/2006/main">
              <a:ext uri="{FF2B5EF4-FFF2-40B4-BE49-F238E27FC236}">
                <a16:creationId xmlns:a16="http://schemas.microsoft.com/office/drawing/2014/main" id="{3C1C3539-D7EC-4CA5-BE14-19D86A2B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382" y="2948292"/>
            <a:ext cx="987266" cy="149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14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14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计划从哪里到哪里？</a:t>
            </a:r>
          </a:p>
        </p:txBody>
      </p:sp>
      <p:sp>
        <p:nvSpPr>
          <p:cNvPr id="32" name="svg-text-31">
            <a:extLst xmlns:a="http://schemas.openxmlformats.org/drawingml/2006/main">
              <a:ext uri="{FF2B5EF4-FFF2-40B4-BE49-F238E27FC236}">
                <a16:creationId xmlns:a16="http://schemas.microsoft.com/office/drawing/2014/main" id="{57D99FDF-FA12-4994-9D09-E41A46B9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382" y="3148657"/>
            <a:ext cx="987266" cy="149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14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14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预计腾空哪些节点？</a:t>
            </a:r>
          </a:p>
        </p:txBody>
      </p:sp>
      <p:sp>
        <p:nvSpPr>
          <p:cNvPr id="33" name="svg-line-32-1">
            <a:extLst xmlns:a="http://schemas.openxmlformats.org/drawingml/2006/main">
              <a:ext uri="{FF2B5EF4-FFF2-40B4-BE49-F238E27FC236}">
                <a16:creationId xmlns:a16="http://schemas.microsoft.com/office/drawing/2014/main" id="{572C7CC6-CC8A-4A4E-8972-D8C2DADB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75296" y="2901723"/>
            <a:ext cx="42182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091">
            <a:solidFill>
              <a:srgbClr val="2F9E44"/>
            </a:solidFill>
            <a:prstDash val="solid"/>
          </a:ln>
        </p:spPr>
      </p:sp>
      <p:sp>
        <p:nvSpPr>
          <p:cNvPr id="34" name="svg-arrow-32">
            <a:extLst xmlns:a="http://schemas.openxmlformats.org/drawingml/2006/main">
              <a:ext uri="{FF2B5EF4-FFF2-40B4-BE49-F238E27FC236}">
                <a16:creationId xmlns:a16="http://schemas.microsoft.com/office/drawing/2014/main" id="{59679214-EE33-4775-9D25-235C8B0C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52299" y="2856905"/>
            <a:ext cx="89637" cy="896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4763">
            <a:solidFill>
              <a:srgbClr val="2F9E44"/>
            </a:solidFill>
            <a:prstDash val="solid"/>
          </a:ln>
        </p:spPr>
      </p:sp>
      <p:sp>
        <p:nvSpPr>
          <p:cNvPr id="35" name="svg-rect-33">
            <a:extLst xmlns:a="http://schemas.openxmlformats.org/drawingml/2006/main">
              <a:ext uri="{FF2B5EF4-FFF2-40B4-BE49-F238E27FC236}">
                <a16:creationId xmlns:a16="http://schemas.microsoft.com/office/drawing/2014/main" id="{DBD2EE5B-605C-459A-B66A-09B23140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755" y="2311173"/>
            <a:ext cx="1877105" cy="1181100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rgbClr val="EDF9F1"/>
          </a:solidFill>
          <a:ln xmlns:a="http://schemas.openxmlformats.org/drawingml/2006/main" w="10546">
            <a:solidFill>
              <a:srgbClr val="2F9E44"/>
            </a:solidFill>
            <a:prstDash val="solid"/>
          </a:ln>
        </p:spPr>
      </p:sp>
      <p:sp>
        <p:nvSpPr>
          <p:cNvPr id="36" name="svg-text-34">
            <a:extLst xmlns:a="http://schemas.openxmlformats.org/drawingml/2006/main">
              <a:ext uri="{FF2B5EF4-FFF2-40B4-BE49-F238E27FC236}">
                <a16:creationId xmlns:a16="http://schemas.microsoft.com/office/drawing/2014/main" id="{ADB4AF57-1B71-4718-AB67-563AB494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0060" y="2469778"/>
            <a:ext cx="1026496" cy="183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96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996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④ 新建 Execute</a:t>
            </a:r>
          </a:p>
        </p:txBody>
      </p:sp>
      <p:sp>
        <p:nvSpPr>
          <p:cNvPr id="37" name="svg-text-35">
            <a:extLst xmlns:a="http://schemas.openxmlformats.org/drawingml/2006/main">
              <a:ext uri="{FF2B5EF4-FFF2-40B4-BE49-F238E27FC236}">
                <a16:creationId xmlns:a16="http://schemas.microsoft.com/office/drawing/2014/main" id="{76347E0C-0C00-497B-8DBE-D8AE1025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7549" y="2747927"/>
            <a:ext cx="871518" cy="149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14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14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不是修改 DryRun</a:t>
            </a:r>
          </a:p>
        </p:txBody>
      </p:sp>
      <p:sp>
        <p:nvSpPr>
          <p:cNvPr id="38" name="svg-text-36">
            <a:extLst xmlns:a="http://schemas.openxmlformats.org/drawingml/2006/main">
              <a:ext uri="{FF2B5EF4-FFF2-40B4-BE49-F238E27FC236}">
                <a16:creationId xmlns:a16="http://schemas.microsoft.com/office/drawing/2014/main" id="{360018CC-5C9A-48EF-BDD0-E4E2F901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675" y="2948292"/>
            <a:ext cx="987266" cy="149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14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14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按实时集群重新规划</a:t>
            </a:r>
          </a:p>
        </p:txBody>
      </p:sp>
      <p:sp>
        <p:nvSpPr>
          <p:cNvPr id="39" name="svg-text-37">
            <a:extLst xmlns:a="http://schemas.openxmlformats.org/drawingml/2006/main">
              <a:ext uri="{FF2B5EF4-FFF2-40B4-BE49-F238E27FC236}">
                <a16:creationId xmlns:a16="http://schemas.microsoft.com/office/drawing/2014/main" id="{4A907D61-1CD2-4EEB-8619-2245A223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348" y="3148657"/>
            <a:ext cx="883920" cy="149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14" b="1">
                <a:solidFill>
                  <a:srgbClr val="2F9E44"/>
                </a:solidFill>
                <a:latin typeface="Arial"/>
                <a:ea typeface="Arial"/>
                <a:cs typeface="Arial"/>
              </a:defRPr>
            </a:pPr>
            <a:r>
              <a:rPr sz="814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通过后才进入驱逐</a:t>
            </a:r>
          </a:p>
        </p:txBody>
      </p:sp>
      <p:sp>
        <p:nvSpPr>
          <p:cNvPr id="40" name="svg-line-38-1">
            <a:extLst xmlns:a="http://schemas.openxmlformats.org/drawingml/2006/main">
              <a:ext uri="{FF2B5EF4-FFF2-40B4-BE49-F238E27FC236}">
                <a16:creationId xmlns:a16="http://schemas.microsoft.com/office/drawing/2014/main" id="{7B58F1C6-6543-4313-B3FF-DA477558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83308" y="3618820"/>
            <a:ext cx="953" cy="3796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091">
            <a:solidFill>
              <a:srgbClr val="2F9E44"/>
            </a:solidFill>
            <a:prstDash val="solid"/>
          </a:ln>
        </p:spPr>
      </p:sp>
      <p:sp>
        <p:nvSpPr>
          <p:cNvPr id="41" name="svg-line-38-2">
            <a:extLst xmlns:a="http://schemas.openxmlformats.org/drawingml/2006/main">
              <a:ext uri="{FF2B5EF4-FFF2-40B4-BE49-F238E27FC236}">
                <a16:creationId xmlns:a16="http://schemas.microsoft.com/office/drawing/2014/main" id="{D92C9FDB-2535-48EE-BFFA-DC01BD35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943295" y="3998459"/>
            <a:ext cx="174001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091">
            <a:solidFill>
              <a:srgbClr val="2F9E44"/>
            </a:solidFill>
            <a:prstDash val="solid"/>
          </a:ln>
        </p:spPr>
      </p:sp>
      <p:sp>
        <p:nvSpPr>
          <p:cNvPr id="42" name="svg-line-38-3">
            <a:extLst xmlns:a="http://schemas.openxmlformats.org/drawingml/2006/main">
              <a:ext uri="{FF2B5EF4-FFF2-40B4-BE49-F238E27FC236}">
                <a16:creationId xmlns:a16="http://schemas.microsoft.com/office/drawing/2014/main" id="{CCDC414C-0F1A-4E91-BB69-D96F8EA1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43295" y="3998459"/>
            <a:ext cx="953" cy="2320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091">
            <a:solidFill>
              <a:srgbClr val="2F9E44"/>
            </a:solidFill>
            <a:prstDash val="solid"/>
          </a:ln>
        </p:spPr>
      </p:sp>
      <p:sp>
        <p:nvSpPr>
          <p:cNvPr id="43" name="svg-arrow-38">
            <a:extLst xmlns:a="http://schemas.openxmlformats.org/drawingml/2006/main">
              <a:ext uri="{FF2B5EF4-FFF2-40B4-BE49-F238E27FC236}">
                <a16:creationId xmlns:a16="http://schemas.microsoft.com/office/drawing/2014/main" id="{41E2E0E2-3B0A-4C91-9EB8-E20C4AE1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898476" y="4185642"/>
            <a:ext cx="89637" cy="896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4763">
            <a:solidFill>
              <a:srgbClr val="2F9E44"/>
            </a:solidFill>
            <a:prstDash val="solid"/>
          </a:ln>
        </p:spPr>
      </p:sp>
      <p:sp>
        <p:nvSpPr>
          <p:cNvPr id="44" name="svg-rect-39">
            <a:extLst xmlns:a="http://schemas.openxmlformats.org/drawingml/2006/main">
              <a:ext uri="{FF2B5EF4-FFF2-40B4-BE49-F238E27FC236}">
                <a16:creationId xmlns:a16="http://schemas.microsoft.com/office/drawing/2014/main" id="{501680BD-6E92-4DE1-BFFA-D3304946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84" y="4378098"/>
            <a:ext cx="5146221" cy="822552"/>
          </a:xfrm>
          <a:prstGeom xmlns:a="http://schemas.openxmlformats.org/drawingml/2006/main" prst="roundRect">
            <a:avLst>
              <a:gd name="adj" fmla="val 14103"/>
            </a:avLst>
          </a:prstGeom>
          <a:solidFill xmlns:a="http://schemas.openxmlformats.org/drawingml/2006/main">
            <a:srgbClr val="EDF9F1"/>
          </a:solidFill>
          <a:ln xmlns:a="http://schemas.openxmlformats.org/drawingml/2006/main" w="10546">
            <a:solidFill>
              <a:srgbClr val="2F9E44"/>
            </a:solidFill>
            <a:prstDash val="solid"/>
          </a:ln>
        </p:spPr>
      </p:sp>
      <p:sp>
        <p:nvSpPr>
          <p:cNvPr id="45" name="svg-text-40">
            <a:extLst xmlns:a="http://schemas.openxmlformats.org/drawingml/2006/main">
              <a:ext uri="{FF2B5EF4-FFF2-40B4-BE49-F238E27FC236}">
                <a16:creationId xmlns:a16="http://schemas.microsoft.com/office/drawing/2014/main" id="{54320A64-1CBC-42CB-8929-24D19034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4833" y="4515612"/>
            <a:ext cx="856923" cy="183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96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996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⑤ 执行与验证</a:t>
            </a:r>
          </a:p>
        </p:txBody>
      </p:sp>
      <p:sp>
        <p:nvSpPr>
          <p:cNvPr id="46" name="svg-text-41">
            <a:extLst xmlns:a="http://schemas.openxmlformats.org/drawingml/2006/main">
              <a:ext uri="{FF2B5EF4-FFF2-40B4-BE49-F238E27FC236}">
                <a16:creationId xmlns:a16="http://schemas.microsoft.com/office/drawing/2014/main" id="{F2CD607E-DD7A-40E1-ABEC-6342052F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875" y="4772670"/>
            <a:ext cx="3444840" cy="149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14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14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Eviction → 重建 Pod → nominatedNodeName → Scheduler 实际绑定</a:t>
            </a:r>
          </a:p>
        </p:txBody>
      </p:sp>
      <p:sp>
        <p:nvSpPr>
          <p:cNvPr id="47" name="svg-text-42">
            <a:extLst xmlns:a="http://schemas.openxmlformats.org/drawingml/2006/main">
              <a:ext uri="{FF2B5EF4-FFF2-40B4-BE49-F238E27FC236}">
                <a16:creationId xmlns:a16="http://schemas.microsoft.com/office/drawing/2014/main" id="{3EE11728-86BA-45A9-802F-B86952BA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477" y="4962490"/>
            <a:ext cx="3407635" cy="149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14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14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status.result 记录实际收益；status.relocations 记录逐 Pod 过程</a:t>
            </a:r>
          </a:p>
        </p:txBody>
      </p:sp>
      <p:sp>
        <p:nvSpPr>
          <p:cNvPr id="48" name="svg-line-43-1">
            <a:extLst xmlns:a="http://schemas.openxmlformats.org/drawingml/2006/main">
              <a:ext uri="{FF2B5EF4-FFF2-40B4-BE49-F238E27FC236}">
                <a16:creationId xmlns:a16="http://schemas.microsoft.com/office/drawing/2014/main" id="{1C9A91DD-B8E4-49E6-99BF-1CBB6D42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842907" y="4789374"/>
            <a:ext cx="42182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091">
            <a:solidFill>
              <a:srgbClr val="1C7ED6"/>
            </a:solidFill>
            <a:prstDash val="solid"/>
          </a:ln>
        </p:spPr>
      </p:sp>
      <p:sp>
        <p:nvSpPr>
          <p:cNvPr id="49" name="svg-arrow-43">
            <a:extLst xmlns:a="http://schemas.openxmlformats.org/drawingml/2006/main">
              <a:ext uri="{FF2B5EF4-FFF2-40B4-BE49-F238E27FC236}">
                <a16:creationId xmlns:a16="http://schemas.microsoft.com/office/drawing/2014/main" id="{4475C586-3DDC-4843-AFA7-0B4454BB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798089" y="4744556"/>
            <a:ext cx="89637" cy="896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4763">
            <a:solidFill>
              <a:srgbClr val="1C7ED6"/>
            </a:solidFill>
            <a:prstDash val="solid"/>
          </a:ln>
        </p:spPr>
      </p:sp>
      <p:sp>
        <p:nvSpPr>
          <p:cNvPr id="50" name="svg-rect-44">
            <a:extLst xmlns:a="http://schemas.openxmlformats.org/drawingml/2006/main">
              <a:ext uri="{FF2B5EF4-FFF2-40B4-BE49-F238E27FC236}">
                <a16:creationId xmlns:a16="http://schemas.microsoft.com/office/drawing/2014/main" id="{9215B466-8134-41D1-AC36-DE53D6C9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139" y="4230461"/>
            <a:ext cx="5125130" cy="1117827"/>
          </a:xfrm>
          <a:prstGeom xmlns:a="http://schemas.openxmlformats.org/drawingml/2006/main" prst="roundRect">
            <a:avLst>
              <a:gd name="adj" fmla="val 1037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0546">
            <a:solidFill>
              <a:srgbClr val="D0D7DE"/>
            </a:solidFill>
            <a:prstDash val="solid"/>
          </a:ln>
        </p:spPr>
      </p:sp>
      <p:sp>
        <p:nvSpPr>
          <p:cNvPr id="51" name="svg-text-45">
            <a:extLst xmlns:a="http://schemas.openxmlformats.org/drawingml/2006/main">
              <a:ext uri="{FF2B5EF4-FFF2-40B4-BE49-F238E27FC236}">
                <a16:creationId xmlns:a16="http://schemas.microsoft.com/office/drawing/2014/main" id="{4EE24C95-35AC-4DC8-9C0D-3A6A521C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9066"/>
            <a:ext cx="2572893" cy="183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96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996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评估与执行结果均记录在 RepackRun 状态中</a:t>
            </a:r>
          </a:p>
        </p:txBody>
      </p:sp>
      <p:sp>
        <p:nvSpPr>
          <p:cNvPr id="52" name="svg-rect-46">
            <a:extLst xmlns:a="http://schemas.openxmlformats.org/drawingml/2006/main">
              <a:ext uri="{FF2B5EF4-FFF2-40B4-BE49-F238E27FC236}">
                <a16:creationId xmlns:a16="http://schemas.microsoft.com/office/drawing/2014/main" id="{14012E66-F285-4275-9A8F-2CF580FB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141" y="4694464"/>
            <a:ext cx="2151289" cy="442913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D0D7DE"/>
            </a:solidFill>
            <a:prstDash val="solid"/>
          </a:ln>
        </p:spPr>
      </p:sp>
      <p:sp>
        <p:nvSpPr>
          <p:cNvPr id="53" name="svg-text-47">
            <a:extLst xmlns:a="http://schemas.openxmlformats.org/drawingml/2006/main">
              <a:ext uri="{FF2B5EF4-FFF2-40B4-BE49-F238E27FC236}">
                <a16:creationId xmlns:a16="http://schemas.microsoft.com/office/drawing/2014/main" id="{76027F34-CB6B-4159-8BF3-223A3D9A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572" y="4770392"/>
            <a:ext cx="584427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30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830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不建议整理</a:t>
            </a:r>
          </a:p>
        </p:txBody>
      </p:sp>
      <p:sp>
        <p:nvSpPr>
          <p:cNvPr id="54" name="svg-text-48">
            <a:extLst xmlns:a="http://schemas.openxmlformats.org/drawingml/2006/main">
              <a:ext uri="{FF2B5EF4-FFF2-40B4-BE49-F238E27FC236}">
                <a16:creationId xmlns:a16="http://schemas.microsoft.com/office/drawing/2014/main" id="{97A622D5-82E2-42B2-B7C1-7F99852A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046" y="4952788"/>
            <a:ext cx="1393480" cy="134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31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731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无碎片 / 收益不足 / 当前不可行</a:t>
            </a:r>
          </a:p>
        </p:txBody>
      </p:sp>
      <p:sp>
        <p:nvSpPr>
          <p:cNvPr id="55" name="svg-rect-49">
            <a:extLst xmlns:a="http://schemas.openxmlformats.org/drawingml/2006/main">
              <a:ext uri="{FF2B5EF4-FFF2-40B4-BE49-F238E27FC236}">
                <a16:creationId xmlns:a16="http://schemas.microsoft.com/office/drawing/2014/main" id="{28C60A58-43C9-4BC1-AEC0-D3169613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2159" y="4694464"/>
            <a:ext cx="2341109" cy="442913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2F9E44"/>
            </a:solidFill>
            <a:prstDash val="solid"/>
          </a:ln>
        </p:spPr>
      </p:sp>
      <p:sp>
        <p:nvSpPr>
          <p:cNvPr id="56" name="svg-text-50">
            <a:extLst xmlns:a="http://schemas.openxmlformats.org/drawingml/2006/main">
              <a:ext uri="{FF2B5EF4-FFF2-40B4-BE49-F238E27FC236}">
                <a16:creationId xmlns:a16="http://schemas.microsoft.com/office/drawing/2014/main" id="{9B76F6D2-D2BB-482A-A669-46FEB3DF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3228" y="4770392"/>
            <a:ext cx="478971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30" b="1">
                <a:solidFill>
                  <a:srgbClr val="2F9E44"/>
                </a:solidFill>
                <a:latin typeface="Arial"/>
                <a:ea typeface="Arial"/>
                <a:cs typeface="Arial"/>
              </a:defRPr>
            </a:pPr>
            <a:r>
              <a:rPr sz="83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执行完成</a:t>
            </a:r>
          </a:p>
        </p:txBody>
      </p:sp>
      <p:sp>
        <p:nvSpPr>
          <p:cNvPr id="57" name="svg-text-51">
            <a:extLst xmlns:a="http://schemas.openxmlformats.org/drawingml/2006/main">
              <a:ext uri="{FF2B5EF4-FFF2-40B4-BE49-F238E27FC236}">
                <a16:creationId xmlns:a16="http://schemas.microsoft.com/office/drawing/2014/main" id="{C5387BD1-489A-4A1A-958A-FC744D38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451" y="4952788"/>
            <a:ext cx="2024525" cy="134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31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731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按建议节点完成 / 调度到其他节点且收益已验证</a:t>
            </a:r>
          </a:p>
        </p:txBody>
      </p:sp>
    </p:spTree>
    <p:extLst>
      <p:ext uri="{BB962C8B-B14F-4D97-AF65-F5344CB8AC3E}">
        <p14:creationId xmlns:p14="http://schemas.microsoft.com/office/powerpoint/2010/main" val="7755829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svg-rect-1">
            <a:extLst xmlns:a="http://schemas.openxmlformats.org/drawingml/2006/main">
              <a:ext uri="{FF2B5EF4-FFF2-40B4-BE49-F238E27FC236}">
                <a16:creationId xmlns:a16="http://schemas.microsoft.com/office/drawing/2014/main" id="{E4908D21-91F5-42D4-8FDE-BCACD33E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50799"/>
            <a:ext cx="11811000" cy="49564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vg-text-2">
            <a:extLst xmlns:a="http://schemas.openxmlformats.org/drawingml/2006/main">
              <a:ext uri="{FF2B5EF4-FFF2-40B4-BE49-F238E27FC236}">
                <a16:creationId xmlns:a16="http://schemas.microsoft.com/office/drawing/2014/main" id="{3D705B5A-B078-4C72-BAF9-3E6A942A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57" y="1094640"/>
            <a:ext cx="4359729" cy="259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12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412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主动整理：定期收敛资源碎片，为大规格任务准备容量</a:t>
            </a:r>
          </a:p>
        </p:txBody>
      </p:sp>
      <p:sp>
        <p:nvSpPr>
          <p:cNvPr id="3" name="svg-text-3">
            <a:extLst xmlns:a="http://schemas.openxmlformats.org/drawingml/2006/main">
              <a:ext uri="{FF2B5EF4-FFF2-40B4-BE49-F238E27FC236}">
                <a16:creationId xmlns:a16="http://schemas.microsoft.com/office/drawing/2014/main" id="{809BE9E9-EE86-407D-B02D-4D588F30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57" y="1416068"/>
            <a:ext cx="3885179" cy="168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3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913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在大规格工作负载提交前评估资源布局，通过受控整理释放完整节点容量。</a:t>
            </a:r>
          </a:p>
        </p:txBody>
      </p:sp>
      <p:sp>
        <p:nvSpPr>
          <p:cNvPr id="4" name="svg-rect-4">
            <a:extLst xmlns:a="http://schemas.openxmlformats.org/drawingml/2006/main">
              <a:ext uri="{FF2B5EF4-FFF2-40B4-BE49-F238E27FC236}">
                <a16:creationId xmlns:a16="http://schemas.microsoft.com/office/drawing/2014/main" id="{8003CCC2-2436-49E3-98F6-109A2357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57" y="1836624"/>
            <a:ext cx="5378223" cy="3585482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0546">
            <a:solidFill>
              <a:srgbClr val="D0D7DE"/>
            </a:solidFill>
            <a:prstDash val="solid"/>
          </a:ln>
        </p:spPr>
      </p:sp>
      <p:sp>
        <p:nvSpPr>
          <p:cNvPr id="5" name="svg-text-5">
            <a:extLst xmlns:a="http://schemas.openxmlformats.org/drawingml/2006/main">
              <a:ext uri="{FF2B5EF4-FFF2-40B4-BE49-F238E27FC236}">
                <a16:creationId xmlns:a16="http://schemas.microsoft.com/office/drawing/2014/main" id="{B6230620-0FED-4C5F-9ED2-335D2DCB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59" y="1993542"/>
            <a:ext cx="2448878" cy="214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周期整理 · 集群运行后碎片持续积累</a:t>
            </a:r>
          </a:p>
        </p:txBody>
      </p:sp>
      <p:sp>
        <p:nvSpPr>
          <p:cNvPr id="6" name="svg-text-6">
            <a:extLst xmlns:a="http://schemas.openxmlformats.org/drawingml/2006/main">
              <a:ext uri="{FF2B5EF4-FFF2-40B4-BE49-F238E27FC236}">
                <a16:creationId xmlns:a16="http://schemas.microsoft.com/office/drawing/2014/main" id="{E45436E3-6237-4885-A09E-A906BD0A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59" y="2271100"/>
            <a:ext cx="3431721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平台结合碎片率和完整节点数量，在集群低负载时段定期评估资源布局。</a:t>
            </a:r>
          </a:p>
        </p:txBody>
      </p:sp>
      <p:sp>
        <p:nvSpPr>
          <p:cNvPr id="7" name="svg-rect-9">
            <a:extLst xmlns:a="http://schemas.openxmlformats.org/drawingml/2006/main">
              <a:ext uri="{FF2B5EF4-FFF2-40B4-BE49-F238E27FC236}">
                <a16:creationId xmlns:a16="http://schemas.microsoft.com/office/drawing/2014/main" id="{92BF3F82-B391-468F-80C9-5643B78F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141" y="2638085"/>
            <a:ext cx="928007" cy="1096736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D0D7DE"/>
            </a:solidFill>
            <a:prstDash val="solid"/>
          </a:ln>
        </p:spPr>
      </p:sp>
      <p:sp>
        <p:nvSpPr>
          <p:cNvPr id="8" name="svg-text-10">
            <a:extLst xmlns:a="http://schemas.openxmlformats.org/drawingml/2006/main">
              <a:ext uri="{FF2B5EF4-FFF2-40B4-BE49-F238E27FC236}">
                <a16:creationId xmlns:a16="http://schemas.microsoft.com/office/drawing/2014/main" id="{2555F010-898E-45D4-99AF-AC7B2428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003" y="2724558"/>
            <a:ext cx="736283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30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830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node-a · 6/8</a:t>
            </a:r>
          </a:p>
        </p:txBody>
      </p:sp>
      <p:sp>
        <p:nvSpPr>
          <p:cNvPr id="9" name="svg-rect-12">
            <a:extLst xmlns:a="http://schemas.openxmlformats.org/drawingml/2006/main">
              <a:ext uri="{FF2B5EF4-FFF2-40B4-BE49-F238E27FC236}">
                <a16:creationId xmlns:a16="http://schemas.microsoft.com/office/drawing/2014/main" id="{2910076D-3308-4D3F-96F9-0D75D060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596" y="2975542"/>
            <a:ext cx="147638" cy="14763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vg-rect-13">
            <a:extLst xmlns:a="http://schemas.openxmlformats.org/drawingml/2006/main">
              <a:ext uri="{FF2B5EF4-FFF2-40B4-BE49-F238E27FC236}">
                <a16:creationId xmlns:a16="http://schemas.microsoft.com/office/drawing/2014/main" id="{B37B0C0D-9A1B-4B54-B509-A2791302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416" y="2975542"/>
            <a:ext cx="147638" cy="14763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vg-rect-14">
            <a:extLst xmlns:a="http://schemas.openxmlformats.org/drawingml/2006/main">
              <a:ext uri="{FF2B5EF4-FFF2-40B4-BE49-F238E27FC236}">
                <a16:creationId xmlns:a16="http://schemas.microsoft.com/office/drawing/2014/main" id="{13F5E04B-7DBB-4CD7-B24C-4580289B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236" y="2975542"/>
            <a:ext cx="147638" cy="14763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vg-rect-15">
            <a:extLst xmlns:a="http://schemas.openxmlformats.org/drawingml/2006/main">
              <a:ext uri="{FF2B5EF4-FFF2-40B4-BE49-F238E27FC236}">
                <a16:creationId xmlns:a16="http://schemas.microsoft.com/office/drawing/2014/main" id="{7ADCCA9A-F3B4-4F4F-AA8D-D4303FD3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055" y="2975542"/>
            <a:ext cx="147638" cy="14763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vg-rect-16">
            <a:extLst xmlns:a="http://schemas.openxmlformats.org/drawingml/2006/main">
              <a:ext uri="{FF2B5EF4-FFF2-40B4-BE49-F238E27FC236}">
                <a16:creationId xmlns:a16="http://schemas.microsoft.com/office/drawing/2014/main" id="{B1CB2DBB-9DFE-423E-BDBB-CE9602B3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596" y="3186453"/>
            <a:ext cx="147638" cy="14763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vg-rect-17">
            <a:extLst xmlns:a="http://schemas.openxmlformats.org/drawingml/2006/main">
              <a:ext uri="{FF2B5EF4-FFF2-40B4-BE49-F238E27FC236}">
                <a16:creationId xmlns:a16="http://schemas.microsoft.com/office/drawing/2014/main" id="{95B283FF-298A-4A3E-9E3A-F8BA1B94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416" y="3186453"/>
            <a:ext cx="147638" cy="14763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vg-rect-19">
            <a:extLst xmlns:a="http://schemas.openxmlformats.org/drawingml/2006/main">
              <a:ext uri="{FF2B5EF4-FFF2-40B4-BE49-F238E27FC236}">
                <a16:creationId xmlns:a16="http://schemas.microsoft.com/office/drawing/2014/main" id="{4517004B-4E0A-4A00-B822-3E0A00D2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236" y="3186453"/>
            <a:ext cx="147638" cy="147638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10546">
            <a:solidFill>
              <a:srgbClr val="D0D7DE"/>
            </a:solidFill>
            <a:prstDash val="dash"/>
          </a:ln>
        </p:spPr>
      </p:sp>
      <p:sp>
        <p:nvSpPr>
          <p:cNvPr id="16" name="svg-rect-20">
            <a:extLst xmlns:a="http://schemas.openxmlformats.org/drawingml/2006/main">
              <a:ext uri="{FF2B5EF4-FFF2-40B4-BE49-F238E27FC236}">
                <a16:creationId xmlns:a16="http://schemas.microsoft.com/office/drawing/2014/main" id="{F1E92F60-8DBA-4528-92D8-32008F8E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055" y="3186453"/>
            <a:ext cx="147638" cy="147638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10546">
            <a:solidFill>
              <a:srgbClr val="D0D7DE"/>
            </a:solidFill>
            <a:prstDash val="dash"/>
          </a:ln>
        </p:spPr>
      </p:sp>
      <p:sp>
        <p:nvSpPr>
          <p:cNvPr id="17" name="svg-rect-22">
            <a:extLst xmlns:a="http://schemas.openxmlformats.org/drawingml/2006/main">
              <a:ext uri="{FF2B5EF4-FFF2-40B4-BE49-F238E27FC236}">
                <a16:creationId xmlns:a16="http://schemas.microsoft.com/office/drawing/2014/main" id="{AEBFDB43-38EA-420D-8DD9-EFCC7A38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877" y="2638085"/>
            <a:ext cx="928007" cy="1096736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D0D7DE"/>
            </a:solidFill>
            <a:prstDash val="solid"/>
          </a:ln>
        </p:spPr>
      </p:sp>
      <p:sp>
        <p:nvSpPr>
          <p:cNvPr id="18" name="svg-text-23">
            <a:extLst xmlns:a="http://schemas.openxmlformats.org/drawingml/2006/main">
              <a:ext uri="{FF2B5EF4-FFF2-40B4-BE49-F238E27FC236}">
                <a16:creationId xmlns:a16="http://schemas.microsoft.com/office/drawing/2014/main" id="{2893E5FD-07D6-4982-904E-095B8F22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739" y="2724558"/>
            <a:ext cx="736283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30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830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node-b · 6/8</a:t>
            </a:r>
          </a:p>
        </p:txBody>
      </p:sp>
      <p:sp>
        <p:nvSpPr>
          <p:cNvPr id="19" name="svg-rect-25">
            <a:extLst xmlns:a="http://schemas.openxmlformats.org/drawingml/2006/main">
              <a:ext uri="{FF2B5EF4-FFF2-40B4-BE49-F238E27FC236}">
                <a16:creationId xmlns:a16="http://schemas.microsoft.com/office/drawing/2014/main" id="{4472D978-3A62-4E50-9ED3-B1F86EE9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332" y="2975542"/>
            <a:ext cx="147638" cy="14763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vg-rect-26">
            <a:extLst xmlns:a="http://schemas.openxmlformats.org/drawingml/2006/main">
              <a:ext uri="{FF2B5EF4-FFF2-40B4-BE49-F238E27FC236}">
                <a16:creationId xmlns:a16="http://schemas.microsoft.com/office/drawing/2014/main" id="{35333EEC-445D-44F0-93E8-175616D4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152" y="2975542"/>
            <a:ext cx="147638" cy="14763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vg-rect-27">
            <a:extLst xmlns:a="http://schemas.openxmlformats.org/drawingml/2006/main">
              <a:ext uri="{FF2B5EF4-FFF2-40B4-BE49-F238E27FC236}">
                <a16:creationId xmlns:a16="http://schemas.microsoft.com/office/drawing/2014/main" id="{1E339C10-0623-4CD1-B76B-50A19769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971" y="2975542"/>
            <a:ext cx="147638" cy="14763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vg-rect-28">
            <a:extLst xmlns:a="http://schemas.openxmlformats.org/drawingml/2006/main">
              <a:ext uri="{FF2B5EF4-FFF2-40B4-BE49-F238E27FC236}">
                <a16:creationId xmlns:a16="http://schemas.microsoft.com/office/drawing/2014/main" id="{FFDC215E-5189-457B-9583-6BF9E527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3791" y="2975542"/>
            <a:ext cx="147638" cy="14763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vg-rect-29">
            <a:extLst xmlns:a="http://schemas.openxmlformats.org/drawingml/2006/main">
              <a:ext uri="{FF2B5EF4-FFF2-40B4-BE49-F238E27FC236}">
                <a16:creationId xmlns:a16="http://schemas.microsoft.com/office/drawing/2014/main" id="{F8A1614D-AD4A-4077-83B1-F630B334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332" y="3186453"/>
            <a:ext cx="147638" cy="14763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vg-rect-30">
            <a:extLst xmlns:a="http://schemas.openxmlformats.org/drawingml/2006/main">
              <a:ext uri="{FF2B5EF4-FFF2-40B4-BE49-F238E27FC236}">
                <a16:creationId xmlns:a16="http://schemas.microsoft.com/office/drawing/2014/main" id="{F63C272D-6DD1-4DFF-AD46-CDBB2A97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152" y="3186453"/>
            <a:ext cx="147638" cy="14763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vg-rect-32">
            <a:extLst xmlns:a="http://schemas.openxmlformats.org/drawingml/2006/main">
              <a:ext uri="{FF2B5EF4-FFF2-40B4-BE49-F238E27FC236}">
                <a16:creationId xmlns:a16="http://schemas.microsoft.com/office/drawing/2014/main" id="{02DAC729-2DBE-49D0-9D47-026C5251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971" y="3186453"/>
            <a:ext cx="147638" cy="147638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10546">
            <a:solidFill>
              <a:srgbClr val="D0D7DE"/>
            </a:solidFill>
            <a:prstDash val="dash"/>
          </a:ln>
        </p:spPr>
      </p:sp>
      <p:sp>
        <p:nvSpPr>
          <p:cNvPr id="26" name="svg-rect-33">
            <a:extLst xmlns:a="http://schemas.openxmlformats.org/drawingml/2006/main">
              <a:ext uri="{FF2B5EF4-FFF2-40B4-BE49-F238E27FC236}">
                <a16:creationId xmlns:a16="http://schemas.microsoft.com/office/drawing/2014/main" id="{CAE18F0C-5D49-4EE0-9F2C-CEC880C8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3791" y="3186453"/>
            <a:ext cx="147638" cy="147638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10546">
            <a:solidFill>
              <a:srgbClr val="D0D7DE"/>
            </a:solidFill>
            <a:prstDash val="dash"/>
          </a:ln>
        </p:spPr>
      </p:sp>
      <p:sp>
        <p:nvSpPr>
          <p:cNvPr id="27" name="svg-rect-35">
            <a:extLst xmlns:a="http://schemas.openxmlformats.org/drawingml/2006/main">
              <a:ext uri="{FF2B5EF4-FFF2-40B4-BE49-F238E27FC236}">
                <a16:creationId xmlns:a16="http://schemas.microsoft.com/office/drawing/2014/main" id="{D821A80F-C7AC-468C-8018-79737AD8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613" y="2638085"/>
            <a:ext cx="928007" cy="1096736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D0D7DE"/>
            </a:solidFill>
            <a:prstDash val="solid"/>
          </a:ln>
        </p:spPr>
      </p:sp>
      <p:sp>
        <p:nvSpPr>
          <p:cNvPr id="28" name="svg-text-36">
            <a:extLst xmlns:a="http://schemas.openxmlformats.org/drawingml/2006/main">
              <a:ext uri="{FF2B5EF4-FFF2-40B4-BE49-F238E27FC236}">
                <a16:creationId xmlns:a16="http://schemas.microsoft.com/office/drawing/2014/main" id="{FF85E8F3-CE95-4E1B-AFB0-D61722D9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1475" y="2724558"/>
            <a:ext cx="736283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30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830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node-c · 6/8</a:t>
            </a:r>
          </a:p>
        </p:txBody>
      </p:sp>
      <p:sp>
        <p:nvSpPr>
          <p:cNvPr id="29" name="svg-rect-38">
            <a:extLst xmlns:a="http://schemas.openxmlformats.org/drawingml/2006/main">
              <a:ext uri="{FF2B5EF4-FFF2-40B4-BE49-F238E27FC236}">
                <a16:creationId xmlns:a16="http://schemas.microsoft.com/office/drawing/2014/main" id="{D9F75F13-4261-437A-8E28-0A2EB8D3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068" y="2975542"/>
            <a:ext cx="147638" cy="14763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vg-rect-39">
            <a:extLst xmlns:a="http://schemas.openxmlformats.org/drawingml/2006/main">
              <a:ext uri="{FF2B5EF4-FFF2-40B4-BE49-F238E27FC236}">
                <a16:creationId xmlns:a16="http://schemas.microsoft.com/office/drawing/2014/main" id="{FA9ADB5B-B201-4506-9557-6DBA95A8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888" y="2975542"/>
            <a:ext cx="147638" cy="14763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vg-rect-40">
            <a:extLst xmlns:a="http://schemas.openxmlformats.org/drawingml/2006/main">
              <a:ext uri="{FF2B5EF4-FFF2-40B4-BE49-F238E27FC236}">
                <a16:creationId xmlns:a16="http://schemas.microsoft.com/office/drawing/2014/main" id="{BC9E24BA-4AB2-4D48-BBB0-F28C7F59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0707" y="2975542"/>
            <a:ext cx="147638" cy="14763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vg-rect-41">
            <a:extLst xmlns:a="http://schemas.openxmlformats.org/drawingml/2006/main">
              <a:ext uri="{FF2B5EF4-FFF2-40B4-BE49-F238E27FC236}">
                <a16:creationId xmlns:a16="http://schemas.microsoft.com/office/drawing/2014/main" id="{1BCA9874-5886-49DD-AAF0-8AAB4600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527" y="2975542"/>
            <a:ext cx="147638" cy="14763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vg-rect-42">
            <a:extLst xmlns:a="http://schemas.openxmlformats.org/drawingml/2006/main">
              <a:ext uri="{FF2B5EF4-FFF2-40B4-BE49-F238E27FC236}">
                <a16:creationId xmlns:a16="http://schemas.microsoft.com/office/drawing/2014/main" id="{D1F568D8-5FDE-45BB-9D24-D94826D4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068" y="3186453"/>
            <a:ext cx="147638" cy="14763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vg-rect-43">
            <a:extLst xmlns:a="http://schemas.openxmlformats.org/drawingml/2006/main">
              <a:ext uri="{FF2B5EF4-FFF2-40B4-BE49-F238E27FC236}">
                <a16:creationId xmlns:a16="http://schemas.microsoft.com/office/drawing/2014/main" id="{2271F239-8ED2-4C7D-AEC5-D83D400F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888" y="3186453"/>
            <a:ext cx="147638" cy="14763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vg-rect-45">
            <a:extLst xmlns:a="http://schemas.openxmlformats.org/drawingml/2006/main">
              <a:ext uri="{FF2B5EF4-FFF2-40B4-BE49-F238E27FC236}">
                <a16:creationId xmlns:a16="http://schemas.microsoft.com/office/drawing/2014/main" id="{B885D052-EE94-4421-8FDA-5659D7D0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0707" y="3186453"/>
            <a:ext cx="147638" cy="147638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10546">
            <a:solidFill>
              <a:srgbClr val="D0D7DE"/>
            </a:solidFill>
            <a:prstDash val="dash"/>
          </a:ln>
        </p:spPr>
      </p:sp>
      <p:sp>
        <p:nvSpPr>
          <p:cNvPr id="36" name="svg-rect-46">
            <a:extLst xmlns:a="http://schemas.openxmlformats.org/drawingml/2006/main">
              <a:ext uri="{FF2B5EF4-FFF2-40B4-BE49-F238E27FC236}">
                <a16:creationId xmlns:a16="http://schemas.microsoft.com/office/drawing/2014/main" id="{704AA553-26E1-4E0D-9B38-6EB502A3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527" y="3186453"/>
            <a:ext cx="147638" cy="147638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10546">
            <a:solidFill>
              <a:srgbClr val="D0D7DE"/>
            </a:solidFill>
            <a:prstDash val="dash"/>
          </a:ln>
        </p:spPr>
      </p:sp>
      <p:sp>
        <p:nvSpPr>
          <p:cNvPr id="37" name="svg-rect-48">
            <a:extLst xmlns:a="http://schemas.openxmlformats.org/drawingml/2006/main">
              <a:ext uri="{FF2B5EF4-FFF2-40B4-BE49-F238E27FC236}">
                <a16:creationId xmlns:a16="http://schemas.microsoft.com/office/drawing/2014/main" id="{786E96B8-1474-46CB-90A5-D055A22C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2348" y="2638085"/>
            <a:ext cx="928007" cy="1096736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D0D7DE"/>
            </a:solidFill>
            <a:prstDash val="solid"/>
          </a:ln>
        </p:spPr>
      </p:sp>
      <p:sp>
        <p:nvSpPr>
          <p:cNvPr id="38" name="svg-text-49">
            <a:extLst xmlns:a="http://schemas.openxmlformats.org/drawingml/2006/main">
              <a:ext uri="{FF2B5EF4-FFF2-40B4-BE49-F238E27FC236}">
                <a16:creationId xmlns:a16="http://schemas.microsoft.com/office/drawing/2014/main" id="{EEBBF320-A39E-4035-BF1C-18B2601C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8211" y="2724558"/>
            <a:ext cx="736283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30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830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node-d · 6/8</a:t>
            </a:r>
          </a:p>
        </p:txBody>
      </p:sp>
      <p:sp>
        <p:nvSpPr>
          <p:cNvPr id="39" name="svg-rect-51">
            <a:extLst xmlns:a="http://schemas.openxmlformats.org/drawingml/2006/main">
              <a:ext uri="{FF2B5EF4-FFF2-40B4-BE49-F238E27FC236}">
                <a16:creationId xmlns:a16="http://schemas.microsoft.com/office/drawing/2014/main" id="{550491A8-7D83-4198-9319-EB7E3D54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804" y="2975542"/>
            <a:ext cx="147638" cy="14763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vg-rect-52">
            <a:extLst xmlns:a="http://schemas.openxmlformats.org/drawingml/2006/main">
              <a:ext uri="{FF2B5EF4-FFF2-40B4-BE49-F238E27FC236}">
                <a16:creationId xmlns:a16="http://schemas.microsoft.com/office/drawing/2014/main" id="{E1D40107-6478-426F-82F2-76216DD1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623" y="2975542"/>
            <a:ext cx="147638" cy="14763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vg-rect-53">
            <a:extLst xmlns:a="http://schemas.openxmlformats.org/drawingml/2006/main">
              <a:ext uri="{FF2B5EF4-FFF2-40B4-BE49-F238E27FC236}">
                <a16:creationId xmlns:a16="http://schemas.microsoft.com/office/drawing/2014/main" id="{076B3EEC-04C2-4918-A7C7-C731D422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7443" y="2975542"/>
            <a:ext cx="147638" cy="14763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vg-rect-54">
            <a:extLst xmlns:a="http://schemas.openxmlformats.org/drawingml/2006/main">
              <a:ext uri="{FF2B5EF4-FFF2-40B4-BE49-F238E27FC236}">
                <a16:creationId xmlns:a16="http://schemas.microsoft.com/office/drawing/2014/main" id="{42D37959-888C-4B27-A6DB-13E2195A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7263" y="2975542"/>
            <a:ext cx="147638" cy="14763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vg-rect-55">
            <a:extLst xmlns:a="http://schemas.openxmlformats.org/drawingml/2006/main">
              <a:ext uri="{FF2B5EF4-FFF2-40B4-BE49-F238E27FC236}">
                <a16:creationId xmlns:a16="http://schemas.microsoft.com/office/drawing/2014/main" id="{0A7DC443-1EBD-4862-ADFD-A59B63F8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804" y="3186453"/>
            <a:ext cx="147638" cy="14763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vg-rect-56">
            <a:extLst xmlns:a="http://schemas.openxmlformats.org/drawingml/2006/main">
              <a:ext uri="{FF2B5EF4-FFF2-40B4-BE49-F238E27FC236}">
                <a16:creationId xmlns:a16="http://schemas.microsoft.com/office/drawing/2014/main" id="{01A52705-575E-41CF-8272-26DEAB80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623" y="3186453"/>
            <a:ext cx="147638" cy="14763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vg-rect-58">
            <a:extLst xmlns:a="http://schemas.openxmlformats.org/drawingml/2006/main">
              <a:ext uri="{FF2B5EF4-FFF2-40B4-BE49-F238E27FC236}">
                <a16:creationId xmlns:a16="http://schemas.microsoft.com/office/drawing/2014/main" id="{CF393D40-BCCB-411B-87E2-CB0883F2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7443" y="3186453"/>
            <a:ext cx="147638" cy="147638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10546">
            <a:solidFill>
              <a:srgbClr val="D0D7DE"/>
            </a:solidFill>
            <a:prstDash val="dash"/>
          </a:ln>
        </p:spPr>
      </p:sp>
      <p:sp>
        <p:nvSpPr>
          <p:cNvPr id="46" name="svg-rect-59">
            <a:extLst xmlns:a="http://schemas.openxmlformats.org/drawingml/2006/main">
              <a:ext uri="{FF2B5EF4-FFF2-40B4-BE49-F238E27FC236}">
                <a16:creationId xmlns:a16="http://schemas.microsoft.com/office/drawing/2014/main" id="{0F739CB8-9BFD-4BA9-B74B-8FD64211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7263" y="3186453"/>
            <a:ext cx="147638" cy="147638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10546">
            <a:solidFill>
              <a:srgbClr val="D0D7DE"/>
            </a:solidFill>
            <a:prstDash val="dash"/>
          </a:ln>
        </p:spPr>
      </p:sp>
      <p:sp>
        <p:nvSpPr>
          <p:cNvPr id="47" name="svg-rect-60">
            <a:extLst xmlns:a="http://schemas.openxmlformats.org/drawingml/2006/main">
              <a:ext uri="{FF2B5EF4-FFF2-40B4-BE49-F238E27FC236}">
                <a16:creationId xmlns:a16="http://schemas.microsoft.com/office/drawing/2014/main" id="{37E1EA7C-73EA-4416-B069-7C731778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141" y="3987913"/>
            <a:ext cx="3332389" cy="738188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1F0"/>
          </a:solidFill>
          <a:ln xmlns:a="http://schemas.openxmlformats.org/drawingml/2006/main" w="10546">
            <a:solidFill>
              <a:srgbClr val="E03131"/>
            </a:solidFill>
            <a:prstDash val="solid"/>
          </a:ln>
        </p:spPr>
      </p:sp>
      <p:sp>
        <p:nvSpPr>
          <p:cNvPr id="48" name="svg-text-61">
            <a:extLst xmlns:a="http://schemas.openxmlformats.org/drawingml/2006/main">
              <a:ext uri="{FF2B5EF4-FFF2-40B4-BE49-F238E27FC236}">
                <a16:creationId xmlns:a16="http://schemas.microsoft.com/office/drawing/2014/main" id="{E5EC734B-535C-4D5E-BA67-D48C6DC1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052" y="4083245"/>
            <a:ext cx="2208439" cy="183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96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996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执行方式：在碎片达到阈值时主动整理</a:t>
            </a:r>
          </a:p>
        </p:txBody>
      </p:sp>
      <p:sp>
        <p:nvSpPr>
          <p:cNvPr id="49" name="svg-text-62">
            <a:extLst xmlns:a="http://schemas.openxmlformats.org/drawingml/2006/main">
              <a:ext uri="{FF2B5EF4-FFF2-40B4-BE49-F238E27FC236}">
                <a16:creationId xmlns:a16="http://schemas.microsoft.com/office/drawing/2014/main" id="{3D6419FE-8056-4D57-8550-0B249F8B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052" y="4316934"/>
            <a:ext cx="2166257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避免资源布局持续分散，保持存量资源可调度</a:t>
            </a:r>
          </a:p>
        </p:txBody>
      </p:sp>
      <p:sp>
        <p:nvSpPr>
          <p:cNvPr id="50" name="svg-line-63-1">
            <a:extLst xmlns:a="http://schemas.openxmlformats.org/drawingml/2006/main">
              <a:ext uri="{FF2B5EF4-FFF2-40B4-BE49-F238E27FC236}">
                <a16:creationId xmlns:a16="http://schemas.microsoft.com/office/drawing/2014/main" id="{37C3D8B9-3C1F-46A2-A01D-D2C32D1B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39986" y="4357007"/>
            <a:ext cx="316366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091">
            <a:solidFill>
              <a:srgbClr val="1C7ED6"/>
            </a:solidFill>
            <a:prstDash val="solid"/>
          </a:ln>
        </p:spPr>
      </p:sp>
      <p:sp>
        <p:nvSpPr>
          <p:cNvPr id="51" name="svg-arrow-63">
            <a:extLst xmlns:a="http://schemas.openxmlformats.org/drawingml/2006/main">
              <a:ext uri="{FF2B5EF4-FFF2-40B4-BE49-F238E27FC236}">
                <a16:creationId xmlns:a16="http://schemas.microsoft.com/office/drawing/2014/main" id="{13FD97F8-141B-40D3-BB40-C84D3C49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511533" y="4312189"/>
            <a:ext cx="89637" cy="896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4763">
            <a:solidFill>
              <a:srgbClr val="1C7ED6"/>
            </a:solidFill>
            <a:prstDash val="solid"/>
          </a:ln>
        </p:spPr>
      </p:sp>
      <p:sp>
        <p:nvSpPr>
          <p:cNvPr id="52" name="svg-rect-64">
            <a:extLst xmlns:a="http://schemas.openxmlformats.org/drawingml/2006/main">
              <a:ext uri="{FF2B5EF4-FFF2-40B4-BE49-F238E27FC236}">
                <a16:creationId xmlns:a16="http://schemas.microsoft.com/office/drawing/2014/main" id="{CD628AB9-A0B6-4527-9F1B-AD58BA6D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2898" y="3987913"/>
            <a:ext cx="970189" cy="738188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F9F1"/>
          </a:solidFill>
          <a:ln xmlns:a="http://schemas.openxmlformats.org/drawingml/2006/main" w="10546">
            <a:solidFill>
              <a:srgbClr val="2F9E44"/>
            </a:solidFill>
            <a:prstDash val="solid"/>
          </a:ln>
        </p:spPr>
      </p:sp>
      <p:sp>
        <p:nvSpPr>
          <p:cNvPr id="53" name="svg-text-65">
            <a:extLst xmlns:a="http://schemas.openxmlformats.org/drawingml/2006/main">
              <a:ext uri="{FF2B5EF4-FFF2-40B4-BE49-F238E27FC236}">
                <a16:creationId xmlns:a16="http://schemas.microsoft.com/office/drawing/2014/main" id="{A8BCFCEE-4F18-488B-BB42-6FEDF7CD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9144" y="4090627"/>
            <a:ext cx="357698" cy="14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9" b="1">
                <a:solidFill>
                  <a:srgbClr val="2F9E44"/>
                </a:solidFill>
                <a:latin typeface="Arial"/>
                <a:ea typeface="Arial"/>
                <a:cs typeface="Arial"/>
              </a:defRPr>
            </a:pPr>
            <a:r>
              <a:rPr sz="789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整理后</a:t>
            </a:r>
          </a:p>
        </p:txBody>
      </p:sp>
      <p:sp>
        <p:nvSpPr>
          <p:cNvPr id="54" name="svg-text-66">
            <a:extLst xmlns:a="http://schemas.openxmlformats.org/drawingml/2006/main">
              <a:ext uri="{FF2B5EF4-FFF2-40B4-BE49-F238E27FC236}">
                <a16:creationId xmlns:a16="http://schemas.microsoft.com/office/drawing/2014/main" id="{B6406B30-5717-4E6F-8762-DB8F5E0D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053" y="4290992"/>
            <a:ext cx="457880" cy="14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9" b="0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789" b="0">
                <a:solidFill>
                  <a:srgbClr val="1F2328"/>
                </a:solidFill>
                <a:latin typeface="Arial"/>
                <a:ea typeface="Arial"/>
                <a:cs typeface="Arial"/>
              </a:rPr>
              <a:t>完整节点</a:t>
            </a:r>
          </a:p>
        </p:txBody>
      </p:sp>
      <p:sp>
        <p:nvSpPr>
          <p:cNvPr id="55" name="svg-text-67">
            <a:extLst xmlns:a="http://schemas.openxmlformats.org/drawingml/2006/main">
              <a:ext uri="{FF2B5EF4-FFF2-40B4-BE49-F238E27FC236}">
                <a16:creationId xmlns:a16="http://schemas.microsoft.com/office/drawing/2014/main" id="{B1D7F28C-FA30-47AD-9051-A73B5757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053" y="4480812"/>
            <a:ext cx="457880" cy="14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9" b="0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789" b="0">
                <a:solidFill>
                  <a:srgbClr val="1F2328"/>
                </a:solidFill>
                <a:latin typeface="Arial"/>
                <a:ea typeface="Arial"/>
                <a:cs typeface="Arial"/>
              </a:rPr>
              <a:t>数量增加</a:t>
            </a:r>
          </a:p>
        </p:txBody>
      </p:sp>
      <p:sp>
        <p:nvSpPr>
          <p:cNvPr id="56" name="svg-rect-68">
            <a:extLst xmlns:a="http://schemas.openxmlformats.org/drawingml/2006/main">
              <a:ext uri="{FF2B5EF4-FFF2-40B4-BE49-F238E27FC236}">
                <a16:creationId xmlns:a16="http://schemas.microsoft.com/office/drawing/2014/main" id="{1B648EE1-B7EA-4DAF-B98F-9549ECE2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820" y="1836624"/>
            <a:ext cx="5378223" cy="3585482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0546">
            <a:solidFill>
              <a:srgbClr val="D0D7DE"/>
            </a:solidFill>
            <a:prstDash val="solid"/>
          </a:ln>
        </p:spPr>
      </p:sp>
      <p:sp>
        <p:nvSpPr>
          <p:cNvPr id="57" name="svg-text-69">
            <a:extLst xmlns:a="http://schemas.openxmlformats.org/drawingml/2006/main">
              <a:ext uri="{FF2B5EF4-FFF2-40B4-BE49-F238E27FC236}">
                <a16:creationId xmlns:a16="http://schemas.microsoft.com/office/drawing/2014/main" id="{A4A28D7C-A3B9-455E-A3E0-2503E453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7821" y="1993542"/>
            <a:ext cx="2153603" cy="214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任务准备 · 大规格训练即将提交</a:t>
            </a:r>
          </a:p>
        </p:txBody>
      </p:sp>
      <p:sp>
        <p:nvSpPr>
          <p:cNvPr id="58" name="svg-text-70">
            <a:extLst xmlns:a="http://schemas.openxmlformats.org/drawingml/2006/main">
              <a:ext uri="{FF2B5EF4-FFF2-40B4-BE49-F238E27FC236}">
                <a16:creationId xmlns:a16="http://schemas.microsoft.com/office/drawing/2014/main" id="{642E7E92-F7D7-4060-A566-AA89B446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7821" y="2271100"/>
            <a:ext cx="3558268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提交前检查 Worker 数量和单 Worker 卡数，确认当前资源布局能否满足。</a:t>
            </a:r>
          </a:p>
        </p:txBody>
      </p:sp>
      <p:sp>
        <p:nvSpPr>
          <p:cNvPr id="59" name="svg-rect-73">
            <a:extLst xmlns:a="http://schemas.openxmlformats.org/drawingml/2006/main">
              <a:ext uri="{FF2B5EF4-FFF2-40B4-BE49-F238E27FC236}">
                <a16:creationId xmlns:a16="http://schemas.microsoft.com/office/drawing/2014/main" id="{FC8BEAAF-1170-4809-AA86-345BC519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004" y="2638085"/>
            <a:ext cx="970189" cy="1096736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D0D7DE"/>
            </a:solidFill>
            <a:prstDash val="solid"/>
          </a:ln>
        </p:spPr>
      </p:sp>
      <p:sp>
        <p:nvSpPr>
          <p:cNvPr id="60" name="svg-text-74">
            <a:extLst xmlns:a="http://schemas.openxmlformats.org/drawingml/2006/main">
              <a:ext uri="{FF2B5EF4-FFF2-40B4-BE49-F238E27FC236}">
                <a16:creationId xmlns:a16="http://schemas.microsoft.com/office/drawing/2014/main" id="{63D42F91-F566-436C-80CB-3913F86A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957" y="2724558"/>
            <a:ext cx="736283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30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830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node-a · 2/8</a:t>
            </a:r>
          </a:p>
        </p:txBody>
      </p:sp>
      <p:sp>
        <p:nvSpPr>
          <p:cNvPr id="61" name="svg-rect-75">
            <a:extLst xmlns:a="http://schemas.openxmlformats.org/drawingml/2006/main">
              <a:ext uri="{FF2B5EF4-FFF2-40B4-BE49-F238E27FC236}">
                <a16:creationId xmlns:a16="http://schemas.microsoft.com/office/drawing/2014/main" id="{2995762A-BCC9-4326-A675-2D06210E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07179"/>
            <a:ext cx="316366" cy="210911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svg-text-76">
            <a:extLst xmlns:a="http://schemas.openxmlformats.org/drawingml/2006/main">
              <a:ext uri="{FF2B5EF4-FFF2-40B4-BE49-F238E27FC236}">
                <a16:creationId xmlns:a16="http://schemas.microsoft.com/office/drawing/2014/main" id="{E7EF5A5A-1B9E-4B31-AA26-A4244C1A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074" y="3063703"/>
            <a:ext cx="207318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64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64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Pod</a:t>
            </a:r>
          </a:p>
        </p:txBody>
      </p:sp>
      <p:sp>
        <p:nvSpPr>
          <p:cNvPr id="63" name="svg-rect-77">
            <a:extLst xmlns:a="http://schemas.openxmlformats.org/drawingml/2006/main">
              <a:ext uri="{FF2B5EF4-FFF2-40B4-BE49-F238E27FC236}">
                <a16:creationId xmlns:a16="http://schemas.microsoft.com/office/drawing/2014/main" id="{C7343E8D-D64D-486F-A498-8EF74588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6189" y="3007179"/>
            <a:ext cx="316366" cy="210911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svg-text-78">
            <a:extLst xmlns:a="http://schemas.openxmlformats.org/drawingml/2006/main">
              <a:ext uri="{FF2B5EF4-FFF2-40B4-BE49-F238E27FC236}">
                <a16:creationId xmlns:a16="http://schemas.microsoft.com/office/drawing/2014/main" id="{8A839269-4C2F-4D76-A096-103EEC29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0713" y="3063703"/>
            <a:ext cx="207318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64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64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Pod</a:t>
            </a:r>
          </a:p>
        </p:txBody>
      </p:sp>
      <p:sp>
        <p:nvSpPr>
          <p:cNvPr id="65" name="svg-rect-80">
            <a:extLst xmlns:a="http://schemas.openxmlformats.org/drawingml/2006/main">
              <a:ext uri="{FF2B5EF4-FFF2-40B4-BE49-F238E27FC236}">
                <a16:creationId xmlns:a16="http://schemas.microsoft.com/office/drawing/2014/main" id="{CE953519-6A9B-4818-B1B9-99890170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8921" y="2638085"/>
            <a:ext cx="970189" cy="1096736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D0D7DE"/>
            </a:solidFill>
            <a:prstDash val="solid"/>
          </a:ln>
        </p:spPr>
      </p:sp>
      <p:sp>
        <p:nvSpPr>
          <p:cNvPr id="66" name="svg-text-81">
            <a:extLst xmlns:a="http://schemas.openxmlformats.org/drawingml/2006/main">
              <a:ext uri="{FF2B5EF4-FFF2-40B4-BE49-F238E27FC236}">
                <a16:creationId xmlns:a16="http://schemas.microsoft.com/office/drawing/2014/main" id="{4A00107E-67F5-4EED-ABC9-612ED69D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5875" y="2724558"/>
            <a:ext cx="736283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30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830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node-b · 1/8</a:t>
            </a:r>
          </a:p>
        </p:txBody>
      </p:sp>
      <p:sp>
        <p:nvSpPr>
          <p:cNvPr id="67" name="svg-rect-82">
            <a:extLst xmlns:a="http://schemas.openxmlformats.org/drawingml/2006/main">
              <a:ext uri="{FF2B5EF4-FFF2-40B4-BE49-F238E27FC236}">
                <a16:creationId xmlns:a16="http://schemas.microsoft.com/office/drawing/2014/main" id="{D4EB2CDD-EC15-4E91-9208-7CE8970B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468" y="3007179"/>
            <a:ext cx="316366" cy="210911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svg-text-83">
            <a:extLst xmlns:a="http://schemas.openxmlformats.org/drawingml/2006/main">
              <a:ext uri="{FF2B5EF4-FFF2-40B4-BE49-F238E27FC236}">
                <a16:creationId xmlns:a16="http://schemas.microsoft.com/office/drawing/2014/main" id="{F6247202-8143-4BE6-96B4-BB6AC9D6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992" y="3063703"/>
            <a:ext cx="207318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64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64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Pod</a:t>
            </a:r>
          </a:p>
        </p:txBody>
      </p:sp>
      <p:sp>
        <p:nvSpPr>
          <p:cNvPr id="69" name="svg-rect-85">
            <a:extLst xmlns:a="http://schemas.openxmlformats.org/drawingml/2006/main">
              <a:ext uri="{FF2B5EF4-FFF2-40B4-BE49-F238E27FC236}">
                <a16:creationId xmlns:a16="http://schemas.microsoft.com/office/drawing/2014/main" id="{E5D54D56-CC3D-4A10-A492-B843D10E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7839" y="2638085"/>
            <a:ext cx="970189" cy="1096736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D0D7DE"/>
            </a:solidFill>
            <a:prstDash val="solid"/>
          </a:ln>
        </p:spPr>
      </p:sp>
      <p:sp>
        <p:nvSpPr>
          <p:cNvPr id="70" name="svg-text-86">
            <a:extLst xmlns:a="http://schemas.openxmlformats.org/drawingml/2006/main">
              <a:ext uri="{FF2B5EF4-FFF2-40B4-BE49-F238E27FC236}">
                <a16:creationId xmlns:a16="http://schemas.microsoft.com/office/drawing/2014/main" id="{DA25AE74-C2AB-4D0E-8CFB-9731F865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4793" y="2724558"/>
            <a:ext cx="736283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30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830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node-c · 2/8</a:t>
            </a:r>
          </a:p>
        </p:txBody>
      </p:sp>
      <p:sp>
        <p:nvSpPr>
          <p:cNvPr id="71" name="svg-rect-87">
            <a:extLst xmlns:a="http://schemas.openxmlformats.org/drawingml/2006/main">
              <a:ext uri="{FF2B5EF4-FFF2-40B4-BE49-F238E27FC236}">
                <a16:creationId xmlns:a16="http://schemas.microsoft.com/office/drawing/2014/main" id="{A581F02A-4CC3-42E2-83D3-EDBE5F46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4386" y="3007179"/>
            <a:ext cx="316366" cy="210911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svg-text-88">
            <a:extLst xmlns:a="http://schemas.openxmlformats.org/drawingml/2006/main">
              <a:ext uri="{FF2B5EF4-FFF2-40B4-BE49-F238E27FC236}">
                <a16:creationId xmlns:a16="http://schemas.microsoft.com/office/drawing/2014/main" id="{8DE6A848-265C-4E10-9CAE-FD8EEE38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8910" y="3063703"/>
            <a:ext cx="207318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64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64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Pod</a:t>
            </a:r>
          </a:p>
        </p:txBody>
      </p:sp>
      <p:sp>
        <p:nvSpPr>
          <p:cNvPr id="73" name="svg-rect-89">
            <a:extLst xmlns:a="http://schemas.openxmlformats.org/drawingml/2006/main">
              <a:ext uri="{FF2B5EF4-FFF2-40B4-BE49-F238E27FC236}">
                <a16:creationId xmlns:a16="http://schemas.microsoft.com/office/drawing/2014/main" id="{5CBB90BF-1F29-4F9C-B323-98489DA6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007179"/>
            <a:ext cx="316366" cy="210911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svg-text-90">
            <a:extLst xmlns:a="http://schemas.openxmlformats.org/drawingml/2006/main">
              <a:ext uri="{FF2B5EF4-FFF2-40B4-BE49-F238E27FC236}">
                <a16:creationId xmlns:a16="http://schemas.microsoft.com/office/drawing/2014/main" id="{02E40348-2FC0-4972-9546-DB7DF8A5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549" y="3063703"/>
            <a:ext cx="207318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64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64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Pod</a:t>
            </a:r>
          </a:p>
        </p:txBody>
      </p:sp>
      <p:sp>
        <p:nvSpPr>
          <p:cNvPr id="75" name="svg-rect-92">
            <a:extLst xmlns:a="http://schemas.openxmlformats.org/drawingml/2006/main">
              <a:ext uri="{FF2B5EF4-FFF2-40B4-BE49-F238E27FC236}">
                <a16:creationId xmlns:a16="http://schemas.microsoft.com/office/drawing/2014/main" id="{C1AAD6BE-A04D-4DA9-9683-CB1FB1EA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6757" y="2638085"/>
            <a:ext cx="970189" cy="1096736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D0D7DE"/>
            </a:solidFill>
            <a:prstDash val="solid"/>
          </a:ln>
        </p:spPr>
      </p:sp>
      <p:sp>
        <p:nvSpPr>
          <p:cNvPr id="76" name="svg-text-93">
            <a:extLst xmlns:a="http://schemas.openxmlformats.org/drawingml/2006/main">
              <a:ext uri="{FF2B5EF4-FFF2-40B4-BE49-F238E27FC236}">
                <a16:creationId xmlns:a16="http://schemas.microsoft.com/office/drawing/2014/main" id="{5B16B9B1-9131-48F5-BD47-46C6276C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3711" y="2724558"/>
            <a:ext cx="736283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30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830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node-d · 1/8</a:t>
            </a:r>
          </a:p>
        </p:txBody>
      </p:sp>
      <p:sp>
        <p:nvSpPr>
          <p:cNvPr id="77" name="svg-rect-94">
            <a:extLst xmlns:a="http://schemas.openxmlformats.org/drawingml/2006/main">
              <a:ext uri="{FF2B5EF4-FFF2-40B4-BE49-F238E27FC236}">
                <a16:creationId xmlns:a16="http://schemas.microsoft.com/office/drawing/2014/main" id="{1330F678-51C9-40A5-87A2-EDBDCACA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3304" y="3007179"/>
            <a:ext cx="316366" cy="210911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svg-text-95">
            <a:extLst xmlns:a="http://schemas.openxmlformats.org/drawingml/2006/main">
              <a:ext uri="{FF2B5EF4-FFF2-40B4-BE49-F238E27FC236}">
                <a16:creationId xmlns:a16="http://schemas.microsoft.com/office/drawing/2014/main" id="{11E1CA02-4AFC-47FE-8553-5BEBD88B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827" y="3063703"/>
            <a:ext cx="207318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64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64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Pod</a:t>
            </a:r>
          </a:p>
        </p:txBody>
      </p:sp>
      <p:sp>
        <p:nvSpPr>
          <p:cNvPr id="79" name="svg-rect-96">
            <a:extLst xmlns:a="http://schemas.openxmlformats.org/drawingml/2006/main">
              <a:ext uri="{FF2B5EF4-FFF2-40B4-BE49-F238E27FC236}">
                <a16:creationId xmlns:a16="http://schemas.microsoft.com/office/drawing/2014/main" id="{BFE030E1-04B7-4279-B30F-807ABFE3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004" y="3987913"/>
            <a:ext cx="3226934" cy="738188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0546">
            <a:solidFill>
              <a:srgbClr val="E8890C"/>
            </a:solidFill>
            <a:prstDash val="solid"/>
          </a:ln>
        </p:spPr>
      </p:sp>
      <p:sp>
        <p:nvSpPr>
          <p:cNvPr id="80" name="svg-text-97">
            <a:extLst xmlns:a="http://schemas.openxmlformats.org/drawingml/2006/main">
              <a:ext uri="{FF2B5EF4-FFF2-40B4-BE49-F238E27FC236}">
                <a16:creationId xmlns:a16="http://schemas.microsoft.com/office/drawing/2014/main" id="{E3CD0378-4C34-4EA0-B1B1-C5209663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914" y="4083245"/>
            <a:ext cx="2334986" cy="183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96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996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容量准备：先恢复完整节点，再提交任务</a:t>
            </a:r>
          </a:p>
        </p:txBody>
      </p:sp>
      <p:sp>
        <p:nvSpPr>
          <p:cNvPr id="81" name="svg-text-98">
            <a:extLst xmlns:a="http://schemas.openxmlformats.org/drawingml/2006/main">
              <a:ext uri="{FF2B5EF4-FFF2-40B4-BE49-F238E27FC236}">
                <a16:creationId xmlns:a16="http://schemas.microsoft.com/office/drawing/2014/main" id="{E5D1D118-9158-476F-BDD8-64332A5C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914" y="4316934"/>
            <a:ext cx="2482623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降低任务进入队列后因资源分散而长时间等待的概率</a:t>
            </a:r>
          </a:p>
        </p:txBody>
      </p:sp>
      <p:sp>
        <p:nvSpPr>
          <p:cNvPr id="82" name="svg-line-99-1">
            <a:extLst xmlns:a="http://schemas.openxmlformats.org/drawingml/2006/main">
              <a:ext uri="{FF2B5EF4-FFF2-40B4-BE49-F238E27FC236}">
                <a16:creationId xmlns:a16="http://schemas.microsoft.com/office/drawing/2014/main" id="{D1F3D8A1-A789-44DA-9782-312EF19A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92393" y="4357007"/>
            <a:ext cx="316366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091">
            <a:solidFill>
              <a:srgbClr val="1C7ED6"/>
            </a:solidFill>
            <a:prstDash val="solid"/>
          </a:ln>
        </p:spPr>
      </p:sp>
      <p:sp>
        <p:nvSpPr>
          <p:cNvPr id="83" name="svg-arrow-99">
            <a:extLst xmlns:a="http://schemas.openxmlformats.org/drawingml/2006/main">
              <a:ext uri="{FF2B5EF4-FFF2-40B4-BE49-F238E27FC236}">
                <a16:creationId xmlns:a16="http://schemas.microsoft.com/office/drawing/2014/main" id="{29FCD9E6-4A72-4CB2-82BD-A0B409BF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163940" y="4312189"/>
            <a:ext cx="89637" cy="896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4763">
            <a:solidFill>
              <a:srgbClr val="1C7ED6"/>
            </a:solidFill>
            <a:prstDash val="solid"/>
          </a:ln>
        </p:spPr>
      </p:sp>
      <p:sp>
        <p:nvSpPr>
          <p:cNvPr id="84" name="svg-rect-100">
            <a:extLst xmlns:a="http://schemas.openxmlformats.org/drawingml/2006/main">
              <a:ext uri="{FF2B5EF4-FFF2-40B4-BE49-F238E27FC236}">
                <a16:creationId xmlns:a16="http://schemas.microsoft.com/office/drawing/2014/main" id="{850EEC04-FE9E-4113-A194-F20D0721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5305" y="3987913"/>
            <a:ext cx="1075645" cy="738188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F9F1"/>
          </a:solidFill>
          <a:ln xmlns:a="http://schemas.openxmlformats.org/drawingml/2006/main" w="10546">
            <a:solidFill>
              <a:srgbClr val="2F9E44"/>
            </a:solidFill>
            <a:prstDash val="solid"/>
          </a:ln>
        </p:spPr>
      </p:sp>
      <p:sp>
        <p:nvSpPr>
          <p:cNvPr id="85" name="svg-text-101">
            <a:extLst xmlns:a="http://schemas.openxmlformats.org/drawingml/2006/main">
              <a:ext uri="{FF2B5EF4-FFF2-40B4-BE49-F238E27FC236}">
                <a16:creationId xmlns:a16="http://schemas.microsoft.com/office/drawing/2014/main" id="{830BBCF2-C353-4BC8-BBEF-F5016116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279" y="4090627"/>
            <a:ext cx="357698" cy="14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9" b="1">
                <a:solidFill>
                  <a:srgbClr val="2F9E44"/>
                </a:solidFill>
                <a:latin typeface="Arial"/>
                <a:ea typeface="Arial"/>
                <a:cs typeface="Arial"/>
              </a:defRPr>
            </a:pPr>
            <a:r>
              <a:rPr sz="789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整理后</a:t>
            </a:r>
          </a:p>
        </p:txBody>
      </p:sp>
      <p:sp>
        <p:nvSpPr>
          <p:cNvPr id="86" name="svg-text-102">
            <a:extLst xmlns:a="http://schemas.openxmlformats.org/drawingml/2006/main">
              <a:ext uri="{FF2B5EF4-FFF2-40B4-BE49-F238E27FC236}">
                <a16:creationId xmlns:a16="http://schemas.microsoft.com/office/drawing/2014/main" id="{AE22A6B2-6B06-4EC2-9BC1-EC625F51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4188" y="4290992"/>
            <a:ext cx="457880" cy="14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9" b="0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789" b="0">
                <a:solidFill>
                  <a:srgbClr val="1F2328"/>
                </a:solidFill>
                <a:latin typeface="Arial"/>
                <a:ea typeface="Arial"/>
                <a:cs typeface="Arial"/>
              </a:rPr>
              <a:t>容量就绪</a:t>
            </a:r>
          </a:p>
        </p:txBody>
      </p:sp>
      <p:sp>
        <p:nvSpPr>
          <p:cNvPr id="87" name="svg-text-103">
            <a:extLst xmlns:a="http://schemas.openxmlformats.org/drawingml/2006/main">
              <a:ext uri="{FF2B5EF4-FFF2-40B4-BE49-F238E27FC236}">
                <a16:creationId xmlns:a16="http://schemas.microsoft.com/office/drawing/2014/main" id="{C9D73382-17EF-4C6A-BE27-5F1DC859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4096" y="4480812"/>
            <a:ext cx="558063" cy="14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9" b="0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789" b="0">
                <a:solidFill>
                  <a:srgbClr val="1F2328"/>
                </a:solidFill>
                <a:latin typeface="Arial"/>
                <a:ea typeface="Arial"/>
                <a:cs typeface="Arial"/>
              </a:rPr>
              <a:t>再提交任务</a:t>
            </a:r>
          </a:p>
        </p:txBody>
      </p:sp>
      <p:sp>
        <p:nvSpPr>
          <p:cNvPr id="88" name="svg-text-104">
            <a:extLst xmlns:a="http://schemas.openxmlformats.org/drawingml/2006/main">
              <a:ext uri="{FF2B5EF4-FFF2-40B4-BE49-F238E27FC236}">
                <a16:creationId xmlns:a16="http://schemas.microsoft.com/office/drawing/2014/main" id="{CFA032F5-BFED-4C23-A726-33B12F60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687" y="5576704"/>
            <a:ext cx="3870627" cy="160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72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72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Repack 当前由用户主动发起，不会根据 Pending 作业自动触发或预留容量。</a:t>
            </a:r>
          </a:p>
        </p:txBody>
      </p:sp>
    </p:spTree>
    <p:extLst>
      <p:ext uri="{BB962C8B-B14F-4D97-AF65-F5344CB8AC3E}">
        <p14:creationId xmlns:p14="http://schemas.microsoft.com/office/powerpoint/2010/main" val="12979264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svg-rect-1">
            <a:extLst xmlns:a="http://schemas.openxmlformats.org/drawingml/2006/main">
              <a:ext uri="{FF2B5EF4-FFF2-40B4-BE49-F238E27FC236}">
                <a16:creationId xmlns:a16="http://schemas.microsoft.com/office/drawing/2014/main" id="{C87CDA1E-6F77-4063-BB2F-662D7EBF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14438"/>
            <a:ext cx="11811000" cy="442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vg-text-2">
            <a:extLst xmlns:a="http://schemas.openxmlformats.org/drawingml/2006/main">
              <a:ext uri="{FF2B5EF4-FFF2-40B4-BE49-F238E27FC236}">
                <a16:creationId xmlns:a16="http://schemas.microsoft.com/office/drawing/2014/main" id="{7AED43FC-ECCB-49B9-91BB-A146AB0F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57" y="1358279"/>
            <a:ext cx="4359729" cy="259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12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412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碎片整理的价值：形成能够满足整节点请求的空闲容量</a:t>
            </a:r>
          </a:p>
        </p:txBody>
      </p:sp>
      <p:sp>
        <p:nvSpPr>
          <p:cNvPr id="3" name="svg-text-3">
            <a:extLst xmlns:a="http://schemas.openxmlformats.org/drawingml/2006/main">
              <a:ext uri="{FF2B5EF4-FFF2-40B4-BE49-F238E27FC236}">
                <a16:creationId xmlns:a16="http://schemas.microsoft.com/office/drawing/2014/main" id="{6ABCCA4C-2FD5-4677-930A-B9CA9887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57" y="1679707"/>
            <a:ext cx="5135669" cy="168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3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913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Repack 不创造新资源；它通过调整资源布局，释放训练和推理任务能够直接使用的完整节点容量。</a:t>
            </a:r>
          </a:p>
        </p:txBody>
      </p:sp>
      <p:sp>
        <p:nvSpPr>
          <p:cNvPr id="4" name="svg-rect-4">
            <a:extLst xmlns:a="http://schemas.openxmlformats.org/drawingml/2006/main">
              <a:ext uri="{FF2B5EF4-FFF2-40B4-BE49-F238E27FC236}">
                <a16:creationId xmlns:a16="http://schemas.microsoft.com/office/drawing/2014/main" id="{85624979-61BB-4A51-B6FE-A10E2423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139" y="2163536"/>
            <a:ext cx="4429125" cy="2509838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0546">
            <a:solidFill>
              <a:srgbClr val="D0D7DE"/>
            </a:solidFill>
            <a:prstDash val="solid"/>
          </a:ln>
        </p:spPr>
      </p:sp>
      <p:sp>
        <p:nvSpPr>
          <p:cNvPr id="5" name="svg-text-5">
            <a:extLst xmlns:a="http://schemas.openxmlformats.org/drawingml/2006/main">
              <a:ext uri="{FF2B5EF4-FFF2-40B4-BE49-F238E27FC236}">
                <a16:creationId xmlns:a16="http://schemas.microsoft.com/office/drawing/2014/main" id="{4854244F-B561-41C4-AD19-6A74653C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1842"/>
            <a:ext cx="1768058" cy="198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79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079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整理前 · 4 个节点各空 2 卡</a:t>
            </a:r>
          </a:p>
        </p:txBody>
      </p:sp>
      <p:sp>
        <p:nvSpPr>
          <p:cNvPr id="6" name="svg-text-6">
            <a:extLst xmlns:a="http://schemas.openxmlformats.org/drawingml/2006/main">
              <a:ext uri="{FF2B5EF4-FFF2-40B4-BE49-F238E27FC236}">
                <a16:creationId xmlns:a16="http://schemas.microsoft.com/office/drawing/2014/main" id="{F9F9A5D8-3672-4E40-BC0D-8749A397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87466"/>
            <a:ext cx="2155712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总空闲 8 GPU，但没有节点的 GPU 全部空闲</a:t>
            </a:r>
          </a:p>
        </p:txBody>
      </p:sp>
      <p:sp>
        <p:nvSpPr>
          <p:cNvPr id="7" name="svg-text-9">
            <a:extLst xmlns:a="http://schemas.openxmlformats.org/drawingml/2006/main">
              <a:ext uri="{FF2B5EF4-FFF2-40B4-BE49-F238E27FC236}">
                <a16:creationId xmlns:a16="http://schemas.microsoft.com/office/drawing/2014/main" id="{7F19CDF8-2661-491E-8220-8BDFCFB4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91" y="2835708"/>
            <a:ext cx="702326" cy="14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9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789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node-a · 6/8</a:t>
            </a:r>
          </a:p>
        </p:txBody>
      </p:sp>
      <p:sp>
        <p:nvSpPr>
          <p:cNvPr id="8" name="svg-rect-10">
            <a:extLst xmlns:a="http://schemas.openxmlformats.org/drawingml/2006/main">
              <a:ext uri="{FF2B5EF4-FFF2-40B4-BE49-F238E27FC236}">
                <a16:creationId xmlns:a16="http://schemas.microsoft.com/office/drawing/2014/main" id="{1AD9F555-DE69-4B1A-8A81-1DE2C18D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0452"/>
            <a:ext cx="928007" cy="759279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D0D7DE"/>
            </a:solidFill>
            <a:prstDash val="solid"/>
          </a:ln>
        </p:spPr>
      </p:sp>
      <p:sp>
        <p:nvSpPr>
          <p:cNvPr id="9" name="svg-rect-12">
            <a:extLst xmlns:a="http://schemas.openxmlformats.org/drawingml/2006/main">
              <a:ext uri="{FF2B5EF4-FFF2-40B4-BE49-F238E27FC236}">
                <a16:creationId xmlns:a16="http://schemas.microsoft.com/office/drawing/2014/main" id="{B7113FFA-5D0C-40B9-8925-AB9D66C8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505" y="3196998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vg-rect-13">
            <a:extLst xmlns:a="http://schemas.openxmlformats.org/drawingml/2006/main">
              <a:ext uri="{FF2B5EF4-FFF2-40B4-BE49-F238E27FC236}">
                <a16:creationId xmlns:a16="http://schemas.microsoft.com/office/drawing/2014/main" id="{08736425-0C7E-4BBC-95D1-D838D6AD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416" y="3196998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vg-rect-14">
            <a:extLst xmlns:a="http://schemas.openxmlformats.org/drawingml/2006/main">
              <a:ext uri="{FF2B5EF4-FFF2-40B4-BE49-F238E27FC236}">
                <a16:creationId xmlns:a16="http://schemas.microsoft.com/office/drawing/2014/main" id="{C3F5D2F5-42B4-4589-80FB-1D3A6917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327" y="3196998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vg-rect-15">
            <a:extLst xmlns:a="http://schemas.openxmlformats.org/drawingml/2006/main">
              <a:ext uri="{FF2B5EF4-FFF2-40B4-BE49-F238E27FC236}">
                <a16:creationId xmlns:a16="http://schemas.microsoft.com/office/drawing/2014/main" id="{E11F4A1B-6CCD-43C8-9F59-44525FF6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3196998"/>
            <a:ext cx="84364" cy="147638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vg-rect-16">
            <a:extLst xmlns:a="http://schemas.openxmlformats.org/drawingml/2006/main">
              <a:ext uri="{FF2B5EF4-FFF2-40B4-BE49-F238E27FC236}">
                <a16:creationId xmlns:a16="http://schemas.microsoft.com/office/drawing/2014/main" id="{705992C8-5C11-47EA-AFAB-F6FEFB97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505" y="3429000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vg-rect-17">
            <a:extLst xmlns:a="http://schemas.openxmlformats.org/drawingml/2006/main">
              <a:ext uri="{FF2B5EF4-FFF2-40B4-BE49-F238E27FC236}">
                <a16:creationId xmlns:a16="http://schemas.microsoft.com/office/drawing/2014/main" id="{4EDA3E3B-A870-4693-9807-9A121CEC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416" y="3429000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vg-rect-19">
            <a:extLst xmlns:a="http://schemas.openxmlformats.org/drawingml/2006/main">
              <a:ext uri="{FF2B5EF4-FFF2-40B4-BE49-F238E27FC236}">
                <a16:creationId xmlns:a16="http://schemas.microsoft.com/office/drawing/2014/main" id="{86CCF420-4312-40F0-99C7-842F20C9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327" y="3429000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9AA4B2"/>
            </a:solidFill>
            <a:prstDash val="dash"/>
          </a:ln>
        </p:spPr>
      </p:sp>
      <p:sp>
        <p:nvSpPr>
          <p:cNvPr id="16" name="svg-rect-20">
            <a:extLst xmlns:a="http://schemas.openxmlformats.org/drawingml/2006/main">
              <a:ext uri="{FF2B5EF4-FFF2-40B4-BE49-F238E27FC236}">
                <a16:creationId xmlns:a16="http://schemas.microsoft.com/office/drawing/2014/main" id="{BB564E93-6C31-4C11-8EF6-C58682E7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3429000"/>
            <a:ext cx="84364" cy="147638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9AA4B2"/>
            </a:solidFill>
            <a:prstDash val="dash"/>
          </a:ln>
        </p:spPr>
      </p:sp>
      <p:sp>
        <p:nvSpPr>
          <p:cNvPr id="17" name="svg-text-22">
            <a:extLst xmlns:a="http://schemas.openxmlformats.org/drawingml/2006/main">
              <a:ext uri="{FF2B5EF4-FFF2-40B4-BE49-F238E27FC236}">
                <a16:creationId xmlns:a16="http://schemas.microsoft.com/office/drawing/2014/main" id="{131BB755-702A-4AA5-93D7-898E686B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353" y="2835708"/>
            <a:ext cx="702326" cy="14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9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789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node-b · 6/8</a:t>
            </a:r>
          </a:p>
        </p:txBody>
      </p:sp>
      <p:sp>
        <p:nvSpPr>
          <p:cNvPr id="18" name="svg-rect-23">
            <a:extLst xmlns:a="http://schemas.openxmlformats.org/drawingml/2006/main">
              <a:ext uri="{FF2B5EF4-FFF2-40B4-BE49-F238E27FC236}">
                <a16:creationId xmlns:a16="http://schemas.microsoft.com/office/drawing/2014/main" id="{3C49B944-187D-4C6A-8FE5-E9D588E2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513" y="3070452"/>
            <a:ext cx="928007" cy="759279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D0D7DE"/>
            </a:solidFill>
            <a:prstDash val="solid"/>
          </a:ln>
        </p:spPr>
      </p:sp>
      <p:sp>
        <p:nvSpPr>
          <p:cNvPr id="19" name="svg-rect-25">
            <a:extLst xmlns:a="http://schemas.openxmlformats.org/drawingml/2006/main">
              <a:ext uri="{FF2B5EF4-FFF2-40B4-BE49-F238E27FC236}">
                <a16:creationId xmlns:a16="http://schemas.microsoft.com/office/drawing/2014/main" id="{9DB7B701-1562-47D3-BBDE-84440638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968" y="3196998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vg-rect-26">
            <a:extLst xmlns:a="http://schemas.openxmlformats.org/drawingml/2006/main">
              <a:ext uri="{FF2B5EF4-FFF2-40B4-BE49-F238E27FC236}">
                <a16:creationId xmlns:a16="http://schemas.microsoft.com/office/drawing/2014/main" id="{70515130-7C9F-4222-AA47-7D4B34CD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879" y="3196998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vg-rect-27">
            <a:extLst xmlns:a="http://schemas.openxmlformats.org/drawingml/2006/main">
              <a:ext uri="{FF2B5EF4-FFF2-40B4-BE49-F238E27FC236}">
                <a16:creationId xmlns:a16="http://schemas.microsoft.com/office/drawing/2014/main" id="{DFA3AEE6-FBB5-4DCA-B25B-1B01A3D0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789" y="3196998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vg-rect-28">
            <a:extLst xmlns:a="http://schemas.openxmlformats.org/drawingml/2006/main">
              <a:ext uri="{FF2B5EF4-FFF2-40B4-BE49-F238E27FC236}">
                <a16:creationId xmlns:a16="http://schemas.microsoft.com/office/drawing/2014/main" id="{4C02DB91-3C2D-424C-8BFE-785EE188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96998"/>
            <a:ext cx="84364" cy="147638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vg-rect-29">
            <a:extLst xmlns:a="http://schemas.openxmlformats.org/drawingml/2006/main">
              <a:ext uri="{FF2B5EF4-FFF2-40B4-BE49-F238E27FC236}">
                <a16:creationId xmlns:a16="http://schemas.microsoft.com/office/drawing/2014/main" id="{E7F9C760-8C6D-40D2-9758-874147F3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968" y="3429000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vg-rect-30">
            <a:extLst xmlns:a="http://schemas.openxmlformats.org/drawingml/2006/main">
              <a:ext uri="{FF2B5EF4-FFF2-40B4-BE49-F238E27FC236}">
                <a16:creationId xmlns:a16="http://schemas.microsoft.com/office/drawing/2014/main" id="{7B3335A9-EE8A-4B48-BD39-E35B0514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879" y="3429000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vg-rect-32">
            <a:extLst xmlns:a="http://schemas.openxmlformats.org/drawingml/2006/main">
              <a:ext uri="{FF2B5EF4-FFF2-40B4-BE49-F238E27FC236}">
                <a16:creationId xmlns:a16="http://schemas.microsoft.com/office/drawing/2014/main" id="{8E3F67A7-602F-4F8F-A719-DD957972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789" y="3429000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9AA4B2"/>
            </a:solidFill>
            <a:prstDash val="dash"/>
          </a:ln>
        </p:spPr>
      </p:sp>
      <p:sp>
        <p:nvSpPr>
          <p:cNvPr id="26" name="svg-rect-33">
            <a:extLst xmlns:a="http://schemas.openxmlformats.org/drawingml/2006/main">
              <a:ext uri="{FF2B5EF4-FFF2-40B4-BE49-F238E27FC236}">
                <a16:creationId xmlns:a16="http://schemas.microsoft.com/office/drawing/2014/main" id="{A1EE03A2-44A2-4DEB-9447-A8AD01DC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29000"/>
            <a:ext cx="84364" cy="147638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9AA4B2"/>
            </a:solidFill>
            <a:prstDash val="dash"/>
          </a:ln>
        </p:spPr>
      </p:sp>
      <p:sp>
        <p:nvSpPr>
          <p:cNvPr id="27" name="svg-text-35">
            <a:extLst xmlns:a="http://schemas.openxmlformats.org/drawingml/2006/main">
              <a:ext uri="{FF2B5EF4-FFF2-40B4-BE49-F238E27FC236}">
                <a16:creationId xmlns:a16="http://schemas.microsoft.com/office/drawing/2014/main" id="{A634BECC-4702-4DF5-9EDC-4E83B917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816" y="2835708"/>
            <a:ext cx="702326" cy="14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9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789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node-c · 6/8</a:t>
            </a:r>
          </a:p>
        </p:txBody>
      </p:sp>
      <p:sp>
        <p:nvSpPr>
          <p:cNvPr id="28" name="svg-rect-36">
            <a:extLst xmlns:a="http://schemas.openxmlformats.org/drawingml/2006/main">
              <a:ext uri="{FF2B5EF4-FFF2-40B4-BE49-F238E27FC236}">
                <a16:creationId xmlns:a16="http://schemas.microsoft.com/office/drawing/2014/main" id="{BB85D560-985C-430E-ADDC-C19612D4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070452"/>
            <a:ext cx="928007" cy="759279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D0D7DE"/>
            </a:solidFill>
            <a:prstDash val="solid"/>
          </a:ln>
        </p:spPr>
      </p:sp>
      <p:sp>
        <p:nvSpPr>
          <p:cNvPr id="29" name="svg-rect-38">
            <a:extLst xmlns:a="http://schemas.openxmlformats.org/drawingml/2006/main">
              <a:ext uri="{FF2B5EF4-FFF2-40B4-BE49-F238E27FC236}">
                <a16:creationId xmlns:a16="http://schemas.microsoft.com/office/drawing/2014/main" id="{03E1E4F9-EB1C-4803-A7C2-3179AC40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430" y="3196998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vg-rect-39">
            <a:extLst xmlns:a="http://schemas.openxmlformats.org/drawingml/2006/main">
              <a:ext uri="{FF2B5EF4-FFF2-40B4-BE49-F238E27FC236}">
                <a16:creationId xmlns:a16="http://schemas.microsoft.com/office/drawing/2014/main" id="{66536944-5E19-49B0-89E9-349C6EFC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4341" y="3196998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vg-rect-40">
            <a:extLst xmlns:a="http://schemas.openxmlformats.org/drawingml/2006/main">
              <a:ext uri="{FF2B5EF4-FFF2-40B4-BE49-F238E27FC236}">
                <a16:creationId xmlns:a16="http://schemas.microsoft.com/office/drawing/2014/main" id="{94502B04-C5AA-4EEB-AB38-24C1C2AE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252" y="3196998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vg-rect-41">
            <a:extLst xmlns:a="http://schemas.openxmlformats.org/drawingml/2006/main">
              <a:ext uri="{FF2B5EF4-FFF2-40B4-BE49-F238E27FC236}">
                <a16:creationId xmlns:a16="http://schemas.microsoft.com/office/drawing/2014/main" id="{D2AE41FA-0A46-4448-83C9-7F1D01B2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163" y="3196998"/>
            <a:ext cx="84364" cy="147638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vg-rect-42">
            <a:extLst xmlns:a="http://schemas.openxmlformats.org/drawingml/2006/main">
              <a:ext uri="{FF2B5EF4-FFF2-40B4-BE49-F238E27FC236}">
                <a16:creationId xmlns:a16="http://schemas.microsoft.com/office/drawing/2014/main" id="{46C53540-7EE7-4B1B-B9A3-F2B73C23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430" y="3429000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vg-rect-43">
            <a:extLst xmlns:a="http://schemas.openxmlformats.org/drawingml/2006/main">
              <a:ext uri="{FF2B5EF4-FFF2-40B4-BE49-F238E27FC236}">
                <a16:creationId xmlns:a16="http://schemas.microsoft.com/office/drawing/2014/main" id="{EA57573C-F55D-463F-B0D1-599A1582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4341" y="3429000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vg-rect-45">
            <a:extLst xmlns:a="http://schemas.openxmlformats.org/drawingml/2006/main">
              <a:ext uri="{FF2B5EF4-FFF2-40B4-BE49-F238E27FC236}">
                <a16:creationId xmlns:a16="http://schemas.microsoft.com/office/drawing/2014/main" id="{78472F6F-585D-45F8-B6C7-0E9C5616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252" y="3429000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9AA4B2"/>
            </a:solidFill>
            <a:prstDash val="dash"/>
          </a:ln>
        </p:spPr>
      </p:sp>
      <p:sp>
        <p:nvSpPr>
          <p:cNvPr id="36" name="svg-rect-46">
            <a:extLst xmlns:a="http://schemas.openxmlformats.org/drawingml/2006/main">
              <a:ext uri="{FF2B5EF4-FFF2-40B4-BE49-F238E27FC236}">
                <a16:creationId xmlns:a16="http://schemas.microsoft.com/office/drawing/2014/main" id="{8045D8C6-2485-4600-8ED0-4B18BAAD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163" y="3429000"/>
            <a:ext cx="84364" cy="147638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9AA4B2"/>
            </a:solidFill>
            <a:prstDash val="dash"/>
          </a:ln>
        </p:spPr>
      </p:sp>
      <p:sp>
        <p:nvSpPr>
          <p:cNvPr id="37" name="svg-text-48">
            <a:extLst xmlns:a="http://schemas.openxmlformats.org/drawingml/2006/main">
              <a:ext uri="{FF2B5EF4-FFF2-40B4-BE49-F238E27FC236}">
                <a16:creationId xmlns:a16="http://schemas.microsoft.com/office/drawing/2014/main" id="{40A71F24-7D91-4437-B01D-6B420A88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4278" y="2835708"/>
            <a:ext cx="702326" cy="14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9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789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node-d · 6/8</a:t>
            </a:r>
          </a:p>
        </p:txBody>
      </p:sp>
      <p:sp>
        <p:nvSpPr>
          <p:cNvPr id="38" name="svg-rect-49">
            <a:extLst xmlns:a="http://schemas.openxmlformats.org/drawingml/2006/main">
              <a:ext uri="{FF2B5EF4-FFF2-40B4-BE49-F238E27FC236}">
                <a16:creationId xmlns:a16="http://schemas.microsoft.com/office/drawing/2014/main" id="{713F9D3D-DCAA-4B25-8B15-EABBB48E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3070452"/>
            <a:ext cx="928007" cy="759279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D0D7DE"/>
            </a:solidFill>
            <a:prstDash val="solid"/>
          </a:ln>
        </p:spPr>
      </p:sp>
      <p:sp>
        <p:nvSpPr>
          <p:cNvPr id="39" name="svg-rect-51">
            <a:extLst xmlns:a="http://schemas.openxmlformats.org/drawingml/2006/main">
              <a:ext uri="{FF2B5EF4-FFF2-40B4-BE49-F238E27FC236}">
                <a16:creationId xmlns:a16="http://schemas.microsoft.com/office/drawing/2014/main" id="{2C914534-7108-475E-836B-F603FFD6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893" y="3196998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vg-rect-52">
            <a:extLst xmlns:a="http://schemas.openxmlformats.org/drawingml/2006/main">
              <a:ext uri="{FF2B5EF4-FFF2-40B4-BE49-F238E27FC236}">
                <a16:creationId xmlns:a16="http://schemas.microsoft.com/office/drawing/2014/main" id="{E7248425-93C4-48FE-94E9-37F9A071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804" y="3196998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vg-rect-53">
            <a:extLst xmlns:a="http://schemas.openxmlformats.org/drawingml/2006/main">
              <a:ext uri="{FF2B5EF4-FFF2-40B4-BE49-F238E27FC236}">
                <a16:creationId xmlns:a16="http://schemas.microsoft.com/office/drawing/2014/main" id="{BDF2F3F0-8E58-441A-90B1-0FB20952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714" y="3196998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vg-rect-54">
            <a:extLst xmlns:a="http://schemas.openxmlformats.org/drawingml/2006/main">
              <a:ext uri="{FF2B5EF4-FFF2-40B4-BE49-F238E27FC236}">
                <a16:creationId xmlns:a16="http://schemas.microsoft.com/office/drawing/2014/main" id="{346956E8-48A7-4B7F-88B8-A58726D8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96998"/>
            <a:ext cx="84364" cy="147638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vg-rect-55">
            <a:extLst xmlns:a="http://schemas.openxmlformats.org/drawingml/2006/main">
              <a:ext uri="{FF2B5EF4-FFF2-40B4-BE49-F238E27FC236}">
                <a16:creationId xmlns:a16="http://schemas.microsoft.com/office/drawing/2014/main" id="{AC65D720-F819-4EB4-B357-B8952F5B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893" y="3429000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vg-rect-56">
            <a:extLst xmlns:a="http://schemas.openxmlformats.org/drawingml/2006/main">
              <a:ext uri="{FF2B5EF4-FFF2-40B4-BE49-F238E27FC236}">
                <a16:creationId xmlns:a16="http://schemas.microsoft.com/office/drawing/2014/main" id="{967154E7-F019-403D-800A-2E3DC821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804" y="3429000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vg-rect-58">
            <a:extLst xmlns:a="http://schemas.openxmlformats.org/drawingml/2006/main">
              <a:ext uri="{FF2B5EF4-FFF2-40B4-BE49-F238E27FC236}">
                <a16:creationId xmlns:a16="http://schemas.microsoft.com/office/drawing/2014/main" id="{29C45305-D237-4331-95C4-6F69CEDF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714" y="3429000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9AA4B2"/>
            </a:solidFill>
            <a:prstDash val="dash"/>
          </a:ln>
        </p:spPr>
      </p:sp>
      <p:sp>
        <p:nvSpPr>
          <p:cNvPr id="46" name="svg-rect-59">
            <a:extLst xmlns:a="http://schemas.openxmlformats.org/drawingml/2006/main">
              <a:ext uri="{FF2B5EF4-FFF2-40B4-BE49-F238E27FC236}">
                <a16:creationId xmlns:a16="http://schemas.microsoft.com/office/drawing/2014/main" id="{82B05EC7-A7C9-4410-839F-BF1E2BFF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29000"/>
            <a:ext cx="84364" cy="147638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9AA4B2"/>
            </a:solidFill>
            <a:prstDash val="dash"/>
          </a:ln>
        </p:spPr>
      </p:sp>
      <p:sp>
        <p:nvSpPr>
          <p:cNvPr id="47" name="svg-rect-60">
            <a:extLst xmlns:a="http://schemas.openxmlformats.org/drawingml/2006/main">
              <a:ext uri="{FF2B5EF4-FFF2-40B4-BE49-F238E27FC236}">
                <a16:creationId xmlns:a16="http://schemas.microsoft.com/office/drawing/2014/main" id="{078C6828-A844-4CE1-9FC1-337A6313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1732"/>
            <a:ext cx="4007304" cy="40073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1F0"/>
          </a:solidFill>
          <a:ln xmlns:a="http://schemas.openxmlformats.org/drawingml/2006/main" w="10546">
            <a:solidFill>
              <a:srgbClr val="E03131"/>
            </a:solidFill>
            <a:prstDash val="solid"/>
          </a:ln>
        </p:spPr>
      </p:sp>
      <p:sp>
        <p:nvSpPr>
          <p:cNvPr id="48" name="svg-text-61">
            <a:extLst xmlns:a="http://schemas.openxmlformats.org/drawingml/2006/main">
              <a:ext uri="{FF2B5EF4-FFF2-40B4-BE49-F238E27FC236}">
                <a16:creationId xmlns:a16="http://schemas.microsoft.com/office/drawing/2014/main" id="{26236BC1-E151-4CB5-96A6-0918C1D8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882" y="4189544"/>
            <a:ext cx="1249639" cy="168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3" b="1">
                <a:solidFill>
                  <a:srgbClr val="E03131"/>
                </a:solidFill>
                <a:latin typeface="Arial"/>
                <a:ea typeface="Arial"/>
                <a:cs typeface="Arial"/>
              </a:defRPr>
            </a:pPr>
            <a:r>
              <a:rPr sz="913" b="1">
                <a:solidFill>
                  <a:srgbClr val="E03131"/>
                </a:solidFill>
                <a:latin typeface="Arial"/>
                <a:ea typeface="Arial"/>
                <a:cs typeface="Arial"/>
              </a:rPr>
              <a:t>可承接 8 卡任务：0 个</a:t>
            </a:r>
          </a:p>
        </p:txBody>
      </p:sp>
      <p:sp>
        <p:nvSpPr>
          <p:cNvPr id="49" name="svg-line-62-1">
            <a:extLst xmlns:a="http://schemas.openxmlformats.org/drawingml/2006/main">
              <a:ext uri="{FF2B5EF4-FFF2-40B4-BE49-F238E27FC236}">
                <a16:creationId xmlns:a16="http://schemas.microsoft.com/office/drawing/2014/main" id="{F6DFEDF4-C44D-4452-A104-591B4607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67993" y="3407909"/>
            <a:ext cx="759279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637">
            <a:solidFill>
              <a:srgbClr val="1C7ED6"/>
            </a:solidFill>
            <a:prstDash val="solid"/>
          </a:ln>
        </p:spPr>
      </p:sp>
      <p:sp>
        <p:nvSpPr>
          <p:cNvPr id="50" name="svg-arrow-62">
            <a:extLst xmlns:a="http://schemas.openxmlformats.org/drawingml/2006/main">
              <a:ext uri="{FF2B5EF4-FFF2-40B4-BE49-F238E27FC236}">
                <a16:creationId xmlns:a16="http://schemas.microsoft.com/office/drawing/2014/main" id="{31550EB3-7E1B-49FE-A512-8E39A1D3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82453" y="3363090"/>
            <a:ext cx="89637" cy="896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4763">
            <a:solidFill>
              <a:srgbClr val="1C7ED6"/>
            </a:solidFill>
            <a:prstDash val="solid"/>
          </a:ln>
        </p:spPr>
      </p:sp>
      <p:sp>
        <p:nvSpPr>
          <p:cNvPr id="51" name="svg-text-63">
            <a:extLst xmlns:a="http://schemas.openxmlformats.org/drawingml/2006/main">
              <a:ext uri="{FF2B5EF4-FFF2-40B4-BE49-F238E27FC236}">
                <a16:creationId xmlns:a16="http://schemas.microsoft.com/office/drawing/2014/main" id="{81948655-F51A-4D32-94C4-CE9D6C20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8376" y="3029535"/>
            <a:ext cx="458513" cy="168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3" b="1">
                <a:solidFill>
                  <a:srgbClr val="1C7ED6"/>
                </a:solidFill>
                <a:latin typeface="Arial"/>
                <a:ea typeface="Arial"/>
                <a:cs typeface="Arial"/>
              </a:defRPr>
            </a:pPr>
            <a:r>
              <a:rPr sz="913" b="1">
                <a:solidFill>
                  <a:srgbClr val="1C7ED6"/>
                </a:solidFill>
                <a:latin typeface="Arial"/>
                <a:ea typeface="Arial"/>
                <a:cs typeface="Arial"/>
              </a:rPr>
              <a:t>Repack</a:t>
            </a:r>
          </a:p>
        </p:txBody>
      </p:sp>
      <p:sp>
        <p:nvSpPr>
          <p:cNvPr id="52" name="svg-text-64">
            <a:extLst xmlns:a="http://schemas.openxmlformats.org/drawingml/2006/main">
              <a:ext uri="{FF2B5EF4-FFF2-40B4-BE49-F238E27FC236}">
                <a16:creationId xmlns:a16="http://schemas.microsoft.com/office/drawing/2014/main" id="{EC4FFAE7-CB4E-47CB-BA79-BBA0F12C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3409" y="3563350"/>
            <a:ext cx="768446" cy="14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9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789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集中可迁移 Pod</a:t>
            </a:r>
          </a:p>
        </p:txBody>
      </p:sp>
      <p:sp>
        <p:nvSpPr>
          <p:cNvPr id="53" name="svg-rect-65">
            <a:extLst xmlns:a="http://schemas.openxmlformats.org/drawingml/2006/main">
              <a:ext uri="{FF2B5EF4-FFF2-40B4-BE49-F238E27FC236}">
                <a16:creationId xmlns:a16="http://schemas.microsoft.com/office/drawing/2014/main" id="{3CB3AD22-CD13-499C-AB45-0AE69D22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63536"/>
            <a:ext cx="5525861" cy="2509838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EDF9F1"/>
          </a:solidFill>
          <a:ln xmlns:a="http://schemas.openxmlformats.org/drawingml/2006/main" w="10546">
            <a:solidFill>
              <a:srgbClr val="2F9E44"/>
            </a:solidFill>
            <a:prstDash val="solid"/>
          </a:ln>
        </p:spPr>
      </p:sp>
      <p:sp>
        <p:nvSpPr>
          <p:cNvPr id="54" name="svg-text-66">
            <a:extLst xmlns:a="http://schemas.openxmlformats.org/drawingml/2006/main">
              <a:ext uri="{FF2B5EF4-FFF2-40B4-BE49-F238E27FC236}">
                <a16:creationId xmlns:a16="http://schemas.microsoft.com/office/drawing/2014/main" id="{3181C72C-E9F8-4FC3-A967-5749C101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6911" y="2331842"/>
            <a:ext cx="2771571" cy="198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79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079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整理后 · 同样空闲 8 卡，形成 1 台完整节点</a:t>
            </a:r>
          </a:p>
        </p:txBody>
      </p:sp>
      <p:sp>
        <p:nvSpPr>
          <p:cNvPr id="55" name="svg-text-67">
            <a:extLst xmlns:a="http://schemas.openxmlformats.org/drawingml/2006/main">
              <a:ext uri="{FF2B5EF4-FFF2-40B4-BE49-F238E27FC236}">
                <a16:creationId xmlns:a16="http://schemas.microsoft.com/office/drawing/2014/main" id="{A9DF254C-4DE4-4B96-AD1D-9198E944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6911" y="2587466"/>
            <a:ext cx="2132511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三个节点装满，node-d 的目标资源全部释放</a:t>
            </a:r>
          </a:p>
        </p:txBody>
      </p:sp>
      <p:sp>
        <p:nvSpPr>
          <p:cNvPr id="56" name="svg-text-70">
            <a:extLst xmlns:a="http://schemas.openxmlformats.org/drawingml/2006/main">
              <a:ext uri="{FF2B5EF4-FFF2-40B4-BE49-F238E27FC236}">
                <a16:creationId xmlns:a16="http://schemas.microsoft.com/office/drawing/2014/main" id="{D44A5357-6D2B-413F-A741-1BB8A3A7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751" y="2835708"/>
            <a:ext cx="702326" cy="14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9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789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node-a · 8/8</a:t>
            </a:r>
          </a:p>
        </p:txBody>
      </p:sp>
      <p:sp>
        <p:nvSpPr>
          <p:cNvPr id="57" name="svg-rect-71">
            <a:extLst xmlns:a="http://schemas.openxmlformats.org/drawingml/2006/main">
              <a:ext uri="{FF2B5EF4-FFF2-40B4-BE49-F238E27FC236}">
                <a16:creationId xmlns:a16="http://schemas.microsoft.com/office/drawing/2014/main" id="{C49A0F32-05BC-4276-A460-7C01DB7D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6911" y="3070452"/>
            <a:ext cx="928007" cy="759279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2F9E44"/>
            </a:solidFill>
            <a:prstDash val="solid"/>
          </a:ln>
        </p:spPr>
      </p:sp>
      <p:sp>
        <p:nvSpPr>
          <p:cNvPr id="58" name="svg-rect-73">
            <a:extLst xmlns:a="http://schemas.openxmlformats.org/drawingml/2006/main">
              <a:ext uri="{FF2B5EF4-FFF2-40B4-BE49-F238E27FC236}">
                <a16:creationId xmlns:a16="http://schemas.microsoft.com/office/drawing/2014/main" id="{9F1E580D-76FC-4CC2-A7E6-358F6816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2366" y="3196998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svg-rect-74">
            <a:extLst xmlns:a="http://schemas.openxmlformats.org/drawingml/2006/main">
              <a:ext uri="{FF2B5EF4-FFF2-40B4-BE49-F238E27FC236}">
                <a16:creationId xmlns:a16="http://schemas.microsoft.com/office/drawing/2014/main" id="{C0F26D49-7A95-41BC-9B2B-471B6577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3277" y="3196998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svg-rect-75">
            <a:extLst xmlns:a="http://schemas.openxmlformats.org/drawingml/2006/main">
              <a:ext uri="{FF2B5EF4-FFF2-40B4-BE49-F238E27FC236}">
                <a16:creationId xmlns:a16="http://schemas.microsoft.com/office/drawing/2014/main" id="{B1EE4CB4-F54C-4EF5-BEA5-632A5B4F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4188" y="3196998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svg-rect-76">
            <a:extLst xmlns:a="http://schemas.openxmlformats.org/drawingml/2006/main">
              <a:ext uri="{FF2B5EF4-FFF2-40B4-BE49-F238E27FC236}">
                <a16:creationId xmlns:a16="http://schemas.microsoft.com/office/drawing/2014/main" id="{A9F8F596-12A8-4CE2-9F67-36C04F47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5098" y="3196998"/>
            <a:ext cx="84364" cy="147638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svg-rect-77">
            <a:extLst xmlns:a="http://schemas.openxmlformats.org/drawingml/2006/main">
              <a:ext uri="{FF2B5EF4-FFF2-40B4-BE49-F238E27FC236}">
                <a16:creationId xmlns:a16="http://schemas.microsoft.com/office/drawing/2014/main" id="{58F14A3B-17DB-4912-9682-583182B4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2366" y="3429000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svg-rect-78">
            <a:extLst xmlns:a="http://schemas.openxmlformats.org/drawingml/2006/main">
              <a:ext uri="{FF2B5EF4-FFF2-40B4-BE49-F238E27FC236}">
                <a16:creationId xmlns:a16="http://schemas.microsoft.com/office/drawing/2014/main" id="{966C805C-9F62-4415-AD16-D2449CD2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3277" y="3429000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svg-rect-79">
            <a:extLst xmlns:a="http://schemas.openxmlformats.org/drawingml/2006/main">
              <a:ext uri="{FF2B5EF4-FFF2-40B4-BE49-F238E27FC236}">
                <a16:creationId xmlns:a16="http://schemas.microsoft.com/office/drawing/2014/main" id="{5C4EE345-A3E0-4E58-9300-D67425F1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4188" y="3429000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svg-rect-80">
            <a:extLst xmlns:a="http://schemas.openxmlformats.org/drawingml/2006/main">
              <a:ext uri="{FF2B5EF4-FFF2-40B4-BE49-F238E27FC236}">
                <a16:creationId xmlns:a16="http://schemas.microsoft.com/office/drawing/2014/main" id="{828CAD93-72B4-454B-BA7F-0EE50CAD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5098" y="3429000"/>
            <a:ext cx="84364" cy="147638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svg-text-82">
            <a:extLst xmlns:a="http://schemas.openxmlformats.org/drawingml/2006/main">
              <a:ext uri="{FF2B5EF4-FFF2-40B4-BE49-F238E27FC236}">
                <a16:creationId xmlns:a16="http://schemas.microsoft.com/office/drawing/2014/main" id="{E35CEE18-AD0D-4EAD-8234-B4A6C614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487" y="2835708"/>
            <a:ext cx="702326" cy="14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9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789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node-b · 8/8</a:t>
            </a:r>
          </a:p>
        </p:txBody>
      </p:sp>
      <p:sp>
        <p:nvSpPr>
          <p:cNvPr id="67" name="svg-rect-83">
            <a:extLst xmlns:a="http://schemas.openxmlformats.org/drawingml/2006/main">
              <a:ext uri="{FF2B5EF4-FFF2-40B4-BE49-F238E27FC236}">
                <a16:creationId xmlns:a16="http://schemas.microsoft.com/office/drawing/2014/main" id="{48F6D935-2375-4B02-B6D3-F0749CCB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3646" y="3070452"/>
            <a:ext cx="928007" cy="759279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2F9E44"/>
            </a:solidFill>
            <a:prstDash val="solid"/>
          </a:ln>
        </p:spPr>
      </p:sp>
      <p:sp>
        <p:nvSpPr>
          <p:cNvPr id="68" name="svg-rect-85">
            <a:extLst xmlns:a="http://schemas.openxmlformats.org/drawingml/2006/main">
              <a:ext uri="{FF2B5EF4-FFF2-40B4-BE49-F238E27FC236}">
                <a16:creationId xmlns:a16="http://schemas.microsoft.com/office/drawing/2014/main" id="{C8B84EB2-2788-4E70-B749-C3004B5D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102" y="3196998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svg-rect-86">
            <a:extLst xmlns:a="http://schemas.openxmlformats.org/drawingml/2006/main">
              <a:ext uri="{FF2B5EF4-FFF2-40B4-BE49-F238E27FC236}">
                <a16:creationId xmlns:a16="http://schemas.microsoft.com/office/drawing/2014/main" id="{FEE93D25-E368-4BE4-8B67-59BB2B94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013" y="3196998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svg-rect-87">
            <a:extLst xmlns:a="http://schemas.openxmlformats.org/drawingml/2006/main">
              <a:ext uri="{FF2B5EF4-FFF2-40B4-BE49-F238E27FC236}">
                <a16:creationId xmlns:a16="http://schemas.microsoft.com/office/drawing/2014/main" id="{E407E1B4-6373-4579-B466-951B7C17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0923" y="3196998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svg-rect-88">
            <a:extLst xmlns:a="http://schemas.openxmlformats.org/drawingml/2006/main">
              <a:ext uri="{FF2B5EF4-FFF2-40B4-BE49-F238E27FC236}">
                <a16:creationId xmlns:a16="http://schemas.microsoft.com/office/drawing/2014/main" id="{73ED969F-12C6-4B83-AEB9-53D42802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1834" y="3196998"/>
            <a:ext cx="84364" cy="147638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svg-rect-89">
            <a:extLst xmlns:a="http://schemas.openxmlformats.org/drawingml/2006/main">
              <a:ext uri="{FF2B5EF4-FFF2-40B4-BE49-F238E27FC236}">
                <a16:creationId xmlns:a16="http://schemas.microsoft.com/office/drawing/2014/main" id="{31B44BD8-3E93-46DC-AD72-7419E714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102" y="3429000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svg-rect-90">
            <a:extLst xmlns:a="http://schemas.openxmlformats.org/drawingml/2006/main">
              <a:ext uri="{FF2B5EF4-FFF2-40B4-BE49-F238E27FC236}">
                <a16:creationId xmlns:a16="http://schemas.microsoft.com/office/drawing/2014/main" id="{2B9B88CB-88ED-4BF2-93EC-577FB94F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013" y="3429000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svg-rect-91">
            <a:extLst xmlns:a="http://schemas.openxmlformats.org/drawingml/2006/main">
              <a:ext uri="{FF2B5EF4-FFF2-40B4-BE49-F238E27FC236}">
                <a16:creationId xmlns:a16="http://schemas.microsoft.com/office/drawing/2014/main" id="{826BB281-8ED0-4E61-B755-0B23D162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0923" y="3429000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svg-rect-92">
            <a:extLst xmlns:a="http://schemas.openxmlformats.org/drawingml/2006/main">
              <a:ext uri="{FF2B5EF4-FFF2-40B4-BE49-F238E27FC236}">
                <a16:creationId xmlns:a16="http://schemas.microsoft.com/office/drawing/2014/main" id="{70AE0E61-D77C-416E-949D-1E3032F6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1834" y="3429000"/>
            <a:ext cx="84364" cy="147638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svg-text-94">
            <a:extLst xmlns:a="http://schemas.openxmlformats.org/drawingml/2006/main">
              <a:ext uri="{FF2B5EF4-FFF2-40B4-BE49-F238E27FC236}">
                <a16:creationId xmlns:a16="http://schemas.microsoft.com/office/drawing/2014/main" id="{8E89A14C-473C-41B2-B13C-4F9BA99D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223" y="2835708"/>
            <a:ext cx="702326" cy="14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9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789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node-c · 8/8</a:t>
            </a:r>
          </a:p>
        </p:txBody>
      </p:sp>
      <p:sp>
        <p:nvSpPr>
          <p:cNvPr id="77" name="svg-rect-95">
            <a:extLst xmlns:a="http://schemas.openxmlformats.org/drawingml/2006/main">
              <a:ext uri="{FF2B5EF4-FFF2-40B4-BE49-F238E27FC236}">
                <a16:creationId xmlns:a16="http://schemas.microsoft.com/office/drawing/2014/main" id="{EAB4D5D5-E093-4287-8673-D138489E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382" y="3070452"/>
            <a:ext cx="928007" cy="759279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2F9E44"/>
            </a:solidFill>
            <a:prstDash val="solid"/>
          </a:ln>
        </p:spPr>
      </p:sp>
      <p:sp>
        <p:nvSpPr>
          <p:cNvPr id="78" name="svg-rect-97">
            <a:extLst xmlns:a="http://schemas.openxmlformats.org/drawingml/2006/main">
              <a:ext uri="{FF2B5EF4-FFF2-40B4-BE49-F238E27FC236}">
                <a16:creationId xmlns:a16="http://schemas.microsoft.com/office/drawing/2014/main" id="{4497F37E-5AC8-4FF3-99CF-23FBE8B6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5838" y="3196998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svg-rect-98">
            <a:extLst xmlns:a="http://schemas.openxmlformats.org/drawingml/2006/main">
              <a:ext uri="{FF2B5EF4-FFF2-40B4-BE49-F238E27FC236}">
                <a16:creationId xmlns:a16="http://schemas.microsoft.com/office/drawing/2014/main" id="{04520E0A-83CF-4BBE-BB57-8C5F60C9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6748" y="3196998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svg-rect-99">
            <a:extLst xmlns:a="http://schemas.openxmlformats.org/drawingml/2006/main">
              <a:ext uri="{FF2B5EF4-FFF2-40B4-BE49-F238E27FC236}">
                <a16:creationId xmlns:a16="http://schemas.microsoft.com/office/drawing/2014/main" id="{38C80A7B-1CFE-4DD5-A1F7-1DBD7C0D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7659" y="3196998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svg-rect-100">
            <a:extLst xmlns:a="http://schemas.openxmlformats.org/drawingml/2006/main">
              <a:ext uri="{FF2B5EF4-FFF2-40B4-BE49-F238E27FC236}">
                <a16:creationId xmlns:a16="http://schemas.microsoft.com/office/drawing/2014/main" id="{A3E8D6CB-27D2-4C41-9E16-DBFF9132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8570" y="3196998"/>
            <a:ext cx="84364" cy="147638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svg-rect-101">
            <a:extLst xmlns:a="http://schemas.openxmlformats.org/drawingml/2006/main">
              <a:ext uri="{FF2B5EF4-FFF2-40B4-BE49-F238E27FC236}">
                <a16:creationId xmlns:a16="http://schemas.microsoft.com/office/drawing/2014/main" id="{6E3DA8E9-04E8-43A1-AE3C-5D1A10B6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5838" y="3429000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svg-rect-102">
            <a:extLst xmlns:a="http://schemas.openxmlformats.org/drawingml/2006/main">
              <a:ext uri="{FF2B5EF4-FFF2-40B4-BE49-F238E27FC236}">
                <a16:creationId xmlns:a16="http://schemas.microsoft.com/office/drawing/2014/main" id="{C0DB2777-86F2-476E-9906-4438F9DD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6748" y="3429000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svg-rect-103">
            <a:extLst xmlns:a="http://schemas.openxmlformats.org/drawingml/2006/main">
              <a:ext uri="{FF2B5EF4-FFF2-40B4-BE49-F238E27FC236}">
                <a16:creationId xmlns:a16="http://schemas.microsoft.com/office/drawing/2014/main" id="{0519CF90-B23D-4AAB-96BC-DA05914E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7659" y="3429000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svg-rect-104">
            <a:extLst xmlns:a="http://schemas.openxmlformats.org/drawingml/2006/main">
              <a:ext uri="{FF2B5EF4-FFF2-40B4-BE49-F238E27FC236}">
                <a16:creationId xmlns:a16="http://schemas.microsoft.com/office/drawing/2014/main" id="{01C1A206-C250-4BF7-A583-5F5AD392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8570" y="3429000"/>
            <a:ext cx="84364" cy="147638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svg-text-106">
            <a:extLst xmlns:a="http://schemas.openxmlformats.org/drawingml/2006/main">
              <a:ext uri="{FF2B5EF4-FFF2-40B4-BE49-F238E27FC236}">
                <a16:creationId xmlns:a16="http://schemas.microsoft.com/office/drawing/2014/main" id="{115DFC2F-B84F-402F-B5BF-D730841B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505" y="2835708"/>
            <a:ext cx="702326" cy="14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9" b="1">
                <a:solidFill>
                  <a:srgbClr val="2F9E44"/>
                </a:solidFill>
                <a:latin typeface="Arial"/>
                <a:ea typeface="Arial"/>
                <a:cs typeface="Arial"/>
              </a:defRPr>
            </a:pPr>
            <a:r>
              <a:rPr sz="789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node-d · 0/8</a:t>
            </a:r>
          </a:p>
        </p:txBody>
      </p:sp>
      <p:sp>
        <p:nvSpPr>
          <p:cNvPr id="87" name="svg-rect-107">
            <a:extLst xmlns:a="http://schemas.openxmlformats.org/drawingml/2006/main">
              <a:ext uri="{FF2B5EF4-FFF2-40B4-BE49-F238E27FC236}">
                <a16:creationId xmlns:a16="http://schemas.microsoft.com/office/drawing/2014/main" id="{A5A9D0A2-88CB-4EA4-9696-AE4E5FBE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664" y="3070452"/>
            <a:ext cx="928007" cy="759279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1091">
            <a:solidFill>
              <a:srgbClr val="2F9E44"/>
            </a:solidFill>
            <a:prstDash val="solid"/>
          </a:ln>
        </p:spPr>
      </p:sp>
      <p:sp>
        <p:nvSpPr>
          <p:cNvPr id="88" name="svg-rect-109">
            <a:extLst xmlns:a="http://schemas.openxmlformats.org/drawingml/2006/main">
              <a:ext uri="{FF2B5EF4-FFF2-40B4-BE49-F238E27FC236}">
                <a16:creationId xmlns:a16="http://schemas.microsoft.com/office/drawing/2014/main" id="{6153C27C-06F2-440A-90D9-CB723E87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120" y="3196998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2F9E44"/>
            </a:solidFill>
            <a:prstDash val="dash"/>
          </a:ln>
        </p:spPr>
      </p:sp>
      <p:sp>
        <p:nvSpPr>
          <p:cNvPr id="89" name="svg-rect-110">
            <a:extLst xmlns:a="http://schemas.openxmlformats.org/drawingml/2006/main">
              <a:ext uri="{FF2B5EF4-FFF2-40B4-BE49-F238E27FC236}">
                <a16:creationId xmlns:a16="http://schemas.microsoft.com/office/drawing/2014/main" id="{27E3F703-21A4-4B39-88F1-3CE162B3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030" y="3196998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2F9E44"/>
            </a:solidFill>
            <a:prstDash val="dash"/>
          </a:ln>
        </p:spPr>
      </p:sp>
      <p:sp>
        <p:nvSpPr>
          <p:cNvPr id="90" name="svg-rect-111">
            <a:extLst xmlns:a="http://schemas.openxmlformats.org/drawingml/2006/main">
              <a:ext uri="{FF2B5EF4-FFF2-40B4-BE49-F238E27FC236}">
                <a16:creationId xmlns:a16="http://schemas.microsoft.com/office/drawing/2014/main" id="{D9E6DF98-DE25-4ADA-98D9-524F14CD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941" y="3196998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2F9E44"/>
            </a:solidFill>
            <a:prstDash val="dash"/>
          </a:ln>
        </p:spPr>
      </p:sp>
      <p:sp>
        <p:nvSpPr>
          <p:cNvPr id="91" name="svg-rect-112">
            <a:extLst xmlns:a="http://schemas.openxmlformats.org/drawingml/2006/main">
              <a:ext uri="{FF2B5EF4-FFF2-40B4-BE49-F238E27FC236}">
                <a16:creationId xmlns:a16="http://schemas.microsoft.com/office/drawing/2014/main" id="{92BE71B9-DAB7-414A-B1E0-D620C38C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1852" y="3196998"/>
            <a:ext cx="84364" cy="147638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2F9E44"/>
            </a:solidFill>
            <a:prstDash val="dash"/>
          </a:ln>
        </p:spPr>
      </p:sp>
      <p:sp>
        <p:nvSpPr>
          <p:cNvPr id="92" name="svg-rect-113">
            <a:extLst xmlns:a="http://schemas.openxmlformats.org/drawingml/2006/main">
              <a:ext uri="{FF2B5EF4-FFF2-40B4-BE49-F238E27FC236}">
                <a16:creationId xmlns:a16="http://schemas.microsoft.com/office/drawing/2014/main" id="{C737AE9D-DFBF-4208-96C4-40CBE30C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120" y="3429000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2F9E44"/>
            </a:solidFill>
            <a:prstDash val="dash"/>
          </a:ln>
        </p:spPr>
      </p:sp>
      <p:sp>
        <p:nvSpPr>
          <p:cNvPr id="93" name="svg-rect-114">
            <a:extLst xmlns:a="http://schemas.openxmlformats.org/drawingml/2006/main">
              <a:ext uri="{FF2B5EF4-FFF2-40B4-BE49-F238E27FC236}">
                <a16:creationId xmlns:a16="http://schemas.microsoft.com/office/drawing/2014/main" id="{FA2B0483-933D-4315-87D2-F0B429EE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030" y="3429000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2F9E44"/>
            </a:solidFill>
            <a:prstDash val="dash"/>
          </a:ln>
        </p:spPr>
      </p:sp>
      <p:sp>
        <p:nvSpPr>
          <p:cNvPr id="94" name="svg-rect-115">
            <a:extLst xmlns:a="http://schemas.openxmlformats.org/drawingml/2006/main">
              <a:ext uri="{FF2B5EF4-FFF2-40B4-BE49-F238E27FC236}">
                <a16:creationId xmlns:a16="http://schemas.microsoft.com/office/drawing/2014/main" id="{DE6FBCDA-FB11-426D-B7DA-0592EE92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941" y="3429000"/>
            <a:ext cx="147638" cy="147638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2F9E44"/>
            </a:solidFill>
            <a:prstDash val="dash"/>
          </a:ln>
        </p:spPr>
      </p:sp>
      <p:sp>
        <p:nvSpPr>
          <p:cNvPr id="95" name="svg-rect-116">
            <a:extLst xmlns:a="http://schemas.openxmlformats.org/drawingml/2006/main">
              <a:ext uri="{FF2B5EF4-FFF2-40B4-BE49-F238E27FC236}">
                <a16:creationId xmlns:a16="http://schemas.microsoft.com/office/drawing/2014/main" id="{282ABBA4-8F64-4C2D-9D35-FE6B4FE9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1852" y="3429000"/>
            <a:ext cx="84364" cy="147638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2F9E44"/>
            </a:solidFill>
            <a:prstDash val="dash"/>
          </a:ln>
        </p:spPr>
      </p:sp>
      <p:sp>
        <p:nvSpPr>
          <p:cNvPr id="96" name="svg-rect-117">
            <a:extLst xmlns:a="http://schemas.openxmlformats.org/drawingml/2006/main">
              <a:ext uri="{FF2B5EF4-FFF2-40B4-BE49-F238E27FC236}">
                <a16:creationId xmlns:a16="http://schemas.microsoft.com/office/drawing/2014/main" id="{418391B3-8A9E-48A7-A1A7-C1DF647D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6911" y="4061732"/>
            <a:ext cx="5104039" cy="40073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2F9E44"/>
            </a:solidFill>
            <a:prstDash val="solid"/>
          </a:ln>
        </p:spPr>
      </p:sp>
      <p:sp>
        <p:nvSpPr>
          <p:cNvPr id="97" name="svg-text-118">
            <a:extLst xmlns:a="http://schemas.openxmlformats.org/drawingml/2006/main">
              <a:ext uri="{FF2B5EF4-FFF2-40B4-BE49-F238E27FC236}">
                <a16:creationId xmlns:a16="http://schemas.microsoft.com/office/drawing/2014/main" id="{CA526064-B43C-41EF-9F1D-B354135B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507" y="4189544"/>
            <a:ext cx="2316847" cy="168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3" b="1">
                <a:solidFill>
                  <a:srgbClr val="2F9E44"/>
                </a:solidFill>
                <a:latin typeface="Arial"/>
                <a:ea typeface="Arial"/>
                <a:cs typeface="Arial"/>
              </a:defRPr>
            </a:pPr>
            <a:r>
              <a:rPr sz="913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可承接 8 卡任务：1 个 · 也可作为缩容节点</a:t>
            </a:r>
          </a:p>
        </p:txBody>
      </p:sp>
      <p:sp>
        <p:nvSpPr>
          <p:cNvPr id="98" name="svg-rect-119">
            <a:extLst xmlns:a="http://schemas.openxmlformats.org/drawingml/2006/main">
              <a:ext uri="{FF2B5EF4-FFF2-40B4-BE49-F238E27FC236}">
                <a16:creationId xmlns:a16="http://schemas.microsoft.com/office/drawing/2014/main" id="{A62805CA-86EA-4959-B9F2-59BF14D2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693" y="4947557"/>
            <a:ext cx="8942614" cy="40073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0546">
            <a:solidFill>
              <a:srgbClr val="D0D7DE"/>
            </a:solidFill>
            <a:prstDash val="solid"/>
          </a:ln>
        </p:spPr>
      </p:sp>
      <p:sp>
        <p:nvSpPr>
          <p:cNvPr id="99" name="svg-text-120">
            <a:extLst xmlns:a="http://schemas.openxmlformats.org/drawingml/2006/main">
              <a:ext uri="{FF2B5EF4-FFF2-40B4-BE49-F238E27FC236}">
                <a16:creationId xmlns:a16="http://schemas.microsoft.com/office/drawing/2014/main" id="{544B768E-122D-4633-B10B-2790ECF5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763" y="5081064"/>
            <a:ext cx="4364474" cy="160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72" b="0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872" b="0">
                <a:solidFill>
                  <a:srgbClr val="1F2328"/>
                </a:solidFill>
                <a:latin typeface="Arial"/>
                <a:ea typeface="Arial"/>
                <a:cs typeface="Arial"/>
              </a:rPr>
              <a:t>物理卡和空闲卡总数不变；新增 1 个目标资源全部空闲的节点，可承载 1 个 8 卡任务。</a:t>
            </a:r>
          </a:p>
        </p:txBody>
      </p:sp>
    </p:spTree>
    <p:extLst>
      <p:ext uri="{BB962C8B-B14F-4D97-AF65-F5344CB8AC3E}">
        <p14:creationId xmlns:p14="http://schemas.microsoft.com/office/powerpoint/2010/main" val="3403217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svg-rect-1">
            <a:extLst xmlns:a="http://schemas.openxmlformats.org/drawingml/2006/main">
              <a:ext uri="{FF2B5EF4-FFF2-40B4-BE49-F238E27FC236}">
                <a16:creationId xmlns:a16="http://schemas.microsoft.com/office/drawing/2014/main" id="{4C41C271-4960-490A-81D3-AEF6D063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14438"/>
            <a:ext cx="11811000" cy="442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vg-text-2">
            <a:extLst xmlns:a="http://schemas.openxmlformats.org/drawingml/2006/main">
              <a:ext uri="{FF2B5EF4-FFF2-40B4-BE49-F238E27FC236}">
                <a16:creationId xmlns:a16="http://schemas.microsoft.com/office/drawing/2014/main" id="{02CD9651-B270-42F5-A78B-1C0D2FE2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57" y="1358279"/>
            <a:ext cx="3983253" cy="259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12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412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Scope：限定工作负载驱逐范围和可腾空节点范围</a:t>
            </a:r>
          </a:p>
        </p:txBody>
      </p:sp>
      <p:sp>
        <p:nvSpPr>
          <p:cNvPr id="3" name="svg-text-3">
            <a:extLst xmlns:a="http://schemas.openxmlformats.org/drawingml/2006/main">
              <a:ext uri="{FF2B5EF4-FFF2-40B4-BE49-F238E27FC236}">
                <a16:creationId xmlns:a16="http://schemas.microsoft.com/office/drawing/2014/main" id="{D1E9698D-D160-4071-947B-B3A53ED5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57" y="1679707"/>
            <a:ext cx="4592785" cy="168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3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913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两个选择轴彼此独立；工作负载和节点同时满足范围条件时，Pod 才可能进入候选计划。</a:t>
            </a:r>
          </a:p>
        </p:txBody>
      </p:sp>
      <p:sp>
        <p:nvSpPr>
          <p:cNvPr id="4" name="svg-rect-4">
            <a:extLst xmlns:a="http://schemas.openxmlformats.org/drawingml/2006/main">
              <a:ext uri="{FF2B5EF4-FFF2-40B4-BE49-F238E27FC236}">
                <a16:creationId xmlns:a16="http://schemas.microsoft.com/office/drawing/2014/main" id="{00934D09-71A9-415B-AB8B-2C28D9D4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139" y="2142445"/>
            <a:ext cx="3163661" cy="2573111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0546">
            <a:solidFill>
              <a:srgbClr val="1C7ED6"/>
            </a:solidFill>
            <a:prstDash val="solid"/>
          </a:ln>
        </p:spPr>
      </p:sp>
      <p:sp>
        <p:nvSpPr>
          <p:cNvPr id="5" name="svg-text-5">
            <a:extLst xmlns:a="http://schemas.openxmlformats.org/drawingml/2006/main">
              <a:ext uri="{FF2B5EF4-FFF2-40B4-BE49-F238E27FC236}">
                <a16:creationId xmlns:a16="http://schemas.microsoft.com/office/drawing/2014/main" id="{9735B55A-2785-4F26-BCCF-37ADE1EF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10751"/>
            <a:ext cx="2253363" cy="198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79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079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① 工作负载轴 · scope.podGroups</a:t>
            </a:r>
          </a:p>
        </p:txBody>
      </p:sp>
      <p:sp>
        <p:nvSpPr>
          <p:cNvPr id="6" name="svg-text-6">
            <a:extLst xmlns:a="http://schemas.openxmlformats.org/drawingml/2006/main">
              <a:ext uri="{FF2B5EF4-FFF2-40B4-BE49-F238E27FC236}">
                <a16:creationId xmlns:a16="http://schemas.microsoft.com/office/drawing/2014/main" id="{9DC38A38-AF7B-420D-BD69-C74F662B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6921"/>
            <a:ext cx="2094548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匹配自动继承到 PodGroup 的工作负载标签</a:t>
            </a:r>
          </a:p>
        </p:txBody>
      </p:sp>
      <p:sp>
        <p:nvSpPr>
          <p:cNvPr id="7" name="svg-rect-7">
            <a:extLst xmlns:a="http://schemas.openxmlformats.org/drawingml/2006/main">
              <a:ext uri="{FF2B5EF4-FFF2-40B4-BE49-F238E27FC236}">
                <a16:creationId xmlns:a16="http://schemas.microsoft.com/office/drawing/2014/main" id="{822201BB-67CB-4672-B884-689F7442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141" y="2901723"/>
            <a:ext cx="2699657" cy="50618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9F1"/>
          </a:solidFill>
          <a:ln xmlns:a="http://schemas.openxmlformats.org/drawingml/2006/main" w="10546">
            <a:solidFill>
              <a:srgbClr val="2F9E44"/>
            </a:solidFill>
            <a:prstDash val="solid"/>
          </a:ln>
        </p:spPr>
      </p:sp>
      <p:sp>
        <p:nvSpPr>
          <p:cNvPr id="8" name="svg-circle-8">
            <a:extLst xmlns:a="http://schemas.openxmlformats.org/drawingml/2006/main">
              <a:ext uri="{FF2B5EF4-FFF2-40B4-BE49-F238E27FC236}">
                <a16:creationId xmlns:a16="http://schemas.microsoft.com/office/drawing/2014/main" id="{B200865E-C05A-4E71-8BF9-15350077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2" y="3059906"/>
            <a:ext cx="189820" cy="1898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vg-text-9">
            <a:extLst xmlns:a="http://schemas.openxmlformats.org/drawingml/2006/main">
              <a:ext uri="{FF2B5EF4-FFF2-40B4-BE49-F238E27FC236}">
                <a16:creationId xmlns:a16="http://schemas.microsoft.com/office/drawing/2014/main" id="{6A7D9CC7-BD06-4DD1-9DE0-E584C8FB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49" y="3083106"/>
            <a:ext cx="162605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3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3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svg-text-10">
            <a:extLst xmlns:a="http://schemas.openxmlformats.org/drawingml/2006/main">
              <a:ext uri="{FF2B5EF4-FFF2-40B4-BE49-F238E27FC236}">
                <a16:creationId xmlns:a16="http://schemas.microsoft.com/office/drawing/2014/main" id="{EAA71854-FCFE-411E-B8ED-25A4CAE1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871" y="2993048"/>
            <a:ext cx="1678210" cy="160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2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872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batch-train / offline-infer</a:t>
            </a:r>
          </a:p>
        </p:txBody>
      </p:sp>
      <p:sp>
        <p:nvSpPr>
          <p:cNvPr id="11" name="svg-text-11">
            <a:extLst xmlns:a="http://schemas.openxmlformats.org/drawingml/2006/main">
              <a:ext uri="{FF2B5EF4-FFF2-40B4-BE49-F238E27FC236}">
                <a16:creationId xmlns:a16="http://schemas.microsoft.com/office/drawing/2014/main" id="{BB9A8DA0-33C1-4D2B-80A7-AAF55E7A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871" y="3183711"/>
            <a:ext cx="1307429" cy="14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9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789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eligible=true · 允许驱逐</a:t>
            </a:r>
          </a:p>
        </p:txBody>
      </p:sp>
      <p:sp>
        <p:nvSpPr>
          <p:cNvPr id="12" name="svg-rect-12">
            <a:extLst xmlns:a="http://schemas.openxmlformats.org/drawingml/2006/main">
              <a:ext uri="{FF2B5EF4-FFF2-40B4-BE49-F238E27FC236}">
                <a16:creationId xmlns:a16="http://schemas.microsoft.com/office/drawing/2014/main" id="{DE730C1C-3C23-4504-93FC-8A116A7C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141" y="3534455"/>
            <a:ext cx="2699657" cy="50618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1F0"/>
          </a:solidFill>
          <a:ln xmlns:a="http://schemas.openxmlformats.org/drawingml/2006/main" w="10546">
            <a:solidFill>
              <a:srgbClr val="E03131"/>
            </a:solidFill>
            <a:prstDash val="dash"/>
          </a:ln>
        </p:spPr>
      </p:sp>
      <p:sp>
        <p:nvSpPr>
          <p:cNvPr id="13" name="svg-circle-13">
            <a:extLst xmlns:a="http://schemas.openxmlformats.org/drawingml/2006/main">
              <a:ext uri="{FF2B5EF4-FFF2-40B4-BE49-F238E27FC236}">
                <a16:creationId xmlns:a16="http://schemas.microsoft.com/office/drawing/2014/main" id="{D5DAA033-9143-4ACF-A121-A60C45C6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2" y="3692638"/>
            <a:ext cx="189820" cy="1898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31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vg-text-14">
            <a:extLst xmlns:a="http://schemas.openxmlformats.org/drawingml/2006/main">
              <a:ext uri="{FF2B5EF4-FFF2-40B4-BE49-F238E27FC236}">
                <a16:creationId xmlns:a16="http://schemas.microsoft.com/office/drawing/2014/main" id="{91DF99B9-3217-4BB2-AD07-CE4900B4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779" y="3715839"/>
            <a:ext cx="126546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3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3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5" name="svg-text-15">
            <a:extLst xmlns:a="http://schemas.openxmlformats.org/drawingml/2006/main">
              <a:ext uri="{FF2B5EF4-FFF2-40B4-BE49-F238E27FC236}">
                <a16:creationId xmlns:a16="http://schemas.microsoft.com/office/drawing/2014/main" id="{B758D0DD-322D-464E-B741-C6B51B43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871" y="3625780"/>
            <a:ext cx="987266" cy="160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2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872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online-critical</a:t>
            </a:r>
          </a:p>
        </p:txBody>
      </p:sp>
      <p:sp>
        <p:nvSpPr>
          <p:cNvPr id="16" name="svg-text-16">
            <a:extLst xmlns:a="http://schemas.openxmlformats.org/drawingml/2006/main">
              <a:ext uri="{FF2B5EF4-FFF2-40B4-BE49-F238E27FC236}">
                <a16:creationId xmlns:a16="http://schemas.microsoft.com/office/drawing/2014/main" id="{38C6D3C9-5EED-4747-A526-4461EE40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871" y="3816443"/>
            <a:ext cx="1355516" cy="14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9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789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protected=true · exclude</a:t>
            </a:r>
          </a:p>
        </p:txBody>
      </p:sp>
      <p:sp>
        <p:nvSpPr>
          <p:cNvPr id="17" name="svg-text-17">
            <a:extLst xmlns:a="http://schemas.openxmlformats.org/drawingml/2006/main">
              <a:ext uri="{FF2B5EF4-FFF2-40B4-BE49-F238E27FC236}">
                <a16:creationId xmlns:a16="http://schemas.microsoft.com/office/drawing/2014/main" id="{D74A952B-E67B-41CD-AE2C-6254C388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141" y="4264206"/>
            <a:ext cx="2938190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0">
                <a:solidFill>
                  <a:srgbClr val="1C7ED6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1C7ED6"/>
                </a:solidFill>
                <a:latin typeface="Arial"/>
                <a:ea typeface="Arial"/>
                <a:cs typeface="Arial"/>
              </a:rPr>
              <a:t>用户维护工作负载标签，无需追踪自动生成的 PodGroup 名称</a:t>
            </a:r>
          </a:p>
        </p:txBody>
      </p:sp>
      <p:sp>
        <p:nvSpPr>
          <p:cNvPr id="18" name="svg-rect-18">
            <a:extLst xmlns:a="http://schemas.openxmlformats.org/drawingml/2006/main">
              <a:ext uri="{FF2B5EF4-FFF2-40B4-BE49-F238E27FC236}">
                <a16:creationId xmlns:a16="http://schemas.microsoft.com/office/drawing/2014/main" id="{A60AAB88-D955-4702-AD67-F1EDF8F2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170" y="2142445"/>
            <a:ext cx="3163661" cy="2573111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0546">
            <a:solidFill>
              <a:srgbClr val="E8890C"/>
            </a:solidFill>
            <a:prstDash val="solid"/>
          </a:ln>
        </p:spPr>
      </p:sp>
      <p:sp>
        <p:nvSpPr>
          <p:cNvPr id="19" name="svg-text-19">
            <a:extLst xmlns:a="http://schemas.openxmlformats.org/drawingml/2006/main">
              <a:ext uri="{FF2B5EF4-FFF2-40B4-BE49-F238E27FC236}">
                <a16:creationId xmlns:a16="http://schemas.microsoft.com/office/drawing/2014/main" id="{72C42027-9DC2-42EA-BE34-34B3F73E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5080" y="2310751"/>
            <a:ext cx="1658384" cy="198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79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079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② 节点轴 · scope.nodes</a:t>
            </a:r>
          </a:p>
        </p:txBody>
      </p:sp>
      <p:sp>
        <p:nvSpPr>
          <p:cNvPr id="20" name="svg-text-20">
            <a:extLst xmlns:a="http://schemas.openxmlformats.org/drawingml/2006/main">
              <a:ext uri="{FF2B5EF4-FFF2-40B4-BE49-F238E27FC236}">
                <a16:creationId xmlns:a16="http://schemas.microsoft.com/office/drawing/2014/main" id="{F00945A5-A6D5-4049-97CF-70813A24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5080" y="2576921"/>
            <a:ext cx="1744436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在目标资源节点中进一步限定节点池</a:t>
            </a:r>
          </a:p>
        </p:txBody>
      </p:sp>
      <p:sp>
        <p:nvSpPr>
          <p:cNvPr id="21" name="svg-rect-21">
            <a:extLst xmlns:a="http://schemas.openxmlformats.org/drawingml/2006/main">
              <a:ext uri="{FF2B5EF4-FFF2-40B4-BE49-F238E27FC236}">
                <a16:creationId xmlns:a16="http://schemas.microsoft.com/office/drawing/2014/main" id="{948D429B-E3E2-43DF-9822-1CF0C2CB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171" y="2901723"/>
            <a:ext cx="2699657" cy="1138918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E8890C"/>
            </a:solidFill>
            <a:prstDash val="solid"/>
          </a:ln>
        </p:spPr>
      </p:sp>
      <p:sp>
        <p:nvSpPr>
          <p:cNvPr id="22" name="svg-text-22">
            <a:extLst xmlns:a="http://schemas.openxmlformats.org/drawingml/2006/main">
              <a:ext uri="{FF2B5EF4-FFF2-40B4-BE49-F238E27FC236}">
                <a16:creationId xmlns:a16="http://schemas.microsoft.com/office/drawing/2014/main" id="{8AE70165-AA6D-4678-B654-5FF9A330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5991" y="3024684"/>
            <a:ext cx="1731359" cy="160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2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872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accelerator-pool=ascend-npu</a:t>
            </a:r>
          </a:p>
        </p:txBody>
      </p:sp>
      <p:sp>
        <p:nvSpPr>
          <p:cNvPr id="23" name="svg-rect-24">
            <a:extLst xmlns:a="http://schemas.openxmlformats.org/drawingml/2006/main">
              <a:ext uri="{FF2B5EF4-FFF2-40B4-BE49-F238E27FC236}">
                <a16:creationId xmlns:a16="http://schemas.microsoft.com/office/drawing/2014/main" id="{A7EFF131-B8D1-42EB-AA33-72A3D518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5991" y="3334090"/>
            <a:ext cx="506186" cy="37963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0546">
            <a:solidFill>
              <a:srgbClr val="E8890C"/>
            </a:solidFill>
            <a:prstDash val="solid"/>
          </a:ln>
        </p:spPr>
      </p:sp>
      <p:sp>
        <p:nvSpPr>
          <p:cNvPr id="24" name="svg-rect-25">
            <a:extLst xmlns:a="http://schemas.openxmlformats.org/drawingml/2006/main">
              <a:ext uri="{FF2B5EF4-FFF2-40B4-BE49-F238E27FC236}">
                <a16:creationId xmlns:a16="http://schemas.microsoft.com/office/drawing/2014/main" id="{FAB9983D-BE61-43DE-8B65-6E69EB94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7632" y="3334090"/>
            <a:ext cx="506186" cy="37963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0546">
            <a:solidFill>
              <a:srgbClr val="E8890C"/>
            </a:solidFill>
            <a:prstDash val="solid"/>
          </a:ln>
        </p:spPr>
      </p:sp>
      <p:sp>
        <p:nvSpPr>
          <p:cNvPr id="25" name="svg-rect-26">
            <a:extLst xmlns:a="http://schemas.openxmlformats.org/drawingml/2006/main">
              <a:ext uri="{FF2B5EF4-FFF2-40B4-BE49-F238E27FC236}">
                <a16:creationId xmlns:a16="http://schemas.microsoft.com/office/drawing/2014/main" id="{7BCD3C4A-2258-4F2D-B5BF-D8158B5E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273" y="3334090"/>
            <a:ext cx="506186" cy="37963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0546">
            <a:solidFill>
              <a:srgbClr val="E8890C"/>
            </a:solidFill>
            <a:prstDash val="solid"/>
          </a:ln>
        </p:spPr>
      </p:sp>
      <p:sp>
        <p:nvSpPr>
          <p:cNvPr id="26" name="svg-rect-27">
            <a:extLst xmlns:a="http://schemas.openxmlformats.org/drawingml/2006/main">
              <a:ext uri="{FF2B5EF4-FFF2-40B4-BE49-F238E27FC236}">
                <a16:creationId xmlns:a16="http://schemas.microsoft.com/office/drawing/2014/main" id="{0FD51218-EC1C-4F41-841B-90B0AB8C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914" y="3334090"/>
            <a:ext cx="506186" cy="37963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1F0"/>
          </a:solidFill>
          <a:ln xmlns:a="http://schemas.openxmlformats.org/drawingml/2006/main" w="10546">
            <a:solidFill>
              <a:srgbClr val="E03131"/>
            </a:solidFill>
            <a:prstDash val="dash"/>
          </a:ln>
        </p:spPr>
      </p:sp>
      <p:sp>
        <p:nvSpPr>
          <p:cNvPr id="27" name="svg-text-28">
            <a:extLst xmlns:a="http://schemas.openxmlformats.org/drawingml/2006/main">
              <a:ext uri="{FF2B5EF4-FFF2-40B4-BE49-F238E27FC236}">
                <a16:creationId xmlns:a16="http://schemas.microsoft.com/office/drawing/2014/main" id="{D691EAA8-9DE6-4A27-8A29-4713911C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060" y="3474135"/>
            <a:ext cx="376047" cy="137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47" b="0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747" b="0">
                <a:solidFill>
                  <a:srgbClr val="1F2328"/>
                </a:solidFill>
                <a:latin typeface="Arial"/>
                <a:ea typeface="Arial"/>
                <a:cs typeface="Arial"/>
              </a:rPr>
              <a:t>node-a</a:t>
            </a:r>
          </a:p>
        </p:txBody>
      </p:sp>
      <p:sp>
        <p:nvSpPr>
          <p:cNvPr id="28" name="svg-text-29">
            <a:extLst xmlns:a="http://schemas.openxmlformats.org/drawingml/2006/main">
              <a:ext uri="{FF2B5EF4-FFF2-40B4-BE49-F238E27FC236}">
                <a16:creationId xmlns:a16="http://schemas.microsoft.com/office/drawing/2014/main" id="{510AE795-60B1-4AD7-BC7A-72DBC964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2702" y="3474135"/>
            <a:ext cx="376047" cy="137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47" b="0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747" b="0">
                <a:solidFill>
                  <a:srgbClr val="1F2328"/>
                </a:solidFill>
                <a:latin typeface="Arial"/>
                <a:ea typeface="Arial"/>
                <a:cs typeface="Arial"/>
              </a:rPr>
              <a:t>node-b</a:t>
            </a:r>
          </a:p>
        </p:txBody>
      </p:sp>
      <p:sp>
        <p:nvSpPr>
          <p:cNvPr id="29" name="svg-text-30">
            <a:extLst xmlns:a="http://schemas.openxmlformats.org/drawingml/2006/main">
              <a:ext uri="{FF2B5EF4-FFF2-40B4-BE49-F238E27FC236}">
                <a16:creationId xmlns:a16="http://schemas.microsoft.com/office/drawing/2014/main" id="{A17A04FE-26EA-44A3-8219-A32222D2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343" y="3474135"/>
            <a:ext cx="376047" cy="137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47" b="0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747" b="0">
                <a:solidFill>
                  <a:srgbClr val="1F2328"/>
                </a:solidFill>
                <a:latin typeface="Arial"/>
                <a:ea typeface="Arial"/>
                <a:cs typeface="Arial"/>
              </a:rPr>
              <a:t>node-c</a:t>
            </a:r>
          </a:p>
        </p:txBody>
      </p:sp>
      <p:sp>
        <p:nvSpPr>
          <p:cNvPr id="30" name="svg-text-31">
            <a:extLst xmlns:a="http://schemas.openxmlformats.org/drawingml/2006/main">
              <a:ext uri="{FF2B5EF4-FFF2-40B4-BE49-F238E27FC236}">
                <a16:creationId xmlns:a16="http://schemas.microsoft.com/office/drawing/2014/main" id="{6FAB354F-1369-4FD3-BD50-466AEA2A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409" y="3474135"/>
            <a:ext cx="429197" cy="137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47" b="0">
                <a:solidFill>
                  <a:srgbClr val="E03131"/>
                </a:solidFill>
                <a:latin typeface="Arial"/>
                <a:ea typeface="Arial"/>
                <a:cs typeface="Arial"/>
              </a:defRPr>
            </a:pPr>
            <a:r>
              <a:rPr sz="747" b="0">
                <a:solidFill>
                  <a:srgbClr val="E03131"/>
                </a:solidFill>
                <a:latin typeface="Arial"/>
                <a:ea typeface="Arial"/>
                <a:cs typeface="Arial"/>
              </a:rPr>
              <a:t>exclude</a:t>
            </a:r>
          </a:p>
        </p:txBody>
      </p:sp>
      <p:sp>
        <p:nvSpPr>
          <p:cNvPr id="31" name="svg-text-32">
            <a:extLst xmlns:a="http://schemas.openxmlformats.org/drawingml/2006/main">
              <a:ext uri="{FF2B5EF4-FFF2-40B4-BE49-F238E27FC236}">
                <a16:creationId xmlns:a16="http://schemas.microsoft.com/office/drawing/2014/main" id="{9DEC677D-0959-4BE0-8A7A-4139E941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171" y="4158751"/>
            <a:ext cx="2166257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范围外节点不会被腾空，但可作为接收节点。</a:t>
            </a:r>
          </a:p>
        </p:txBody>
      </p:sp>
      <p:sp>
        <p:nvSpPr>
          <p:cNvPr id="32" name="svg-text-33">
            <a:extLst xmlns:a="http://schemas.openxmlformats.org/drawingml/2006/main">
              <a:ext uri="{FF2B5EF4-FFF2-40B4-BE49-F238E27FC236}">
                <a16:creationId xmlns:a16="http://schemas.microsoft.com/office/drawing/2014/main" id="{B6F9335F-7291-47F4-8FE4-C29ACA46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171" y="4338025"/>
            <a:ext cx="2693534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需要限制候选节点时，应配置工作负载自身的调度约束。</a:t>
            </a:r>
          </a:p>
        </p:txBody>
      </p:sp>
      <p:sp>
        <p:nvSpPr>
          <p:cNvPr id="33" name="svg-line-34-1">
            <a:extLst xmlns:a="http://schemas.openxmlformats.org/drawingml/2006/main">
              <a:ext uri="{FF2B5EF4-FFF2-40B4-BE49-F238E27FC236}">
                <a16:creationId xmlns:a16="http://schemas.microsoft.com/office/drawing/2014/main" id="{6039CEC7-D53C-48DA-ABC9-030B8773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60346" y="3429000"/>
            <a:ext cx="464004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091">
            <a:solidFill>
              <a:srgbClr val="1C7ED6"/>
            </a:solidFill>
            <a:prstDash val="solid"/>
          </a:ln>
        </p:spPr>
      </p:sp>
      <p:sp>
        <p:nvSpPr>
          <p:cNvPr id="34" name="svg-arrow-34">
            <a:extLst xmlns:a="http://schemas.openxmlformats.org/drawingml/2006/main">
              <a:ext uri="{FF2B5EF4-FFF2-40B4-BE49-F238E27FC236}">
                <a16:creationId xmlns:a16="http://schemas.microsoft.com/office/drawing/2014/main" id="{FB267548-9EB3-4006-A521-C3D54C8F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279531" y="3384181"/>
            <a:ext cx="89637" cy="896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4763">
            <a:solidFill>
              <a:srgbClr val="1C7ED6"/>
            </a:solidFill>
            <a:prstDash val="solid"/>
          </a:ln>
        </p:spPr>
      </p:sp>
      <p:sp>
        <p:nvSpPr>
          <p:cNvPr id="35" name="svg-line-35-1">
            <a:extLst xmlns:a="http://schemas.openxmlformats.org/drawingml/2006/main">
              <a:ext uri="{FF2B5EF4-FFF2-40B4-BE49-F238E27FC236}">
                <a16:creationId xmlns:a16="http://schemas.microsoft.com/office/drawing/2014/main" id="{D1A88168-3DE9-408F-87D6-29C0B975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04377" y="3429000"/>
            <a:ext cx="464004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091">
            <a:solidFill>
              <a:srgbClr val="1C7ED6"/>
            </a:solidFill>
            <a:prstDash val="solid"/>
          </a:ln>
        </p:spPr>
      </p:sp>
      <p:sp>
        <p:nvSpPr>
          <p:cNvPr id="36" name="svg-arrow-35">
            <a:extLst xmlns:a="http://schemas.openxmlformats.org/drawingml/2006/main">
              <a:ext uri="{FF2B5EF4-FFF2-40B4-BE49-F238E27FC236}">
                <a16:creationId xmlns:a16="http://schemas.microsoft.com/office/drawing/2014/main" id="{21346A12-746D-4A87-A582-E8662EC0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23562" y="3384181"/>
            <a:ext cx="89637" cy="896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4763">
            <a:solidFill>
              <a:srgbClr val="1C7ED6"/>
            </a:solidFill>
            <a:prstDash val="solid"/>
          </a:ln>
        </p:spPr>
      </p:sp>
      <p:sp>
        <p:nvSpPr>
          <p:cNvPr id="37" name="svg-rect-36">
            <a:extLst xmlns:a="http://schemas.openxmlformats.org/drawingml/2006/main">
              <a:ext uri="{FF2B5EF4-FFF2-40B4-BE49-F238E27FC236}">
                <a16:creationId xmlns:a16="http://schemas.microsoft.com/office/drawing/2014/main" id="{25FB47D3-5BB6-4F9B-A26F-3C2B0ECD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018" y="2142445"/>
            <a:ext cx="3205843" cy="2573111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EDF9F1"/>
          </a:solidFill>
          <a:ln xmlns:a="http://schemas.openxmlformats.org/drawingml/2006/main" w="10546">
            <a:solidFill>
              <a:srgbClr val="2F9E44"/>
            </a:solidFill>
            <a:prstDash val="solid"/>
          </a:ln>
        </p:spPr>
      </p:sp>
      <p:sp>
        <p:nvSpPr>
          <p:cNvPr id="38" name="svg-text-37">
            <a:extLst xmlns:a="http://schemas.openxmlformats.org/drawingml/2006/main">
              <a:ext uri="{FF2B5EF4-FFF2-40B4-BE49-F238E27FC236}">
                <a16:creationId xmlns:a16="http://schemas.microsoft.com/office/drawing/2014/main" id="{2D663FFC-9599-4984-8972-A198DCEE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929" y="2310751"/>
            <a:ext cx="1896924" cy="198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79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079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③ 两个轴取交集形成候选 Pod</a:t>
            </a:r>
          </a:p>
        </p:txBody>
      </p:sp>
      <p:sp>
        <p:nvSpPr>
          <p:cNvPr id="39" name="svg-rect-38">
            <a:extLst xmlns:a="http://schemas.openxmlformats.org/drawingml/2006/main">
              <a:ext uri="{FF2B5EF4-FFF2-40B4-BE49-F238E27FC236}">
                <a16:creationId xmlns:a16="http://schemas.microsoft.com/office/drawing/2014/main" id="{3D68D877-7D47-46DB-9699-CCE88DF5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020" y="2838450"/>
            <a:ext cx="2741839" cy="801461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2F9E44"/>
            </a:solidFill>
            <a:prstDash val="solid"/>
          </a:ln>
        </p:spPr>
      </p:sp>
      <p:sp>
        <p:nvSpPr>
          <p:cNvPr id="40" name="svg-text-39">
            <a:extLst xmlns:a="http://schemas.openxmlformats.org/drawingml/2006/main">
              <a:ext uri="{FF2B5EF4-FFF2-40B4-BE49-F238E27FC236}">
                <a16:creationId xmlns:a16="http://schemas.microsoft.com/office/drawing/2014/main" id="{A88E8CA2-4EDE-4F5A-9D4F-753CD8D1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237" y="2987353"/>
            <a:ext cx="1871404" cy="168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3" b="1">
                <a:solidFill>
                  <a:srgbClr val="2F9E44"/>
                </a:solidFill>
                <a:latin typeface="Arial"/>
                <a:ea typeface="Arial"/>
                <a:cs typeface="Arial"/>
              </a:defRPr>
            </a:pPr>
            <a:r>
              <a:rPr sz="913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允许驱逐的工作负载 ∩ 可腾空节点</a:t>
            </a:r>
          </a:p>
        </p:txBody>
      </p:sp>
      <p:sp>
        <p:nvSpPr>
          <p:cNvPr id="41" name="svg-text-40">
            <a:extLst xmlns:a="http://schemas.openxmlformats.org/drawingml/2006/main">
              <a:ext uri="{FF2B5EF4-FFF2-40B4-BE49-F238E27FC236}">
                <a16:creationId xmlns:a16="http://schemas.microsoft.com/office/drawing/2014/main" id="{D0B840A1-BEDE-4AD7-BAD4-56FAD2AF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4904" y="3220198"/>
            <a:ext cx="1428070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才会进入节点腾空与迁移模拟</a:t>
            </a:r>
          </a:p>
        </p:txBody>
      </p:sp>
      <p:sp>
        <p:nvSpPr>
          <p:cNvPr id="42" name="svg-text-41">
            <a:extLst xmlns:a="http://schemas.openxmlformats.org/drawingml/2006/main">
              <a:ext uri="{FF2B5EF4-FFF2-40B4-BE49-F238E27FC236}">
                <a16:creationId xmlns:a16="http://schemas.microsoft.com/office/drawing/2014/main" id="{10143BD0-A6FD-4C4A-AD76-37C57411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139" y="3399473"/>
            <a:ext cx="1921601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任一侧未命中，都不会成为本次 victim</a:t>
            </a:r>
          </a:p>
        </p:txBody>
      </p:sp>
      <p:sp>
        <p:nvSpPr>
          <p:cNvPr id="43" name="svg-rect-42">
            <a:extLst xmlns:a="http://schemas.openxmlformats.org/drawingml/2006/main">
              <a:ext uri="{FF2B5EF4-FFF2-40B4-BE49-F238E27FC236}">
                <a16:creationId xmlns:a16="http://schemas.microsoft.com/office/drawing/2014/main" id="{8BA2B179-26DD-42D9-9D61-0AC3FCAF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020" y="3829730"/>
            <a:ext cx="2741839" cy="56945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D0D7DE"/>
            </a:solidFill>
            <a:prstDash val="solid"/>
          </a:ln>
        </p:spPr>
      </p:sp>
      <p:sp>
        <p:nvSpPr>
          <p:cNvPr id="44" name="svg-text-43">
            <a:extLst xmlns:a="http://schemas.openxmlformats.org/drawingml/2006/main">
              <a:ext uri="{FF2B5EF4-FFF2-40B4-BE49-F238E27FC236}">
                <a16:creationId xmlns:a16="http://schemas.microsoft.com/office/drawing/2014/main" id="{5116834E-39E8-4C3D-AC2A-95DF7CDB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1360" y="3952691"/>
            <a:ext cx="1275159" cy="160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72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872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结果：从小范围开始执行</a:t>
            </a:r>
          </a:p>
        </p:txBody>
      </p:sp>
      <p:sp>
        <p:nvSpPr>
          <p:cNvPr id="45" name="svg-text-44">
            <a:extLst xmlns:a="http://schemas.openxmlformats.org/drawingml/2006/main">
              <a:ext uri="{FF2B5EF4-FFF2-40B4-BE49-F238E27FC236}">
                <a16:creationId xmlns:a16="http://schemas.microsoft.com/office/drawing/2014/main" id="{4B6E0B4D-5B36-4380-85A7-27BCA5A8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8630" y="4153900"/>
            <a:ext cx="1960619" cy="14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9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789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受保护的工作负载和范围外节点不参与整理</a:t>
            </a:r>
          </a:p>
        </p:txBody>
      </p:sp>
      <p:sp>
        <p:nvSpPr>
          <p:cNvPr id="46" name="svg-rect-45">
            <a:extLst xmlns:a="http://schemas.openxmlformats.org/drawingml/2006/main">
              <a:ext uri="{FF2B5EF4-FFF2-40B4-BE49-F238E27FC236}">
                <a16:creationId xmlns:a16="http://schemas.microsoft.com/office/drawing/2014/main" id="{C4906E78-1027-4497-A959-8A31A2B4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8696" y="5010830"/>
            <a:ext cx="8014607" cy="358548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0546">
            <a:solidFill>
              <a:srgbClr val="D0D7DE"/>
            </a:solidFill>
            <a:prstDash val="solid"/>
          </a:ln>
        </p:spPr>
      </p:sp>
      <p:sp>
        <p:nvSpPr>
          <p:cNvPr id="47" name="svg-text-46">
            <a:extLst xmlns:a="http://schemas.openxmlformats.org/drawingml/2006/main">
              <a:ext uri="{FF2B5EF4-FFF2-40B4-BE49-F238E27FC236}">
                <a16:creationId xmlns:a16="http://schemas.microsoft.com/office/drawing/2014/main" id="{40E39E83-9F5D-474C-832B-A0779925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135" y="5123246"/>
            <a:ext cx="4129730" cy="160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72" b="0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872" b="0">
                <a:solidFill>
                  <a:srgbClr val="1F2328"/>
                </a:solidFill>
                <a:latin typeface="Arial"/>
                <a:ea typeface="Arial"/>
                <a:cs typeface="Arial"/>
              </a:rPr>
              <a:t>Scope 限定工作负载驱逐范围和可腾空节点；maxPerRun 继续限制单次影响规模。</a:t>
            </a:r>
          </a:p>
        </p:txBody>
      </p:sp>
    </p:spTree>
    <p:extLst>
      <p:ext uri="{BB962C8B-B14F-4D97-AF65-F5344CB8AC3E}">
        <p14:creationId xmlns:p14="http://schemas.microsoft.com/office/powerpoint/2010/main" val="20677450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svg-rect-1">
            <a:extLst xmlns:a="http://schemas.openxmlformats.org/drawingml/2006/main">
              <a:ext uri="{FF2B5EF4-FFF2-40B4-BE49-F238E27FC236}">
                <a16:creationId xmlns:a16="http://schemas.microsoft.com/office/drawing/2014/main" id="{D1884EBF-FBED-4236-9084-601D7920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61710"/>
            <a:ext cx="11811000" cy="4534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vg-text-2">
            <a:extLst xmlns:a="http://schemas.openxmlformats.org/drawingml/2006/main">
              <a:ext uri="{FF2B5EF4-FFF2-40B4-BE49-F238E27FC236}">
                <a16:creationId xmlns:a16="http://schemas.microsoft.com/office/drawing/2014/main" id="{51E7A0DF-E29B-41FF-B847-FDACE871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57" y="1305551"/>
            <a:ext cx="4194796" cy="259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12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412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Gang 中断影响：迁移 Pod 数量更少不一定影响更小</a:t>
            </a:r>
          </a:p>
        </p:txBody>
      </p:sp>
      <p:sp>
        <p:nvSpPr>
          <p:cNvPr id="3" name="svg-text-3">
            <a:extLst xmlns:a="http://schemas.openxmlformats.org/drawingml/2006/main">
              <a:ext uri="{FF2B5EF4-FFF2-40B4-BE49-F238E27FC236}">
                <a16:creationId xmlns:a16="http://schemas.microsoft.com/office/drawing/2014/main" id="{C9625C7B-F2DE-411E-ADAB-C513CF81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57" y="1626979"/>
            <a:ext cx="5432631" cy="168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3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913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所有候选先通过可调度性验证；在可行方案中，Repack 优先选择迁移后仍满足 MinAvailable 的方案。</a:t>
            </a:r>
          </a:p>
        </p:txBody>
      </p:sp>
      <p:sp>
        <p:nvSpPr>
          <p:cNvPr id="4" name="svg-rect-4">
            <a:extLst xmlns:a="http://schemas.openxmlformats.org/drawingml/2006/main">
              <a:ext uri="{FF2B5EF4-FFF2-40B4-BE49-F238E27FC236}">
                <a16:creationId xmlns:a16="http://schemas.microsoft.com/office/drawing/2014/main" id="{70913E64-8918-4F20-ACCB-ADEA05BB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048" y="2068626"/>
            <a:ext cx="4787673" cy="2741839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DF9F1"/>
          </a:solidFill>
          <a:ln xmlns:a="http://schemas.openxmlformats.org/drawingml/2006/main" w="15818">
            <a:solidFill>
              <a:srgbClr val="2F9E44"/>
            </a:solidFill>
            <a:prstDash val="solid"/>
          </a:ln>
        </p:spPr>
      </p:sp>
      <p:sp>
        <p:nvSpPr>
          <p:cNvPr id="5" name="svg-text-5">
            <a:extLst xmlns:a="http://schemas.openxmlformats.org/drawingml/2006/main">
              <a:ext uri="{FF2B5EF4-FFF2-40B4-BE49-F238E27FC236}">
                <a16:creationId xmlns:a16="http://schemas.microsoft.com/office/drawing/2014/main" id="{06059824-1056-4DAA-9DAF-017835CF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5543"/>
            <a:ext cx="1264825" cy="214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候选 A · 优先选择</a:t>
            </a:r>
          </a:p>
        </p:txBody>
      </p:sp>
      <p:sp>
        <p:nvSpPr>
          <p:cNvPr id="6" name="svg-text-6">
            <a:extLst xmlns:a="http://schemas.openxmlformats.org/drawingml/2006/main">
              <a:ext uri="{FF2B5EF4-FFF2-40B4-BE49-F238E27FC236}">
                <a16:creationId xmlns:a16="http://schemas.microsoft.com/office/drawing/2014/main" id="{F5931AE8-EF25-46EA-AC48-08EFC5CD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03102"/>
            <a:ext cx="2233749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腾空 node-a，需要迁移 train-a 的 2 个 Pod</a:t>
            </a:r>
          </a:p>
        </p:txBody>
      </p:sp>
      <p:sp>
        <p:nvSpPr>
          <p:cNvPr id="7" name="svg-rect-7">
            <a:extLst xmlns:a="http://schemas.openxmlformats.org/drawingml/2006/main">
              <a:ext uri="{FF2B5EF4-FFF2-40B4-BE49-F238E27FC236}">
                <a16:creationId xmlns:a16="http://schemas.microsoft.com/office/drawing/2014/main" id="{D95C2FD2-C406-4010-BADA-0CA55542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1518557" cy="1096736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2F9E44"/>
            </a:solidFill>
            <a:prstDash val="solid"/>
          </a:ln>
        </p:spPr>
      </p:sp>
      <p:sp>
        <p:nvSpPr>
          <p:cNvPr id="8" name="svg-text-8">
            <a:extLst xmlns:a="http://schemas.openxmlformats.org/drawingml/2006/main">
              <a:ext uri="{FF2B5EF4-FFF2-40B4-BE49-F238E27FC236}">
                <a16:creationId xmlns:a16="http://schemas.microsoft.com/office/drawing/2014/main" id="{288868A2-3205-45C4-893F-802AAEF9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392" y="2955716"/>
            <a:ext cx="511874" cy="168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3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913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train-a</a:t>
            </a:r>
          </a:p>
        </p:txBody>
      </p:sp>
      <p:sp>
        <p:nvSpPr>
          <p:cNvPr id="9" name="svg-text-9">
            <a:extLst xmlns:a="http://schemas.openxmlformats.org/drawingml/2006/main">
              <a:ext uri="{FF2B5EF4-FFF2-40B4-BE49-F238E27FC236}">
                <a16:creationId xmlns:a16="http://schemas.microsoft.com/office/drawing/2014/main" id="{848D701D-1784-4CA0-BF67-46CBEE33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52" y="3152074"/>
            <a:ext cx="936753" cy="14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9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789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MinAvailable = 4</a:t>
            </a:r>
          </a:p>
        </p:txBody>
      </p:sp>
      <p:sp>
        <p:nvSpPr>
          <p:cNvPr id="10" name="svg-rect-11">
            <a:extLst xmlns:a="http://schemas.openxmlformats.org/drawingml/2006/main">
              <a:ext uri="{FF2B5EF4-FFF2-40B4-BE49-F238E27FC236}">
                <a16:creationId xmlns:a16="http://schemas.microsoft.com/office/drawing/2014/main" id="{D500ED88-E6CD-4F3D-8B80-72DA4E24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8" y="3429000"/>
            <a:ext cx="210911" cy="210911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vg-rect-12">
            <a:extLst xmlns:a="http://schemas.openxmlformats.org/drawingml/2006/main">
              <a:ext uri="{FF2B5EF4-FFF2-40B4-BE49-F238E27FC236}">
                <a16:creationId xmlns:a16="http://schemas.microsoft.com/office/drawing/2014/main" id="{176989F6-8102-4745-BA0D-297200DD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17" y="3429000"/>
            <a:ext cx="210911" cy="210911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vg-rect-13">
            <a:extLst xmlns:a="http://schemas.openxmlformats.org/drawingml/2006/main">
              <a:ext uri="{FF2B5EF4-FFF2-40B4-BE49-F238E27FC236}">
                <a16:creationId xmlns:a16="http://schemas.microsoft.com/office/drawing/2014/main" id="{1A8D12A3-0262-4646-A41B-24F06B37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146" y="3429000"/>
            <a:ext cx="210911" cy="210911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vg-rect-14">
            <a:extLst xmlns:a="http://schemas.openxmlformats.org/drawingml/2006/main">
              <a:ext uri="{FF2B5EF4-FFF2-40B4-BE49-F238E27FC236}">
                <a16:creationId xmlns:a16="http://schemas.microsoft.com/office/drawing/2014/main" id="{F96425A1-A355-4B1D-9364-CDA1FBB3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876" y="3429000"/>
            <a:ext cx="210911" cy="210911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vg-rect-15">
            <a:extLst xmlns:a="http://schemas.openxmlformats.org/drawingml/2006/main">
              <a:ext uri="{FF2B5EF4-FFF2-40B4-BE49-F238E27FC236}">
                <a16:creationId xmlns:a16="http://schemas.microsoft.com/office/drawing/2014/main" id="{EE1A89C7-D468-4C7D-9CC1-932C1963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605" y="3429000"/>
            <a:ext cx="210911" cy="210911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0546">
            <a:solidFill>
              <a:srgbClr val="1C7ED6"/>
            </a:solidFill>
            <a:prstDash val="solid"/>
          </a:ln>
        </p:spPr>
      </p:sp>
      <p:sp>
        <p:nvSpPr>
          <p:cNvPr id="15" name="svg-text-16">
            <a:extLst xmlns:a="http://schemas.openxmlformats.org/drawingml/2006/main">
              <a:ext uri="{FF2B5EF4-FFF2-40B4-BE49-F238E27FC236}">
                <a16:creationId xmlns:a16="http://schemas.microsoft.com/office/drawing/2014/main" id="{F0E32132-3C9D-4AE6-BE3D-334693BB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28" y="3485524"/>
            <a:ext cx="11283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64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64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6" name="svg-text-17">
            <a:extLst xmlns:a="http://schemas.openxmlformats.org/drawingml/2006/main">
              <a:ext uri="{FF2B5EF4-FFF2-40B4-BE49-F238E27FC236}">
                <a16:creationId xmlns:a16="http://schemas.microsoft.com/office/drawing/2014/main" id="{8D58E9B2-8E7B-4784-97F3-20AFA036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457" y="3485524"/>
            <a:ext cx="11283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64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64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7" name="svg-text-18">
            <a:extLst xmlns:a="http://schemas.openxmlformats.org/drawingml/2006/main">
              <a:ext uri="{FF2B5EF4-FFF2-40B4-BE49-F238E27FC236}">
                <a16:creationId xmlns:a16="http://schemas.microsoft.com/office/drawing/2014/main" id="{2AE8D166-20DC-4541-9710-1FB7332C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187" y="3485524"/>
            <a:ext cx="11283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64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64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8" name="svg-text-19">
            <a:extLst xmlns:a="http://schemas.openxmlformats.org/drawingml/2006/main">
              <a:ext uri="{FF2B5EF4-FFF2-40B4-BE49-F238E27FC236}">
                <a16:creationId xmlns:a16="http://schemas.microsoft.com/office/drawing/2014/main" id="{B6853FB1-27D2-48EF-939B-5AA0D241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916" y="3485524"/>
            <a:ext cx="11283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64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64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9" name="svg-text-20">
            <a:extLst xmlns:a="http://schemas.openxmlformats.org/drawingml/2006/main">
              <a:ext uri="{FF2B5EF4-FFF2-40B4-BE49-F238E27FC236}">
                <a16:creationId xmlns:a16="http://schemas.microsoft.com/office/drawing/2014/main" id="{E9947A6D-6C46-478D-BB79-85E1F490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183" y="3485524"/>
            <a:ext cx="21575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64" b="0">
                <a:solidFill>
                  <a:srgbClr val="1C7ED6"/>
                </a:solidFill>
                <a:latin typeface="Arial"/>
                <a:ea typeface="Arial"/>
                <a:cs typeface="Arial"/>
              </a:defRPr>
            </a:pPr>
            <a:r>
              <a:rPr sz="664" b="0">
                <a:solidFill>
                  <a:srgbClr val="1C7ED6"/>
                </a:solidFill>
                <a:latin typeface="Arial"/>
                <a:ea typeface="Arial"/>
                <a:cs typeface="Arial"/>
              </a:rPr>
              <a:t>M×2</a:t>
            </a:r>
          </a:p>
        </p:txBody>
      </p:sp>
      <p:sp>
        <p:nvSpPr>
          <p:cNvPr id="20" name="svg-line-21-1">
            <a:extLst xmlns:a="http://schemas.openxmlformats.org/drawingml/2006/main">
              <a:ext uri="{FF2B5EF4-FFF2-40B4-BE49-F238E27FC236}">
                <a16:creationId xmlns:a16="http://schemas.microsoft.com/office/drawing/2014/main" id="{4DF6F206-11F9-4C34-A58D-DFF5FFFE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68336" y="3386818"/>
            <a:ext cx="632732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091">
            <a:solidFill>
              <a:srgbClr val="1C7ED6"/>
            </a:solidFill>
            <a:prstDash val="solid"/>
          </a:ln>
        </p:spPr>
      </p:sp>
      <p:sp>
        <p:nvSpPr>
          <p:cNvPr id="21" name="svg-arrow-21">
            <a:extLst xmlns:a="http://schemas.openxmlformats.org/drawingml/2006/main">
              <a:ext uri="{FF2B5EF4-FFF2-40B4-BE49-F238E27FC236}">
                <a16:creationId xmlns:a16="http://schemas.microsoft.com/office/drawing/2014/main" id="{B22A01BD-FBC2-4435-8B8F-BDDFD87A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056249" y="3341999"/>
            <a:ext cx="89637" cy="896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4763">
            <a:solidFill>
              <a:srgbClr val="1C7ED6"/>
            </a:solidFill>
            <a:prstDash val="solid"/>
          </a:ln>
        </p:spPr>
      </p:sp>
      <p:sp>
        <p:nvSpPr>
          <p:cNvPr id="22" name="svg-rect-22">
            <a:extLst xmlns:a="http://schemas.openxmlformats.org/drawingml/2006/main">
              <a:ext uri="{FF2B5EF4-FFF2-40B4-BE49-F238E27FC236}">
                <a16:creationId xmlns:a16="http://schemas.microsoft.com/office/drawing/2014/main" id="{930A275E-D305-450E-A499-7413665D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9796" y="2838450"/>
            <a:ext cx="1750559" cy="1096736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2F9E44"/>
            </a:solidFill>
            <a:prstDash val="solid"/>
          </a:ln>
        </p:spPr>
      </p:sp>
      <p:sp>
        <p:nvSpPr>
          <p:cNvPr id="23" name="svg-text-23">
            <a:extLst xmlns:a="http://schemas.openxmlformats.org/drawingml/2006/main">
              <a:ext uri="{FF2B5EF4-FFF2-40B4-BE49-F238E27FC236}">
                <a16:creationId xmlns:a16="http://schemas.microsoft.com/office/drawing/2014/main" id="{7C15AA92-ED3B-45C7-858B-E81EE5EA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575" y="2987353"/>
            <a:ext cx="1593002" cy="168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3" b="1">
                <a:solidFill>
                  <a:srgbClr val="2F9E44"/>
                </a:solidFill>
                <a:latin typeface="Arial"/>
                <a:ea typeface="Arial"/>
                <a:cs typeface="Arial"/>
              </a:defRPr>
            </a:pPr>
            <a:r>
              <a:rPr sz="913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迁移后仍满足 MinAvailable</a:t>
            </a:r>
          </a:p>
        </p:txBody>
      </p:sp>
      <p:sp>
        <p:nvSpPr>
          <p:cNvPr id="24" name="svg-text-24">
            <a:extLst xmlns:a="http://schemas.openxmlformats.org/drawingml/2006/main">
              <a:ext uri="{FF2B5EF4-FFF2-40B4-BE49-F238E27FC236}">
                <a16:creationId xmlns:a16="http://schemas.microsoft.com/office/drawing/2014/main" id="{46DF097D-C595-4E87-8265-E1D72424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951" y="3230744"/>
            <a:ext cx="1122249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剩余 Running Pod：4</a:t>
            </a:r>
          </a:p>
        </p:txBody>
      </p:sp>
      <p:sp>
        <p:nvSpPr>
          <p:cNvPr id="25" name="svg-text-25">
            <a:extLst xmlns:a="http://schemas.openxmlformats.org/drawingml/2006/main">
              <a:ext uri="{FF2B5EF4-FFF2-40B4-BE49-F238E27FC236}">
                <a16:creationId xmlns:a16="http://schemas.microsoft.com/office/drawing/2014/main" id="{647E9F26-FB06-44D7-A207-514941AC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842" y="3441655"/>
            <a:ext cx="1242468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低于 MinAvailable：否</a:t>
            </a:r>
          </a:p>
        </p:txBody>
      </p:sp>
      <p:sp>
        <p:nvSpPr>
          <p:cNvPr id="26" name="svg-text-26">
            <a:extLst xmlns:a="http://schemas.openxmlformats.org/drawingml/2006/main">
              <a:ext uri="{FF2B5EF4-FFF2-40B4-BE49-F238E27FC236}">
                <a16:creationId xmlns:a16="http://schemas.microsoft.com/office/drawing/2014/main" id="{43F66DE3-F0A0-4822-B382-7E87215A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090"/>
            <a:ext cx="1639402" cy="168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3" b="1">
                <a:solidFill>
                  <a:srgbClr val="2F9E44"/>
                </a:solidFill>
                <a:latin typeface="Arial"/>
                <a:ea typeface="Arial"/>
                <a:cs typeface="Arial"/>
              </a:defRPr>
            </a:pPr>
            <a:r>
              <a:rPr sz="913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中断影响评分较低 → 优先选择</a:t>
            </a:r>
          </a:p>
        </p:txBody>
      </p:sp>
      <p:sp>
        <p:nvSpPr>
          <p:cNvPr id="27" name="svg-text-27">
            <a:extLst xmlns:a="http://schemas.openxmlformats.org/drawingml/2006/main">
              <a:ext uri="{FF2B5EF4-FFF2-40B4-BE49-F238E27FC236}">
                <a16:creationId xmlns:a16="http://schemas.microsoft.com/office/drawing/2014/main" id="{BD70CD69-C157-4DDE-8F0A-A5ED429E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43481"/>
            <a:ext cx="3250338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计划仍记录迁移范围，并在 Execute 时遵守 PDB 与实时调度约束。</a:t>
            </a:r>
          </a:p>
        </p:txBody>
      </p:sp>
      <p:sp>
        <p:nvSpPr>
          <p:cNvPr id="28" name="svg-rect-28">
            <a:extLst xmlns:a="http://schemas.openxmlformats.org/drawingml/2006/main">
              <a:ext uri="{FF2B5EF4-FFF2-40B4-BE49-F238E27FC236}">
                <a16:creationId xmlns:a16="http://schemas.microsoft.com/office/drawing/2014/main" id="{08AEBB72-6843-4AE8-8898-1308734F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5279" y="2068626"/>
            <a:ext cx="4787673" cy="2741839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1F0"/>
          </a:solidFill>
          <a:ln xmlns:a="http://schemas.openxmlformats.org/drawingml/2006/main" w="15818">
            <a:solidFill>
              <a:srgbClr val="E03131"/>
            </a:solidFill>
            <a:prstDash val="solid"/>
          </a:ln>
        </p:spPr>
      </p:sp>
      <p:sp>
        <p:nvSpPr>
          <p:cNvPr id="29" name="svg-text-29">
            <a:extLst xmlns:a="http://schemas.openxmlformats.org/drawingml/2006/main">
              <a:ext uri="{FF2B5EF4-FFF2-40B4-BE49-F238E27FC236}">
                <a16:creationId xmlns:a16="http://schemas.microsoft.com/office/drawing/2014/main" id="{8DCE5CB0-EE91-4854-9171-DDF813B0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280" y="2225543"/>
            <a:ext cx="1707737" cy="214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候选 B · 可行但排序靠后</a:t>
            </a:r>
          </a:p>
        </p:txBody>
      </p:sp>
      <p:sp>
        <p:nvSpPr>
          <p:cNvPr id="30" name="svg-text-30">
            <a:extLst xmlns:a="http://schemas.openxmlformats.org/drawingml/2006/main">
              <a:ext uri="{FF2B5EF4-FFF2-40B4-BE49-F238E27FC236}">
                <a16:creationId xmlns:a16="http://schemas.microsoft.com/office/drawing/2014/main" id="{442FFA25-B757-427C-9BAE-AE0B4F09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280" y="2503102"/>
            <a:ext cx="2233749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腾空 node-b，只需迁移 train-b 的 1 个 Pod</a:t>
            </a:r>
          </a:p>
        </p:txBody>
      </p:sp>
      <p:sp>
        <p:nvSpPr>
          <p:cNvPr id="31" name="svg-rect-31">
            <a:extLst xmlns:a="http://schemas.openxmlformats.org/drawingml/2006/main">
              <a:ext uri="{FF2B5EF4-FFF2-40B4-BE49-F238E27FC236}">
                <a16:creationId xmlns:a16="http://schemas.microsoft.com/office/drawing/2014/main" id="{119230D8-EEBC-4CB1-97DD-B70E8099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280" y="2838450"/>
            <a:ext cx="1518557" cy="1096736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E03131"/>
            </a:solidFill>
            <a:prstDash val="solid"/>
          </a:ln>
        </p:spPr>
      </p:sp>
      <p:sp>
        <p:nvSpPr>
          <p:cNvPr id="32" name="svg-text-32">
            <a:extLst xmlns:a="http://schemas.openxmlformats.org/drawingml/2006/main">
              <a:ext uri="{FF2B5EF4-FFF2-40B4-BE49-F238E27FC236}">
                <a16:creationId xmlns:a16="http://schemas.microsoft.com/office/drawing/2014/main" id="{8C9024EA-619A-43AE-A754-F9A17C1F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0622" y="2955716"/>
            <a:ext cx="511874" cy="168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3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913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train-b</a:t>
            </a:r>
          </a:p>
        </p:txBody>
      </p:sp>
      <p:sp>
        <p:nvSpPr>
          <p:cNvPr id="33" name="svg-text-33">
            <a:extLst xmlns:a="http://schemas.openxmlformats.org/drawingml/2006/main">
              <a:ext uri="{FF2B5EF4-FFF2-40B4-BE49-F238E27FC236}">
                <a16:creationId xmlns:a16="http://schemas.microsoft.com/office/drawing/2014/main" id="{7EB14CB5-BEF2-4A4E-867B-13C9790A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8182" y="3152074"/>
            <a:ext cx="936753" cy="14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9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789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MinAvailable = 4</a:t>
            </a:r>
          </a:p>
        </p:txBody>
      </p:sp>
      <p:sp>
        <p:nvSpPr>
          <p:cNvPr id="34" name="svg-rect-35">
            <a:extLst xmlns:a="http://schemas.openxmlformats.org/drawingml/2006/main">
              <a:ext uri="{FF2B5EF4-FFF2-40B4-BE49-F238E27FC236}">
                <a16:creationId xmlns:a16="http://schemas.microsoft.com/office/drawing/2014/main" id="{73B14FA3-4EAF-401F-B46C-9848A5E7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4918" y="3429000"/>
            <a:ext cx="210911" cy="210911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vg-rect-36">
            <a:extLst xmlns:a="http://schemas.openxmlformats.org/drawingml/2006/main">
              <a:ext uri="{FF2B5EF4-FFF2-40B4-BE49-F238E27FC236}">
                <a16:creationId xmlns:a16="http://schemas.microsoft.com/office/drawing/2014/main" id="{B89837E6-E71A-417B-BFE3-6E405608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647" y="3429000"/>
            <a:ext cx="210911" cy="210911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vg-rect-37">
            <a:extLst xmlns:a="http://schemas.openxmlformats.org/drawingml/2006/main">
              <a:ext uri="{FF2B5EF4-FFF2-40B4-BE49-F238E27FC236}">
                <a16:creationId xmlns:a16="http://schemas.microsoft.com/office/drawing/2014/main" id="{D254035A-FB09-4ED2-8A99-27DB6E87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4377" y="3429000"/>
            <a:ext cx="210911" cy="210911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vg-rect-38">
            <a:extLst xmlns:a="http://schemas.openxmlformats.org/drawingml/2006/main">
              <a:ext uri="{FF2B5EF4-FFF2-40B4-BE49-F238E27FC236}">
                <a16:creationId xmlns:a16="http://schemas.microsoft.com/office/drawing/2014/main" id="{C7677C63-9B08-48AB-8275-69E39335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106" y="3429000"/>
            <a:ext cx="210911" cy="210911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0546">
            <a:solidFill>
              <a:srgbClr val="E03131"/>
            </a:solidFill>
            <a:prstDash val="solid"/>
          </a:ln>
        </p:spPr>
      </p:sp>
      <p:sp>
        <p:nvSpPr>
          <p:cNvPr id="38" name="svg-text-39">
            <a:extLst xmlns:a="http://schemas.openxmlformats.org/drawingml/2006/main">
              <a:ext uri="{FF2B5EF4-FFF2-40B4-BE49-F238E27FC236}">
                <a16:creationId xmlns:a16="http://schemas.microsoft.com/office/drawing/2014/main" id="{CB4023C2-B795-4835-ADE5-7DFF4A18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3958" y="3485524"/>
            <a:ext cx="11283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64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64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39" name="svg-text-40">
            <a:extLst xmlns:a="http://schemas.openxmlformats.org/drawingml/2006/main">
              <a:ext uri="{FF2B5EF4-FFF2-40B4-BE49-F238E27FC236}">
                <a16:creationId xmlns:a16="http://schemas.microsoft.com/office/drawing/2014/main" id="{78DAA81F-4AB4-442F-95B6-C0643202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8687" y="3485524"/>
            <a:ext cx="11283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64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64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40" name="svg-text-41">
            <a:extLst xmlns:a="http://schemas.openxmlformats.org/drawingml/2006/main">
              <a:ext uri="{FF2B5EF4-FFF2-40B4-BE49-F238E27FC236}">
                <a16:creationId xmlns:a16="http://schemas.microsoft.com/office/drawing/2014/main" id="{6DF84C6A-241E-49D3-AF39-F521003F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3417" y="3485524"/>
            <a:ext cx="11283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64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64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41" name="svg-text-42">
            <a:extLst xmlns:a="http://schemas.openxmlformats.org/drawingml/2006/main">
              <a:ext uri="{FF2B5EF4-FFF2-40B4-BE49-F238E27FC236}">
                <a16:creationId xmlns:a16="http://schemas.microsoft.com/office/drawing/2014/main" id="{7131CCE6-DDB1-42E7-9990-EDA57A4C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46" y="3485524"/>
            <a:ext cx="11283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64" b="0">
                <a:solidFill>
                  <a:srgbClr val="E03131"/>
                </a:solidFill>
                <a:latin typeface="Arial"/>
                <a:ea typeface="Arial"/>
                <a:cs typeface="Arial"/>
              </a:defRPr>
            </a:pPr>
            <a:r>
              <a:rPr sz="664" b="0">
                <a:solidFill>
                  <a:srgbClr val="E03131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42" name="svg-line-43-1">
            <a:extLst xmlns:a="http://schemas.openxmlformats.org/drawingml/2006/main">
              <a:ext uri="{FF2B5EF4-FFF2-40B4-BE49-F238E27FC236}">
                <a16:creationId xmlns:a16="http://schemas.microsoft.com/office/drawing/2014/main" id="{7DA1B996-5325-4846-9CFE-230FF236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74566" y="3386818"/>
            <a:ext cx="632732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091">
            <a:solidFill>
              <a:srgbClr val="E03131"/>
            </a:solidFill>
            <a:prstDash val="solid"/>
          </a:ln>
        </p:spPr>
      </p:sp>
      <p:sp>
        <p:nvSpPr>
          <p:cNvPr id="43" name="svg-arrow-43">
            <a:extLst xmlns:a="http://schemas.openxmlformats.org/drawingml/2006/main">
              <a:ext uri="{FF2B5EF4-FFF2-40B4-BE49-F238E27FC236}">
                <a16:creationId xmlns:a16="http://schemas.microsoft.com/office/drawing/2014/main" id="{31CD5E28-6012-4BB3-B884-316CCCE6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62480" y="3341999"/>
            <a:ext cx="89637" cy="896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03131"/>
          </a:solidFill>
          <a:ln xmlns:a="http://schemas.openxmlformats.org/drawingml/2006/main" w="4763">
            <a:solidFill>
              <a:srgbClr val="E03131"/>
            </a:solidFill>
            <a:prstDash val="solid"/>
          </a:ln>
        </p:spPr>
      </p:sp>
      <p:sp>
        <p:nvSpPr>
          <p:cNvPr id="44" name="svg-rect-44">
            <a:extLst xmlns:a="http://schemas.openxmlformats.org/drawingml/2006/main">
              <a:ext uri="{FF2B5EF4-FFF2-40B4-BE49-F238E27FC236}">
                <a16:creationId xmlns:a16="http://schemas.microsoft.com/office/drawing/2014/main" id="{4F72005F-1334-45D1-B6F0-37946E02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027" y="2838450"/>
            <a:ext cx="1750559" cy="1096736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E03131"/>
            </a:solidFill>
            <a:prstDash val="solid"/>
          </a:ln>
        </p:spPr>
      </p:sp>
      <p:sp>
        <p:nvSpPr>
          <p:cNvPr id="45" name="svg-text-45">
            <a:extLst xmlns:a="http://schemas.openxmlformats.org/drawingml/2006/main">
              <a:ext uri="{FF2B5EF4-FFF2-40B4-BE49-F238E27FC236}">
                <a16:creationId xmlns:a16="http://schemas.microsoft.com/office/drawing/2014/main" id="{0C697389-96C6-428E-BEE1-07079FB8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2806" y="2987353"/>
            <a:ext cx="1477001" cy="168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3" b="1">
                <a:solidFill>
                  <a:srgbClr val="E03131"/>
                </a:solidFill>
                <a:latin typeface="Arial"/>
                <a:ea typeface="Arial"/>
                <a:cs typeface="Arial"/>
              </a:defRPr>
            </a:pPr>
            <a:r>
              <a:rPr sz="913" b="1">
                <a:solidFill>
                  <a:srgbClr val="E03131"/>
                </a:solidFill>
                <a:latin typeface="Arial"/>
                <a:ea typeface="Arial"/>
                <a:cs typeface="Arial"/>
              </a:rPr>
              <a:t>迁移后低于 MinAvailable</a:t>
            </a:r>
          </a:p>
        </p:txBody>
      </p:sp>
      <p:sp>
        <p:nvSpPr>
          <p:cNvPr id="46" name="svg-text-46">
            <a:extLst xmlns:a="http://schemas.openxmlformats.org/drawingml/2006/main">
              <a:ext uri="{FF2B5EF4-FFF2-40B4-BE49-F238E27FC236}">
                <a16:creationId xmlns:a16="http://schemas.microsoft.com/office/drawing/2014/main" id="{8F2979FC-0A6C-4401-BF8D-889363D9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0182" y="3230744"/>
            <a:ext cx="1122249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剩余 Running Pod：3</a:t>
            </a:r>
          </a:p>
        </p:txBody>
      </p:sp>
      <p:sp>
        <p:nvSpPr>
          <p:cNvPr id="47" name="svg-text-47">
            <a:extLst xmlns:a="http://schemas.openxmlformats.org/drawingml/2006/main">
              <a:ext uri="{FF2B5EF4-FFF2-40B4-BE49-F238E27FC236}">
                <a16:creationId xmlns:a16="http://schemas.microsoft.com/office/drawing/2014/main" id="{8EBEFAE4-84B2-4DA9-B297-2459AE63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072" y="3441655"/>
            <a:ext cx="1242468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低于 MinAvailable：是</a:t>
            </a:r>
          </a:p>
        </p:txBody>
      </p:sp>
      <p:sp>
        <p:nvSpPr>
          <p:cNvPr id="48" name="svg-text-48">
            <a:extLst xmlns:a="http://schemas.openxmlformats.org/drawingml/2006/main">
              <a:ext uri="{FF2B5EF4-FFF2-40B4-BE49-F238E27FC236}">
                <a16:creationId xmlns:a16="http://schemas.microsoft.com/office/drawing/2014/main" id="{62A38534-76C8-4E46-AD04-916C01F9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280" y="4200090"/>
            <a:ext cx="1639402" cy="168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3" b="1">
                <a:solidFill>
                  <a:srgbClr val="E03131"/>
                </a:solidFill>
                <a:latin typeface="Arial"/>
                <a:ea typeface="Arial"/>
                <a:cs typeface="Arial"/>
              </a:defRPr>
            </a:pPr>
            <a:r>
              <a:rPr sz="913" b="1">
                <a:solidFill>
                  <a:srgbClr val="E03131"/>
                </a:solidFill>
                <a:latin typeface="Arial"/>
                <a:ea typeface="Arial"/>
                <a:cs typeface="Arial"/>
              </a:rPr>
              <a:t>中断影响评分较高 → 排序靠后</a:t>
            </a:r>
          </a:p>
        </p:txBody>
      </p:sp>
      <p:sp>
        <p:nvSpPr>
          <p:cNvPr id="49" name="svg-text-49">
            <a:extLst xmlns:a="http://schemas.openxmlformats.org/drawingml/2006/main">
              <a:ext uri="{FF2B5EF4-FFF2-40B4-BE49-F238E27FC236}">
                <a16:creationId xmlns:a16="http://schemas.microsoft.com/office/drawing/2014/main" id="{81FE1672-F244-4C13-B86B-F4F461C4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280" y="4443481"/>
            <a:ext cx="3172301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不可中断的工作负载应通过 Scope 排除，而不是仅依赖评分排序。</a:t>
            </a:r>
          </a:p>
        </p:txBody>
      </p:sp>
      <p:sp>
        <p:nvSpPr>
          <p:cNvPr id="50" name="svg-rect-50">
            <a:extLst xmlns:a="http://schemas.openxmlformats.org/drawingml/2006/main">
              <a:ext uri="{FF2B5EF4-FFF2-40B4-BE49-F238E27FC236}">
                <a16:creationId xmlns:a16="http://schemas.microsoft.com/office/drawing/2014/main" id="{AE5B46E8-F49C-4699-9158-ADAA9157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057" y="5084649"/>
            <a:ext cx="8773886" cy="358548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0546">
            <a:solidFill>
              <a:srgbClr val="D0D7DE"/>
            </a:solidFill>
            <a:prstDash val="solid"/>
          </a:ln>
        </p:spPr>
      </p:sp>
      <p:sp>
        <p:nvSpPr>
          <p:cNvPr id="51" name="svg-text-51">
            <a:extLst xmlns:a="http://schemas.openxmlformats.org/drawingml/2006/main">
              <a:ext uri="{FF2B5EF4-FFF2-40B4-BE49-F238E27FC236}">
                <a16:creationId xmlns:a16="http://schemas.microsoft.com/office/drawing/2014/main" id="{21636835-C196-43D5-AF58-BC1E80B8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517" y="5197065"/>
            <a:ext cx="4864965" cy="160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72" b="0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872" b="0">
                <a:solidFill>
                  <a:srgbClr val="1F2328"/>
                </a:solidFill>
                <a:latin typeface="Arial"/>
                <a:ea typeface="Arial"/>
                <a:cs typeface="Arial"/>
              </a:rPr>
              <a:t>五个维度在本轮候选间分别归一化并加权求和；总分越低越优先，分数不能跨轮次或跨 Run 比较。</a:t>
            </a:r>
          </a:p>
        </p:txBody>
      </p:sp>
    </p:spTree>
    <p:extLst>
      <p:ext uri="{BB962C8B-B14F-4D97-AF65-F5344CB8AC3E}">
        <p14:creationId xmlns:p14="http://schemas.microsoft.com/office/powerpoint/2010/main" val="6024193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svg-rect-1">
            <a:extLst xmlns:a="http://schemas.openxmlformats.org/drawingml/2006/main">
              <a:ext uri="{FF2B5EF4-FFF2-40B4-BE49-F238E27FC236}">
                <a16:creationId xmlns:a16="http://schemas.microsoft.com/office/drawing/2014/main" id="{4D7171E4-38AB-4BC3-A0B5-695BF9AC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14438"/>
            <a:ext cx="11811000" cy="442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vg-text-2">
            <a:extLst xmlns:a="http://schemas.openxmlformats.org/drawingml/2006/main">
              <a:ext uri="{FF2B5EF4-FFF2-40B4-BE49-F238E27FC236}">
                <a16:creationId xmlns:a16="http://schemas.microsoft.com/office/drawing/2014/main" id="{4A703EA2-4DB7-4453-B6FF-6ABFC050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57" y="1358279"/>
            <a:ext cx="4539003" cy="259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12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412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腾空候选排序：先验证可行性，再比较工作负载中断影响</a:t>
            </a:r>
          </a:p>
        </p:txBody>
      </p:sp>
      <p:sp>
        <p:nvSpPr>
          <p:cNvPr id="3" name="svg-text-3">
            <a:extLst xmlns:a="http://schemas.openxmlformats.org/drawingml/2006/main">
              <a:ext uri="{FF2B5EF4-FFF2-40B4-BE49-F238E27FC236}">
                <a16:creationId xmlns:a16="http://schemas.microsoft.com/office/drawing/2014/main" id="{C2CA9498-80E1-4618-9CE1-8734E91E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57" y="1679707"/>
            <a:ext cx="5219190" cy="168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3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913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排序对象是节点或 HyperNode 腾空单元；实际通过 Eviction API 驱逐的是单元上的可迁移 Pod。</a:t>
            </a:r>
          </a:p>
        </p:txBody>
      </p:sp>
      <p:sp>
        <p:nvSpPr>
          <p:cNvPr id="4" name="svg-text-4">
            <a:extLst xmlns:a="http://schemas.openxmlformats.org/drawingml/2006/main">
              <a:ext uri="{FF2B5EF4-FFF2-40B4-BE49-F238E27FC236}">
                <a16:creationId xmlns:a16="http://schemas.microsoft.com/office/drawing/2014/main" id="{99327659-5747-49FC-B30C-D38643B2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504" y="2047957"/>
            <a:ext cx="1385888" cy="183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96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996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第 N 轮 · 三个初始候选</a:t>
            </a:r>
          </a:p>
        </p:txBody>
      </p:sp>
      <p:sp>
        <p:nvSpPr>
          <p:cNvPr id="5" name="svg-rect-6">
            <a:extLst xmlns:a="http://schemas.openxmlformats.org/drawingml/2006/main">
              <a:ext uri="{FF2B5EF4-FFF2-40B4-BE49-F238E27FC236}">
                <a16:creationId xmlns:a16="http://schemas.microsoft.com/office/drawing/2014/main" id="{97533FE9-803D-4C42-9897-CC40B923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3" y="2395538"/>
            <a:ext cx="2615293" cy="1834923"/>
          </a:xfrm>
          <a:prstGeom xmlns:a="http://schemas.openxmlformats.org/drawingml/2006/main" prst="roundRect">
            <a:avLst>
              <a:gd name="adj" fmla="val 6322"/>
            </a:avLst>
          </a:prstGeom>
          <a:solidFill xmlns:a="http://schemas.openxmlformats.org/drawingml/2006/main">
            <a:srgbClr val="EDF9F1"/>
          </a:solidFill>
          <a:ln xmlns:a="http://schemas.openxmlformats.org/drawingml/2006/main" w="10546">
            <a:solidFill>
              <a:srgbClr val="2F9E44"/>
            </a:solidFill>
            <a:prstDash val="solid"/>
          </a:ln>
        </p:spPr>
      </p:sp>
      <p:sp>
        <p:nvSpPr>
          <p:cNvPr id="6" name="svg-text-7">
            <a:extLst xmlns:a="http://schemas.openxmlformats.org/drawingml/2006/main">
              <a:ext uri="{FF2B5EF4-FFF2-40B4-BE49-F238E27FC236}">
                <a16:creationId xmlns:a16="http://schemas.microsoft.com/office/drawing/2014/main" id="{1DCD26DA-DA62-4D6C-AC8F-6B3AC9C7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323" y="2575233"/>
            <a:ext cx="1163166" cy="183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96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996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node-a · 2/8 GPU</a:t>
            </a:r>
          </a:p>
        </p:txBody>
      </p:sp>
      <p:sp>
        <p:nvSpPr>
          <p:cNvPr id="7" name="svg-rect-9">
            <a:extLst xmlns:a="http://schemas.openxmlformats.org/drawingml/2006/main">
              <a:ext uri="{FF2B5EF4-FFF2-40B4-BE49-F238E27FC236}">
                <a16:creationId xmlns:a16="http://schemas.microsoft.com/office/drawing/2014/main" id="{7B003D20-0650-4FC2-AFF8-DBD39F2A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323" y="2901723"/>
            <a:ext cx="189820" cy="1898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vg-rect-10">
            <a:extLst xmlns:a="http://schemas.openxmlformats.org/drawingml/2006/main">
              <a:ext uri="{FF2B5EF4-FFF2-40B4-BE49-F238E27FC236}">
                <a16:creationId xmlns:a16="http://schemas.microsoft.com/office/drawing/2014/main" id="{1A43A3AE-44D6-403E-B93D-A7760040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416" y="2901723"/>
            <a:ext cx="189820" cy="1898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vg-rect-12">
            <a:extLst xmlns:a="http://schemas.openxmlformats.org/drawingml/2006/main">
              <a:ext uri="{FF2B5EF4-FFF2-40B4-BE49-F238E27FC236}">
                <a16:creationId xmlns:a16="http://schemas.microsoft.com/office/drawing/2014/main" id="{8398282C-1CF9-4132-B3ED-68D6EE69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509" y="2901723"/>
            <a:ext cx="189820" cy="1898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9AA4B2"/>
            </a:solidFill>
            <a:prstDash val="dash"/>
          </a:ln>
        </p:spPr>
      </p:sp>
      <p:sp>
        <p:nvSpPr>
          <p:cNvPr id="10" name="svg-rect-13">
            <a:extLst xmlns:a="http://schemas.openxmlformats.org/drawingml/2006/main">
              <a:ext uri="{FF2B5EF4-FFF2-40B4-BE49-F238E27FC236}">
                <a16:creationId xmlns:a16="http://schemas.microsoft.com/office/drawing/2014/main" id="{997A1509-CE3C-4AC4-A775-52955636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3602" y="2901723"/>
            <a:ext cx="189820" cy="1898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9AA4B2"/>
            </a:solidFill>
            <a:prstDash val="dash"/>
          </a:ln>
        </p:spPr>
      </p:sp>
      <p:sp>
        <p:nvSpPr>
          <p:cNvPr id="11" name="svg-rect-14">
            <a:extLst xmlns:a="http://schemas.openxmlformats.org/drawingml/2006/main">
              <a:ext uri="{FF2B5EF4-FFF2-40B4-BE49-F238E27FC236}">
                <a16:creationId xmlns:a16="http://schemas.microsoft.com/office/drawing/2014/main" id="{94360BDF-6410-4E30-AA19-B0F47A5D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695" y="2901723"/>
            <a:ext cx="189820" cy="1898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9AA4B2"/>
            </a:solidFill>
            <a:prstDash val="dash"/>
          </a:ln>
        </p:spPr>
      </p:sp>
      <p:sp>
        <p:nvSpPr>
          <p:cNvPr id="12" name="svg-rect-15">
            <a:extLst xmlns:a="http://schemas.openxmlformats.org/drawingml/2006/main">
              <a:ext uri="{FF2B5EF4-FFF2-40B4-BE49-F238E27FC236}">
                <a16:creationId xmlns:a16="http://schemas.microsoft.com/office/drawing/2014/main" id="{F12A9A7B-4805-40B2-BE42-969D68D7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788" y="2901723"/>
            <a:ext cx="189820" cy="1898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9AA4B2"/>
            </a:solidFill>
            <a:prstDash val="dash"/>
          </a:ln>
        </p:spPr>
      </p:sp>
      <p:sp>
        <p:nvSpPr>
          <p:cNvPr id="13" name="svg-rect-16">
            <a:extLst xmlns:a="http://schemas.openxmlformats.org/drawingml/2006/main">
              <a:ext uri="{FF2B5EF4-FFF2-40B4-BE49-F238E27FC236}">
                <a16:creationId xmlns:a16="http://schemas.microsoft.com/office/drawing/2014/main" id="{EC2D6BB1-6C81-4A27-A93D-50644E4A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880" y="2901723"/>
            <a:ext cx="189820" cy="1898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9AA4B2"/>
            </a:solidFill>
            <a:prstDash val="dash"/>
          </a:ln>
        </p:spPr>
      </p:sp>
      <p:sp>
        <p:nvSpPr>
          <p:cNvPr id="14" name="svg-rect-17">
            <a:extLst xmlns:a="http://schemas.openxmlformats.org/drawingml/2006/main">
              <a:ext uri="{FF2B5EF4-FFF2-40B4-BE49-F238E27FC236}">
                <a16:creationId xmlns:a16="http://schemas.microsoft.com/office/drawing/2014/main" id="{76E93725-5C57-4D2B-AD5F-85B2740B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973" y="2901723"/>
            <a:ext cx="189820" cy="1898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9AA4B2"/>
            </a:solidFill>
            <a:prstDash val="dash"/>
          </a:ln>
        </p:spPr>
      </p:sp>
      <p:sp>
        <p:nvSpPr>
          <p:cNvPr id="15" name="svg-text-18">
            <a:extLst xmlns:a="http://schemas.openxmlformats.org/drawingml/2006/main">
              <a:ext uri="{FF2B5EF4-FFF2-40B4-BE49-F238E27FC236}">
                <a16:creationId xmlns:a16="http://schemas.microsoft.com/office/drawing/2014/main" id="{B020F75D-6B66-4320-BAF1-80DC6AE3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323" y="3241289"/>
            <a:ext cx="1061085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✓ 可腾空 · 不超预算</a:t>
            </a:r>
          </a:p>
        </p:txBody>
      </p:sp>
      <p:sp>
        <p:nvSpPr>
          <p:cNvPr id="16" name="svg-text-19">
            <a:extLst xmlns:a="http://schemas.openxmlformats.org/drawingml/2006/main">
              <a:ext uri="{FF2B5EF4-FFF2-40B4-BE49-F238E27FC236}">
                <a16:creationId xmlns:a16="http://schemas.microsoft.com/office/drawing/2014/main" id="{A6938F6B-8001-43DE-AA11-399CE3F4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323" y="3441655"/>
            <a:ext cx="1295196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✓ 所有 Pod 模拟调度成功</a:t>
            </a:r>
          </a:p>
        </p:txBody>
      </p:sp>
      <p:sp>
        <p:nvSpPr>
          <p:cNvPr id="17" name="svg-text-20">
            <a:extLst xmlns:a="http://schemas.openxmlformats.org/drawingml/2006/main">
              <a:ext uri="{FF2B5EF4-FFF2-40B4-BE49-F238E27FC236}">
                <a16:creationId xmlns:a16="http://schemas.microsoft.com/office/drawing/2014/main" id="{5185F536-C3FF-49DE-BFC3-3AC623EB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323" y="3642020"/>
            <a:ext cx="1803491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✓ PodGroup 仍满足 MinAvailable</a:t>
            </a:r>
          </a:p>
        </p:txBody>
      </p:sp>
      <p:sp>
        <p:nvSpPr>
          <p:cNvPr id="18" name="svg-rect-21">
            <a:extLst xmlns:a="http://schemas.openxmlformats.org/drawingml/2006/main">
              <a:ext uri="{FF2B5EF4-FFF2-40B4-BE49-F238E27FC236}">
                <a16:creationId xmlns:a16="http://schemas.microsoft.com/office/drawing/2014/main" id="{18597692-1C61-4849-B87B-90DC4BC3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323" y="3893004"/>
            <a:ext cx="2193471" cy="23200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vg-text-22">
            <a:extLst xmlns:a="http://schemas.openxmlformats.org/drawingml/2006/main">
              <a:ext uri="{FF2B5EF4-FFF2-40B4-BE49-F238E27FC236}">
                <a16:creationId xmlns:a16="http://schemas.microsoft.com/office/drawing/2014/main" id="{FE67418F-501A-4188-B7B6-BF32F5DE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461" y="3942989"/>
            <a:ext cx="1179195" cy="14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9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9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中断影响最低 · 本轮选择</a:t>
            </a:r>
          </a:p>
        </p:txBody>
      </p:sp>
      <p:sp>
        <p:nvSpPr>
          <p:cNvPr id="20" name="svg-rect-24">
            <a:extLst xmlns:a="http://schemas.openxmlformats.org/drawingml/2006/main">
              <a:ext uri="{FF2B5EF4-FFF2-40B4-BE49-F238E27FC236}">
                <a16:creationId xmlns:a16="http://schemas.microsoft.com/office/drawing/2014/main" id="{0832EA7A-94ED-44E3-AB04-F567E4D6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798" y="2395538"/>
            <a:ext cx="2615293" cy="1834923"/>
          </a:xfrm>
          <a:prstGeom xmlns:a="http://schemas.openxmlformats.org/drawingml/2006/main" prst="roundRect">
            <a:avLst>
              <a:gd name="adj" fmla="val 6322"/>
            </a:avLst>
          </a:prstGeom>
          <a:solidFill xmlns:a="http://schemas.openxmlformats.org/drawingml/2006/main">
            <a:srgbClr val="FFF1F0"/>
          </a:solidFill>
          <a:ln xmlns:a="http://schemas.openxmlformats.org/drawingml/2006/main" w="10546">
            <a:solidFill>
              <a:srgbClr val="E03131"/>
            </a:solidFill>
            <a:prstDash val="solid"/>
          </a:ln>
        </p:spPr>
      </p:sp>
      <p:sp>
        <p:nvSpPr>
          <p:cNvPr id="21" name="svg-text-25">
            <a:extLst xmlns:a="http://schemas.openxmlformats.org/drawingml/2006/main">
              <a:ext uri="{FF2B5EF4-FFF2-40B4-BE49-F238E27FC236}">
                <a16:creationId xmlns:a16="http://schemas.microsoft.com/office/drawing/2014/main" id="{65DA179F-7134-4919-ACA6-CDDEEAA7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709" y="2575233"/>
            <a:ext cx="1163166" cy="183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96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996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node-b · 4/8 GPU</a:t>
            </a:r>
          </a:p>
        </p:txBody>
      </p:sp>
      <p:sp>
        <p:nvSpPr>
          <p:cNvPr id="22" name="svg-rect-27">
            <a:extLst xmlns:a="http://schemas.openxmlformats.org/drawingml/2006/main">
              <a:ext uri="{FF2B5EF4-FFF2-40B4-BE49-F238E27FC236}">
                <a16:creationId xmlns:a16="http://schemas.microsoft.com/office/drawing/2014/main" id="{A9164328-144A-4D4B-BE33-A46568EC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709" y="2901723"/>
            <a:ext cx="189820" cy="1898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031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vg-rect-28">
            <a:extLst xmlns:a="http://schemas.openxmlformats.org/drawingml/2006/main">
              <a:ext uri="{FF2B5EF4-FFF2-40B4-BE49-F238E27FC236}">
                <a16:creationId xmlns:a16="http://schemas.microsoft.com/office/drawing/2014/main" id="{AE1CE071-4D1D-4271-AB07-450D8964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5802" y="2901723"/>
            <a:ext cx="189820" cy="1898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vg-rect-29">
            <a:extLst xmlns:a="http://schemas.openxmlformats.org/drawingml/2006/main">
              <a:ext uri="{FF2B5EF4-FFF2-40B4-BE49-F238E27FC236}">
                <a16:creationId xmlns:a16="http://schemas.microsoft.com/office/drawing/2014/main" id="{AB522202-FDDD-4D88-BAA0-DEAC572C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895" y="2901723"/>
            <a:ext cx="189820" cy="1898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vg-rect-30">
            <a:extLst xmlns:a="http://schemas.openxmlformats.org/drawingml/2006/main">
              <a:ext uri="{FF2B5EF4-FFF2-40B4-BE49-F238E27FC236}">
                <a16:creationId xmlns:a16="http://schemas.microsoft.com/office/drawing/2014/main" id="{AEC1B04C-F07C-41D0-A7A4-D3B2BBE7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988" y="2901723"/>
            <a:ext cx="189820" cy="1898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vg-rect-32">
            <a:extLst xmlns:a="http://schemas.openxmlformats.org/drawingml/2006/main">
              <a:ext uri="{FF2B5EF4-FFF2-40B4-BE49-F238E27FC236}">
                <a16:creationId xmlns:a16="http://schemas.microsoft.com/office/drawing/2014/main" id="{91A67050-04BE-42C6-B3F8-F4A3AEFC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5080" y="2901723"/>
            <a:ext cx="189820" cy="1898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9AA4B2"/>
            </a:solidFill>
            <a:prstDash val="dash"/>
          </a:ln>
        </p:spPr>
      </p:sp>
      <p:sp>
        <p:nvSpPr>
          <p:cNvPr id="27" name="svg-rect-33">
            <a:extLst xmlns:a="http://schemas.openxmlformats.org/drawingml/2006/main">
              <a:ext uri="{FF2B5EF4-FFF2-40B4-BE49-F238E27FC236}">
                <a16:creationId xmlns:a16="http://schemas.microsoft.com/office/drawing/2014/main" id="{71FB8291-386F-44F9-B4D9-1C0620F8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173" y="2901723"/>
            <a:ext cx="189820" cy="1898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9AA4B2"/>
            </a:solidFill>
            <a:prstDash val="dash"/>
          </a:ln>
        </p:spPr>
      </p:sp>
      <p:sp>
        <p:nvSpPr>
          <p:cNvPr id="28" name="svg-rect-34">
            <a:extLst xmlns:a="http://schemas.openxmlformats.org/drawingml/2006/main">
              <a:ext uri="{FF2B5EF4-FFF2-40B4-BE49-F238E27FC236}">
                <a16:creationId xmlns:a16="http://schemas.microsoft.com/office/drawing/2014/main" id="{8C738183-23EC-422D-A3C9-C912EC7D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266" y="2901723"/>
            <a:ext cx="189820" cy="1898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9AA4B2"/>
            </a:solidFill>
            <a:prstDash val="dash"/>
          </a:ln>
        </p:spPr>
      </p:sp>
      <p:sp>
        <p:nvSpPr>
          <p:cNvPr id="29" name="svg-rect-35">
            <a:extLst xmlns:a="http://schemas.openxmlformats.org/drawingml/2006/main">
              <a:ext uri="{FF2B5EF4-FFF2-40B4-BE49-F238E27FC236}">
                <a16:creationId xmlns:a16="http://schemas.microsoft.com/office/drawing/2014/main" id="{7028CA33-6D59-4907-94B0-1176AE5B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4359" y="2901723"/>
            <a:ext cx="189820" cy="1898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9AA4B2"/>
            </a:solidFill>
            <a:prstDash val="dash"/>
          </a:ln>
        </p:spPr>
      </p:sp>
      <p:sp>
        <p:nvSpPr>
          <p:cNvPr id="30" name="svg-text-36">
            <a:extLst xmlns:a="http://schemas.openxmlformats.org/drawingml/2006/main">
              <a:ext uri="{FF2B5EF4-FFF2-40B4-BE49-F238E27FC236}">
                <a16:creationId xmlns:a16="http://schemas.microsoft.com/office/drawing/2014/main" id="{6EF853E5-8701-4024-9733-1AA5BD09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709" y="3251835"/>
            <a:ext cx="1531416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1">
                <a:solidFill>
                  <a:srgbClr val="E03131"/>
                </a:solidFill>
                <a:latin typeface="Arial"/>
                <a:ea typeface="Arial"/>
                <a:cs typeface="Arial"/>
              </a:defRPr>
            </a:pPr>
            <a:r>
              <a:rPr sz="830" b="1">
                <a:solidFill>
                  <a:srgbClr val="E03131"/>
                </a:solidFill>
                <a:latin typeface="Arial"/>
                <a:ea typeface="Arial"/>
                <a:cs typeface="Arial"/>
              </a:rPr>
              <a:t>× 存在不可迁移的目标资源 Pod</a:t>
            </a:r>
          </a:p>
        </p:txBody>
      </p:sp>
      <p:sp>
        <p:nvSpPr>
          <p:cNvPr id="31" name="svg-text-37">
            <a:extLst xmlns:a="http://schemas.openxmlformats.org/drawingml/2006/main">
              <a:ext uri="{FF2B5EF4-FFF2-40B4-BE49-F238E27FC236}">
                <a16:creationId xmlns:a16="http://schemas.microsoft.com/office/drawing/2014/main" id="{F34C4B80-16B8-4815-9516-8D21A6D0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709" y="3483837"/>
            <a:ext cx="2117748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例如：无可识别 PodGroup、被 Scope 排除</a:t>
            </a:r>
          </a:p>
        </p:txBody>
      </p:sp>
      <p:sp>
        <p:nvSpPr>
          <p:cNvPr id="32" name="svg-text-38">
            <a:extLst xmlns:a="http://schemas.openxmlformats.org/drawingml/2006/main">
              <a:ext uri="{FF2B5EF4-FFF2-40B4-BE49-F238E27FC236}">
                <a16:creationId xmlns:a16="http://schemas.microsoft.com/office/drawing/2014/main" id="{8B75C44F-80B2-4D73-8AC3-816DB86F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709" y="3684202"/>
            <a:ext cx="1170759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或节点已被填充/已腾空</a:t>
            </a:r>
          </a:p>
        </p:txBody>
      </p:sp>
      <p:sp>
        <p:nvSpPr>
          <p:cNvPr id="33" name="svg-rect-39">
            <a:extLst xmlns:a="http://schemas.openxmlformats.org/drawingml/2006/main">
              <a:ext uri="{FF2B5EF4-FFF2-40B4-BE49-F238E27FC236}">
                <a16:creationId xmlns:a16="http://schemas.microsoft.com/office/drawing/2014/main" id="{0D97D2B4-84B4-4BBA-886E-3ADD88F5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709" y="3893004"/>
            <a:ext cx="2193471" cy="23200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E03131"/>
            </a:solidFill>
            <a:prstDash val="solid"/>
          </a:ln>
        </p:spPr>
      </p:sp>
      <p:sp>
        <p:nvSpPr>
          <p:cNvPr id="34" name="svg-text-40">
            <a:extLst xmlns:a="http://schemas.openxmlformats.org/drawingml/2006/main">
              <a:ext uri="{FF2B5EF4-FFF2-40B4-BE49-F238E27FC236}">
                <a16:creationId xmlns:a16="http://schemas.microsoft.com/office/drawing/2014/main" id="{286947C8-6A2A-48B4-86BD-B28424D8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847" y="3942989"/>
            <a:ext cx="1179195" cy="14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9" b="1">
                <a:solidFill>
                  <a:srgbClr val="E03131"/>
                </a:solidFill>
                <a:latin typeface="Arial"/>
                <a:ea typeface="Arial"/>
                <a:cs typeface="Arial"/>
              </a:defRPr>
            </a:pPr>
            <a:r>
              <a:rPr sz="789" b="1">
                <a:solidFill>
                  <a:srgbClr val="E03131"/>
                </a:solidFill>
                <a:latin typeface="Arial"/>
                <a:ea typeface="Arial"/>
                <a:cs typeface="Arial"/>
              </a:rPr>
              <a:t>可行性过滤 · 不参与评分</a:t>
            </a:r>
          </a:p>
        </p:txBody>
      </p:sp>
      <p:sp>
        <p:nvSpPr>
          <p:cNvPr id="35" name="svg-rect-42">
            <a:extLst xmlns:a="http://schemas.openxmlformats.org/drawingml/2006/main">
              <a:ext uri="{FF2B5EF4-FFF2-40B4-BE49-F238E27FC236}">
                <a16:creationId xmlns:a16="http://schemas.microsoft.com/office/drawing/2014/main" id="{3DA6E9F5-2048-4368-886F-BFE1177E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84" y="2395538"/>
            <a:ext cx="2615293" cy="1834923"/>
          </a:xfrm>
          <a:prstGeom xmlns:a="http://schemas.openxmlformats.org/drawingml/2006/main" prst="roundRect">
            <a:avLst>
              <a:gd name="adj" fmla="val 6322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0546">
            <a:solidFill>
              <a:srgbClr val="E8890C"/>
            </a:solidFill>
            <a:prstDash val="solid"/>
          </a:ln>
        </p:spPr>
      </p:sp>
      <p:sp>
        <p:nvSpPr>
          <p:cNvPr id="36" name="svg-text-43">
            <a:extLst xmlns:a="http://schemas.openxmlformats.org/drawingml/2006/main">
              <a:ext uri="{FF2B5EF4-FFF2-40B4-BE49-F238E27FC236}">
                <a16:creationId xmlns:a16="http://schemas.microsoft.com/office/drawing/2014/main" id="{771BF57A-75ED-4A03-AA97-625F1A1B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095" y="2575233"/>
            <a:ext cx="1163166" cy="183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96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996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node-c · 2/8 GPU</a:t>
            </a:r>
          </a:p>
        </p:txBody>
      </p:sp>
      <p:sp>
        <p:nvSpPr>
          <p:cNvPr id="37" name="svg-rect-45">
            <a:extLst xmlns:a="http://schemas.openxmlformats.org/drawingml/2006/main">
              <a:ext uri="{FF2B5EF4-FFF2-40B4-BE49-F238E27FC236}">
                <a16:creationId xmlns:a16="http://schemas.microsoft.com/office/drawing/2014/main" id="{4C8198FB-293A-464A-A681-C3D69383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095" y="2901723"/>
            <a:ext cx="189820" cy="1898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vg-rect-46">
            <a:extLst xmlns:a="http://schemas.openxmlformats.org/drawingml/2006/main">
              <a:ext uri="{FF2B5EF4-FFF2-40B4-BE49-F238E27FC236}">
                <a16:creationId xmlns:a16="http://schemas.microsoft.com/office/drawing/2014/main" id="{69BAD855-596D-449C-9AA9-EFB702E1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4188" y="2901723"/>
            <a:ext cx="189820" cy="1898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vg-rect-48">
            <a:extLst xmlns:a="http://schemas.openxmlformats.org/drawingml/2006/main">
              <a:ext uri="{FF2B5EF4-FFF2-40B4-BE49-F238E27FC236}">
                <a16:creationId xmlns:a16="http://schemas.microsoft.com/office/drawing/2014/main" id="{1F0646AE-77AB-45D9-A0E6-256DD529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280" y="2901723"/>
            <a:ext cx="189820" cy="1898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9AA4B2"/>
            </a:solidFill>
            <a:prstDash val="dash"/>
          </a:ln>
        </p:spPr>
      </p:sp>
      <p:sp>
        <p:nvSpPr>
          <p:cNvPr id="40" name="svg-rect-49">
            <a:extLst xmlns:a="http://schemas.openxmlformats.org/drawingml/2006/main">
              <a:ext uri="{FF2B5EF4-FFF2-40B4-BE49-F238E27FC236}">
                <a16:creationId xmlns:a16="http://schemas.microsoft.com/office/drawing/2014/main" id="{CF96D7A1-1EA2-4847-925B-C02778FC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373" y="2901723"/>
            <a:ext cx="189820" cy="1898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9AA4B2"/>
            </a:solidFill>
            <a:prstDash val="dash"/>
          </a:ln>
        </p:spPr>
      </p:sp>
      <p:sp>
        <p:nvSpPr>
          <p:cNvPr id="41" name="svg-rect-50">
            <a:extLst xmlns:a="http://schemas.openxmlformats.org/drawingml/2006/main">
              <a:ext uri="{FF2B5EF4-FFF2-40B4-BE49-F238E27FC236}">
                <a16:creationId xmlns:a16="http://schemas.microsoft.com/office/drawing/2014/main" id="{A0ADAE71-2CB4-4766-92EB-D76A1673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3466" y="2901723"/>
            <a:ext cx="189820" cy="1898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9AA4B2"/>
            </a:solidFill>
            <a:prstDash val="dash"/>
          </a:ln>
        </p:spPr>
      </p:sp>
      <p:sp>
        <p:nvSpPr>
          <p:cNvPr id="42" name="svg-rect-51">
            <a:extLst xmlns:a="http://schemas.openxmlformats.org/drawingml/2006/main">
              <a:ext uri="{FF2B5EF4-FFF2-40B4-BE49-F238E27FC236}">
                <a16:creationId xmlns:a16="http://schemas.microsoft.com/office/drawing/2014/main" id="{B9C0C08E-5D21-4D0B-BBE6-AA6BE733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6559" y="2901723"/>
            <a:ext cx="189820" cy="1898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9AA4B2"/>
            </a:solidFill>
            <a:prstDash val="dash"/>
          </a:ln>
        </p:spPr>
      </p:sp>
      <p:sp>
        <p:nvSpPr>
          <p:cNvPr id="43" name="svg-rect-52">
            <a:extLst xmlns:a="http://schemas.openxmlformats.org/drawingml/2006/main">
              <a:ext uri="{FF2B5EF4-FFF2-40B4-BE49-F238E27FC236}">
                <a16:creationId xmlns:a16="http://schemas.microsoft.com/office/drawing/2014/main" id="{0C2B31ED-EBB8-48A0-A5ED-81BE5904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652" y="2901723"/>
            <a:ext cx="189820" cy="1898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9AA4B2"/>
            </a:solidFill>
            <a:prstDash val="dash"/>
          </a:ln>
        </p:spPr>
      </p:sp>
      <p:sp>
        <p:nvSpPr>
          <p:cNvPr id="44" name="svg-rect-53">
            <a:extLst xmlns:a="http://schemas.openxmlformats.org/drawingml/2006/main">
              <a:ext uri="{FF2B5EF4-FFF2-40B4-BE49-F238E27FC236}">
                <a16:creationId xmlns:a16="http://schemas.microsoft.com/office/drawing/2014/main" id="{F6C1D515-C0AC-4A9B-B901-391D9A3C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2745" y="2901723"/>
            <a:ext cx="189820" cy="1898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9AA4B2"/>
            </a:solidFill>
            <a:prstDash val="dash"/>
          </a:ln>
        </p:spPr>
      </p:sp>
      <p:sp>
        <p:nvSpPr>
          <p:cNvPr id="45" name="svg-text-54">
            <a:extLst xmlns:a="http://schemas.openxmlformats.org/drawingml/2006/main">
              <a:ext uri="{FF2B5EF4-FFF2-40B4-BE49-F238E27FC236}">
                <a16:creationId xmlns:a16="http://schemas.microsoft.com/office/drawing/2014/main" id="{FB6BD669-B0F0-492E-B007-61405816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095" y="3241289"/>
            <a:ext cx="1271996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✓ 可腾空 · 模拟调度成功</a:t>
            </a:r>
          </a:p>
        </p:txBody>
      </p:sp>
      <p:sp>
        <p:nvSpPr>
          <p:cNvPr id="46" name="svg-text-55">
            <a:extLst xmlns:a="http://schemas.openxmlformats.org/drawingml/2006/main">
              <a:ext uri="{FF2B5EF4-FFF2-40B4-BE49-F238E27FC236}">
                <a16:creationId xmlns:a16="http://schemas.microsoft.com/office/drawing/2014/main" id="{8E831608-DE5C-4CBC-8B27-8F80ACBD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095" y="3441655"/>
            <a:ext cx="1698035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△ PodGroup 低于 MinAvailable</a:t>
            </a:r>
          </a:p>
        </p:txBody>
      </p:sp>
      <p:sp>
        <p:nvSpPr>
          <p:cNvPr id="47" name="svg-text-56">
            <a:extLst xmlns:a="http://schemas.openxmlformats.org/drawingml/2006/main">
              <a:ext uri="{FF2B5EF4-FFF2-40B4-BE49-F238E27FC236}">
                <a16:creationId xmlns:a16="http://schemas.microsoft.com/office/drawing/2014/main" id="{C647BD69-7893-44CB-9309-DCE93FFE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095" y="3642020"/>
            <a:ext cx="1250905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△ 受影响目标资源量更高</a:t>
            </a:r>
          </a:p>
        </p:txBody>
      </p:sp>
      <p:sp>
        <p:nvSpPr>
          <p:cNvPr id="48" name="svg-rect-57">
            <a:extLst xmlns:a="http://schemas.openxmlformats.org/drawingml/2006/main">
              <a:ext uri="{FF2B5EF4-FFF2-40B4-BE49-F238E27FC236}">
                <a16:creationId xmlns:a16="http://schemas.microsoft.com/office/drawing/2014/main" id="{FDC4ABF8-5B7B-4887-A439-CDD5C1B6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095" y="3893004"/>
            <a:ext cx="2193471" cy="232002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E8890C"/>
            </a:solidFill>
            <a:prstDash val="solid"/>
          </a:ln>
        </p:spPr>
      </p:sp>
      <p:sp>
        <p:nvSpPr>
          <p:cNvPr id="49" name="svg-text-58">
            <a:extLst xmlns:a="http://schemas.openxmlformats.org/drawingml/2006/main">
              <a:ext uri="{FF2B5EF4-FFF2-40B4-BE49-F238E27FC236}">
                <a16:creationId xmlns:a16="http://schemas.microsoft.com/office/drawing/2014/main" id="{95B9C90C-5A7D-4873-A088-ED0DCEC2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7959" y="3942989"/>
            <a:ext cx="1479743" cy="14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9" b="1">
                <a:solidFill>
                  <a:srgbClr val="E8890C"/>
                </a:solidFill>
                <a:latin typeface="Arial"/>
                <a:ea typeface="Arial"/>
                <a:cs typeface="Arial"/>
              </a:defRPr>
            </a:pPr>
            <a:r>
              <a:rPr sz="789" b="1">
                <a:solidFill>
                  <a:srgbClr val="E8890C"/>
                </a:solidFill>
                <a:latin typeface="Arial"/>
                <a:ea typeface="Arial"/>
                <a:cs typeface="Arial"/>
              </a:rPr>
              <a:t>可行但中断影响更高 · 排序靠后</a:t>
            </a:r>
          </a:p>
        </p:txBody>
      </p:sp>
      <p:sp>
        <p:nvSpPr>
          <p:cNvPr id="50" name="svg-line-59-1">
            <a:extLst xmlns:a="http://schemas.openxmlformats.org/drawingml/2006/main">
              <a:ext uri="{FF2B5EF4-FFF2-40B4-BE49-F238E27FC236}">
                <a16:creationId xmlns:a16="http://schemas.microsoft.com/office/drawing/2014/main" id="{950EC990-70A8-49F6-9A2C-96485488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75296" y="3312999"/>
            <a:ext cx="40073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091">
            <a:solidFill>
              <a:srgbClr val="1C7ED6"/>
            </a:solidFill>
            <a:prstDash val="solid"/>
          </a:ln>
        </p:spPr>
      </p:sp>
      <p:sp>
        <p:nvSpPr>
          <p:cNvPr id="51" name="svg-arrow-59">
            <a:extLst xmlns:a="http://schemas.openxmlformats.org/drawingml/2006/main">
              <a:ext uri="{FF2B5EF4-FFF2-40B4-BE49-F238E27FC236}">
                <a16:creationId xmlns:a16="http://schemas.microsoft.com/office/drawing/2014/main" id="{D0E4C96B-CAC1-42DC-BA47-D05F8882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31208" y="3268181"/>
            <a:ext cx="89637" cy="896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4763">
            <a:solidFill>
              <a:srgbClr val="1C7ED6"/>
            </a:solidFill>
            <a:prstDash val="solid"/>
          </a:ln>
        </p:spPr>
      </p:sp>
      <p:sp>
        <p:nvSpPr>
          <p:cNvPr id="52" name="svg-rect-60">
            <a:extLst xmlns:a="http://schemas.openxmlformats.org/drawingml/2006/main">
              <a:ext uri="{FF2B5EF4-FFF2-40B4-BE49-F238E27FC236}">
                <a16:creationId xmlns:a16="http://schemas.microsoft.com/office/drawing/2014/main" id="{BF566EC4-BC69-4EDB-B0CA-21C2DBD7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664" y="2395538"/>
            <a:ext cx="1856014" cy="1834923"/>
          </a:xfrm>
          <a:prstGeom xmlns:a="http://schemas.openxmlformats.org/drawingml/2006/main" prst="roundRect">
            <a:avLst>
              <a:gd name="adj" fmla="val 632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0546">
            <a:solidFill>
              <a:srgbClr val="1C7ED6"/>
            </a:solidFill>
            <a:prstDash val="solid"/>
          </a:ln>
        </p:spPr>
      </p:sp>
      <p:sp>
        <p:nvSpPr>
          <p:cNvPr id="53" name="svg-text-61">
            <a:extLst xmlns:a="http://schemas.openxmlformats.org/drawingml/2006/main">
              <a:ext uri="{FF2B5EF4-FFF2-40B4-BE49-F238E27FC236}">
                <a16:creationId xmlns:a16="http://schemas.microsoft.com/office/drawing/2014/main" id="{5DF0F98B-B624-4DEC-AE81-C35377EF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0004" y="2554142"/>
            <a:ext cx="563336" cy="183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96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996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本轮决策</a:t>
            </a:r>
          </a:p>
        </p:txBody>
      </p:sp>
      <p:sp>
        <p:nvSpPr>
          <p:cNvPr id="54" name="svg-text-62">
            <a:extLst xmlns:a="http://schemas.openxmlformats.org/drawingml/2006/main">
              <a:ext uri="{FF2B5EF4-FFF2-40B4-BE49-F238E27FC236}">
                <a16:creationId xmlns:a16="http://schemas.microsoft.com/office/drawing/2014/main" id="{62C10B0F-A73C-4865-AE1A-A7978EF0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730" y="2882741"/>
            <a:ext cx="689882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候选内归一化</a:t>
            </a:r>
          </a:p>
        </p:txBody>
      </p:sp>
      <p:sp>
        <p:nvSpPr>
          <p:cNvPr id="55" name="svg-text-63">
            <a:extLst xmlns:a="http://schemas.openxmlformats.org/drawingml/2006/main">
              <a:ext uri="{FF2B5EF4-FFF2-40B4-BE49-F238E27FC236}">
                <a16:creationId xmlns:a16="http://schemas.microsoft.com/office/drawing/2014/main" id="{18C38867-B4F2-45EE-BCEC-F7911CEB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083106"/>
            <a:ext cx="900793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加权汇总五个维度</a:t>
            </a:r>
          </a:p>
        </p:txBody>
      </p:sp>
      <p:sp>
        <p:nvSpPr>
          <p:cNvPr id="56" name="svg-rect-64">
            <a:extLst xmlns:a="http://schemas.openxmlformats.org/drawingml/2006/main">
              <a:ext uri="{FF2B5EF4-FFF2-40B4-BE49-F238E27FC236}">
                <a16:creationId xmlns:a16="http://schemas.microsoft.com/office/drawing/2014/main" id="{E894AD34-83E1-4D9B-8567-B3EB8CB4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407909"/>
            <a:ext cx="1434193" cy="358548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svg-text-65">
            <a:extLst xmlns:a="http://schemas.openxmlformats.org/drawingml/2006/main">
              <a:ext uri="{FF2B5EF4-FFF2-40B4-BE49-F238E27FC236}">
                <a16:creationId xmlns:a16="http://schemas.microsoft.com/office/drawing/2014/main" id="{1B7C7AB7-6EE7-4B48-8E9C-2A17644B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3654" y="3514630"/>
            <a:ext cx="716035" cy="168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选择 node-a</a:t>
            </a:r>
          </a:p>
        </p:txBody>
      </p:sp>
      <p:sp>
        <p:nvSpPr>
          <p:cNvPr id="58" name="svg-text-66">
            <a:extLst xmlns:a="http://schemas.openxmlformats.org/drawingml/2006/main">
              <a:ext uri="{FF2B5EF4-FFF2-40B4-BE49-F238E27FC236}">
                <a16:creationId xmlns:a16="http://schemas.microsoft.com/office/drawing/2014/main" id="{B1AB5742-92A8-4153-BB7D-2A94518F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9942" y="3879716"/>
            <a:ext cx="1323458" cy="14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9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789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分数并列：收益权重 → 名称</a:t>
            </a:r>
          </a:p>
        </p:txBody>
      </p:sp>
      <p:sp>
        <p:nvSpPr>
          <p:cNvPr id="59" name="svg-line-67-1">
            <a:extLst xmlns:a="http://schemas.openxmlformats.org/drawingml/2006/main">
              <a:ext uri="{FF2B5EF4-FFF2-40B4-BE49-F238E27FC236}">
                <a16:creationId xmlns:a16="http://schemas.microsoft.com/office/drawing/2014/main" id="{B71AB75E-9E0D-4B26-8050-43BE1B7E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51671" y="4346462"/>
            <a:ext cx="953" cy="284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091">
            <a:solidFill>
              <a:srgbClr val="2F9E44"/>
            </a:solidFill>
            <a:prstDash val="solid"/>
          </a:ln>
        </p:spPr>
      </p:sp>
      <p:sp>
        <p:nvSpPr>
          <p:cNvPr id="60" name="svg-line-67-2">
            <a:extLst xmlns:a="http://schemas.openxmlformats.org/drawingml/2006/main">
              <a:ext uri="{FF2B5EF4-FFF2-40B4-BE49-F238E27FC236}">
                <a16:creationId xmlns:a16="http://schemas.microsoft.com/office/drawing/2014/main" id="{34F854EC-F764-4DE8-AAB2-0F8DDD51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637064" y="4631191"/>
            <a:ext cx="801460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091">
            <a:solidFill>
              <a:srgbClr val="2F9E44"/>
            </a:solidFill>
            <a:prstDash val="solid"/>
          </a:ln>
        </p:spPr>
      </p:sp>
      <p:sp>
        <p:nvSpPr>
          <p:cNvPr id="61" name="svg-line-67-3">
            <a:extLst xmlns:a="http://schemas.openxmlformats.org/drawingml/2006/main">
              <a:ext uri="{FF2B5EF4-FFF2-40B4-BE49-F238E27FC236}">
                <a16:creationId xmlns:a16="http://schemas.microsoft.com/office/drawing/2014/main" id="{D6831D41-829B-4219-9F5F-6225D665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637064" y="4430826"/>
            <a:ext cx="953" cy="2003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091">
            <a:solidFill>
              <a:srgbClr val="2F9E44"/>
            </a:solidFill>
            <a:prstDash val="solid"/>
          </a:ln>
        </p:spPr>
      </p:sp>
      <p:sp>
        <p:nvSpPr>
          <p:cNvPr id="62" name="svg-arrow-67">
            <a:extLst xmlns:a="http://schemas.openxmlformats.org/drawingml/2006/main">
              <a:ext uri="{FF2B5EF4-FFF2-40B4-BE49-F238E27FC236}">
                <a16:creationId xmlns:a16="http://schemas.microsoft.com/office/drawing/2014/main" id="{7E3B38EF-2D3B-4B50-8147-1A55C04A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2246" y="4386007"/>
            <a:ext cx="89637" cy="896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4763">
            <a:solidFill>
              <a:srgbClr val="2F9E44"/>
            </a:solidFill>
            <a:prstDash val="solid"/>
          </a:ln>
        </p:spPr>
      </p:sp>
      <p:sp>
        <p:nvSpPr>
          <p:cNvPr id="63" name="svg-text-68">
            <a:extLst xmlns:a="http://schemas.openxmlformats.org/drawingml/2006/main">
              <a:ext uri="{FF2B5EF4-FFF2-40B4-BE49-F238E27FC236}">
                <a16:creationId xmlns:a16="http://schemas.microsoft.com/office/drawing/2014/main" id="{DEB54B51-E137-4690-AEFF-C7CE9CED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3456" y="4464572"/>
            <a:ext cx="2621824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30" b="1">
                <a:solidFill>
                  <a:srgbClr val="2F9E44"/>
                </a:solidFill>
                <a:latin typeface="Arial"/>
                <a:ea typeface="Arial"/>
                <a:cs typeface="Arial"/>
              </a:defRPr>
            </a:pPr>
            <a:r>
              <a:rPr sz="83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更新模拟状态后，接收容量与 PodGroup 状态随之变化</a:t>
            </a:r>
          </a:p>
        </p:txBody>
      </p:sp>
      <p:sp>
        <p:nvSpPr>
          <p:cNvPr id="64" name="svg-rect-69">
            <a:extLst xmlns:a="http://schemas.openxmlformats.org/drawingml/2006/main">
              <a:ext uri="{FF2B5EF4-FFF2-40B4-BE49-F238E27FC236}">
                <a16:creationId xmlns:a16="http://schemas.microsoft.com/office/drawing/2014/main" id="{AF193BDE-2AB0-4A90-BC70-A388129B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513" y="4905375"/>
            <a:ext cx="8562975" cy="379639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0546">
            <a:solidFill>
              <a:srgbClr val="D0D7DE"/>
            </a:solidFill>
            <a:prstDash val="solid"/>
          </a:ln>
        </p:spPr>
      </p:sp>
      <p:sp>
        <p:nvSpPr>
          <p:cNvPr id="65" name="svg-text-70">
            <a:extLst xmlns:a="http://schemas.openxmlformats.org/drawingml/2006/main">
              <a:ext uri="{FF2B5EF4-FFF2-40B4-BE49-F238E27FC236}">
                <a16:creationId xmlns:a16="http://schemas.microsoft.com/office/drawing/2014/main" id="{14C0BBD6-D4D0-4D36-8B16-6C90F33F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683" y="5028336"/>
            <a:ext cx="3932634" cy="160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72" b="0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872" b="0">
                <a:solidFill>
                  <a:srgbClr val="1F2328"/>
                </a:solidFill>
                <a:latin typeface="Arial"/>
                <a:ea typeface="Arial"/>
                <a:cs typeface="Arial"/>
              </a:rPr>
              <a:t>进入下一轮时重新检查全部剩余候选；不会沿用一份已经过期的静态节点顺序。</a:t>
            </a:r>
          </a:p>
        </p:txBody>
      </p:sp>
    </p:spTree>
    <p:extLst>
      <p:ext uri="{BB962C8B-B14F-4D97-AF65-F5344CB8AC3E}">
        <p14:creationId xmlns:p14="http://schemas.microsoft.com/office/powerpoint/2010/main" val="8733652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svg-rect-1">
            <a:extLst xmlns:a="http://schemas.openxmlformats.org/drawingml/2006/main">
              <a:ext uri="{FF2B5EF4-FFF2-40B4-BE49-F238E27FC236}">
                <a16:creationId xmlns:a16="http://schemas.microsoft.com/office/drawing/2014/main" id="{1629BA60-F81D-42DB-8844-0A7B76B8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61710"/>
            <a:ext cx="11811000" cy="4534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vg-text-2">
            <a:extLst xmlns:a="http://schemas.openxmlformats.org/drawingml/2006/main">
              <a:ext uri="{FF2B5EF4-FFF2-40B4-BE49-F238E27FC236}">
                <a16:creationId xmlns:a16="http://schemas.microsoft.com/office/drawing/2014/main" id="{AB91C3B6-855B-4EDD-8B8E-3B526C6C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57" y="1305551"/>
            <a:ext cx="3642632" cy="259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12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412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接收节点排序：优先填充确定保持占用的节点</a:t>
            </a:r>
          </a:p>
        </p:txBody>
      </p:sp>
      <p:sp>
        <p:nvSpPr>
          <p:cNvPr id="3" name="svg-text-3">
            <a:extLst xmlns:a="http://schemas.openxmlformats.org/drawingml/2006/main">
              <a:ext uri="{FF2B5EF4-FFF2-40B4-BE49-F238E27FC236}">
                <a16:creationId xmlns:a16="http://schemas.microsoft.com/office/drawing/2014/main" id="{E4C4F08A-5A2D-4787-B223-40BF619D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57" y="1626979"/>
            <a:ext cx="4952388" cy="168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3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913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排序只决定可行接收节点的尝试顺序；最终每个 Pod 仍必须通过 Scheduler 的完整实时约束。</a:t>
            </a:r>
          </a:p>
        </p:txBody>
      </p:sp>
      <p:sp>
        <p:nvSpPr>
          <p:cNvPr id="4" name="svg-rect-4">
            <a:extLst xmlns:a="http://schemas.openxmlformats.org/drawingml/2006/main">
              <a:ext uri="{FF2B5EF4-FFF2-40B4-BE49-F238E27FC236}">
                <a16:creationId xmlns:a16="http://schemas.microsoft.com/office/drawing/2014/main" id="{F3480EDC-A980-47EF-976A-631C7D3E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139" y="2110808"/>
            <a:ext cx="2214563" cy="255202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0546">
            <a:solidFill>
              <a:srgbClr val="E8890C"/>
            </a:solidFill>
            <a:prstDash val="solid"/>
          </a:ln>
        </p:spPr>
      </p:sp>
      <p:sp>
        <p:nvSpPr>
          <p:cNvPr id="5" name="svg-text-5">
            <a:extLst xmlns:a="http://schemas.openxmlformats.org/drawingml/2006/main">
              <a:ext uri="{FF2B5EF4-FFF2-40B4-BE49-F238E27FC236}">
                <a16:creationId xmlns:a16="http://schemas.microsoft.com/office/drawing/2014/main" id="{9F013E1B-4CDF-449D-A3F6-A3351297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8569"/>
            <a:ext cx="756319" cy="198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79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079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待迁移 Pod</a:t>
            </a:r>
          </a:p>
        </p:txBody>
      </p:sp>
      <p:sp>
        <p:nvSpPr>
          <p:cNvPr id="6" name="svg-text-6">
            <a:extLst xmlns:a="http://schemas.openxmlformats.org/drawingml/2006/main">
              <a:ext uri="{FF2B5EF4-FFF2-40B4-BE49-F238E27FC236}">
                <a16:creationId xmlns:a16="http://schemas.microsoft.com/office/drawing/2014/main" id="{BCEEB6F3-2D81-4642-88D7-82DC9714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24193"/>
            <a:ext cx="1563053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从腾空目标 node-a 迁出 2 GPU</a:t>
            </a:r>
          </a:p>
        </p:txBody>
      </p:sp>
      <p:sp>
        <p:nvSpPr>
          <p:cNvPr id="7" name="svg-rect-7">
            <a:extLst xmlns:a="http://schemas.openxmlformats.org/drawingml/2006/main">
              <a:ext uri="{FF2B5EF4-FFF2-40B4-BE49-F238E27FC236}">
                <a16:creationId xmlns:a16="http://schemas.microsoft.com/office/drawing/2014/main" id="{9196EE01-A87C-4182-B95B-8E7B2262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141" y="2912269"/>
            <a:ext cx="1750559" cy="970189"/>
          </a:xfrm>
          <a:prstGeom xmlns:a="http://schemas.openxmlformats.org/drawingml/2006/main" prst="roundRect">
            <a:avLst>
              <a:gd name="adj" fmla="val 97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E8890C"/>
            </a:solidFill>
            <a:prstDash val="solid"/>
          </a:ln>
        </p:spPr>
      </p:sp>
      <p:sp>
        <p:nvSpPr>
          <p:cNvPr id="8" name="svg-text-8">
            <a:extLst xmlns:a="http://schemas.openxmlformats.org/drawingml/2006/main">
              <a:ext uri="{FF2B5EF4-FFF2-40B4-BE49-F238E27FC236}">
                <a16:creationId xmlns:a16="http://schemas.microsoft.com/office/drawing/2014/main" id="{2A0515CB-BC53-43DD-9D34-03281E04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323" y="3040081"/>
            <a:ext cx="804196" cy="168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3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913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node-a · 2/8</a:t>
            </a:r>
          </a:p>
        </p:txBody>
      </p:sp>
      <p:sp>
        <p:nvSpPr>
          <p:cNvPr id="9" name="svg-rect-10">
            <a:extLst xmlns:a="http://schemas.openxmlformats.org/drawingml/2006/main">
              <a:ext uri="{FF2B5EF4-FFF2-40B4-BE49-F238E27FC236}">
                <a16:creationId xmlns:a16="http://schemas.microsoft.com/office/drawing/2014/main" id="{F00208FD-6F1B-4C02-8C05-278444EC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24" y="3344636"/>
            <a:ext cx="126546" cy="168729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vg-rect-11">
            <a:extLst xmlns:a="http://schemas.openxmlformats.org/drawingml/2006/main">
              <a:ext uri="{FF2B5EF4-FFF2-40B4-BE49-F238E27FC236}">
                <a16:creationId xmlns:a16="http://schemas.microsoft.com/office/drawing/2014/main" id="{1344E5E3-B83D-4089-B2C0-0412FA9C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44" y="3344636"/>
            <a:ext cx="126546" cy="168729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8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vg-rect-13">
            <a:extLst xmlns:a="http://schemas.openxmlformats.org/drawingml/2006/main">
              <a:ext uri="{FF2B5EF4-FFF2-40B4-BE49-F238E27FC236}">
                <a16:creationId xmlns:a16="http://schemas.microsoft.com/office/drawing/2014/main" id="{2AA517A0-C86B-4055-BE66-BB673EA7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963" y="3344636"/>
            <a:ext cx="126546" cy="168729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9AA4B2"/>
            </a:solidFill>
            <a:prstDash val="dash"/>
          </a:ln>
        </p:spPr>
      </p:sp>
      <p:sp>
        <p:nvSpPr>
          <p:cNvPr id="12" name="svg-rect-14">
            <a:extLst xmlns:a="http://schemas.openxmlformats.org/drawingml/2006/main">
              <a:ext uri="{FF2B5EF4-FFF2-40B4-BE49-F238E27FC236}">
                <a16:creationId xmlns:a16="http://schemas.microsoft.com/office/drawing/2014/main" id="{3F35BB15-E11F-4A34-85BC-B2EFDF0B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83" y="3344636"/>
            <a:ext cx="126546" cy="168729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9AA4B2"/>
            </a:solidFill>
            <a:prstDash val="dash"/>
          </a:ln>
        </p:spPr>
      </p:sp>
      <p:sp>
        <p:nvSpPr>
          <p:cNvPr id="13" name="svg-rect-15">
            <a:extLst xmlns:a="http://schemas.openxmlformats.org/drawingml/2006/main">
              <a:ext uri="{FF2B5EF4-FFF2-40B4-BE49-F238E27FC236}">
                <a16:creationId xmlns:a16="http://schemas.microsoft.com/office/drawing/2014/main" id="{22AD5A92-66E3-4992-98DB-27990DEC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603" y="3344636"/>
            <a:ext cx="126546" cy="168729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9AA4B2"/>
            </a:solidFill>
            <a:prstDash val="dash"/>
          </a:ln>
        </p:spPr>
      </p:sp>
      <p:sp>
        <p:nvSpPr>
          <p:cNvPr id="14" name="svg-rect-16">
            <a:extLst xmlns:a="http://schemas.openxmlformats.org/drawingml/2006/main">
              <a:ext uri="{FF2B5EF4-FFF2-40B4-BE49-F238E27FC236}">
                <a16:creationId xmlns:a16="http://schemas.microsoft.com/office/drawing/2014/main" id="{2F9B5F8A-D1AA-4413-9975-48B7D053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422" y="3344636"/>
            <a:ext cx="126546" cy="168729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9AA4B2"/>
            </a:solidFill>
            <a:prstDash val="dash"/>
          </a:ln>
        </p:spPr>
      </p:sp>
      <p:sp>
        <p:nvSpPr>
          <p:cNvPr id="15" name="svg-rect-17">
            <a:extLst xmlns:a="http://schemas.openxmlformats.org/drawingml/2006/main">
              <a:ext uri="{FF2B5EF4-FFF2-40B4-BE49-F238E27FC236}">
                <a16:creationId xmlns:a16="http://schemas.microsoft.com/office/drawing/2014/main" id="{72D3ACFA-F96F-4E68-BFC5-E2624F84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242" y="3344636"/>
            <a:ext cx="126546" cy="168729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9AA4B2"/>
            </a:solidFill>
            <a:prstDash val="dash"/>
          </a:ln>
        </p:spPr>
      </p:sp>
      <p:sp>
        <p:nvSpPr>
          <p:cNvPr id="16" name="svg-rect-18">
            <a:extLst xmlns:a="http://schemas.openxmlformats.org/drawingml/2006/main">
              <a:ext uri="{FF2B5EF4-FFF2-40B4-BE49-F238E27FC236}">
                <a16:creationId xmlns:a16="http://schemas.microsoft.com/office/drawing/2014/main" id="{EA6AFB7F-677B-4AA9-B7DB-7AE2F86D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9062" y="3344636"/>
            <a:ext cx="126546" cy="168729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9AA4B2"/>
            </a:solidFill>
            <a:prstDash val="dash"/>
          </a:ln>
        </p:spPr>
      </p:sp>
      <p:sp>
        <p:nvSpPr>
          <p:cNvPr id="17" name="svg-text-19">
            <a:extLst xmlns:a="http://schemas.openxmlformats.org/drawingml/2006/main">
              <a:ext uri="{FF2B5EF4-FFF2-40B4-BE49-F238E27FC236}">
                <a16:creationId xmlns:a16="http://schemas.microsoft.com/office/drawing/2014/main" id="{2FBB76D1-0A33-443E-84B9-A310CC66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024" y="3647714"/>
            <a:ext cx="958793" cy="14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9" b="1">
                <a:solidFill>
                  <a:srgbClr val="E8890C"/>
                </a:solidFill>
                <a:latin typeface="Arial"/>
                <a:ea typeface="Arial"/>
                <a:cs typeface="Arial"/>
              </a:defRPr>
            </a:pPr>
            <a:r>
              <a:rPr sz="789" b="1">
                <a:solidFill>
                  <a:srgbClr val="E8890C"/>
                </a:solidFill>
                <a:latin typeface="Arial"/>
                <a:ea typeface="Arial"/>
                <a:cs typeface="Arial"/>
              </a:rPr>
              <a:t>正在腾空，不能接回</a:t>
            </a:r>
          </a:p>
        </p:txBody>
      </p:sp>
      <p:sp>
        <p:nvSpPr>
          <p:cNvPr id="18" name="svg-text-20">
            <a:extLst xmlns:a="http://schemas.openxmlformats.org/drawingml/2006/main">
              <a:ext uri="{FF2B5EF4-FFF2-40B4-BE49-F238E27FC236}">
                <a16:creationId xmlns:a16="http://schemas.microsoft.com/office/drawing/2014/main" id="{2B321A3B-3ECE-40B1-ACBF-E4FCD14A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6023"/>
            <a:ext cx="1261450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目标：迁走橙色 Pod 后，</a:t>
            </a:r>
          </a:p>
        </p:txBody>
      </p:sp>
      <p:sp>
        <p:nvSpPr>
          <p:cNvPr id="19" name="svg-text-21">
            <a:extLst xmlns:a="http://schemas.openxmlformats.org/drawingml/2006/main">
              <a:ext uri="{FF2B5EF4-FFF2-40B4-BE49-F238E27FC236}">
                <a16:creationId xmlns:a16="http://schemas.microsoft.com/office/drawing/2014/main" id="{A3AAD001-D5FE-48B7-B9BE-54D5F799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95843"/>
            <a:ext cx="1425961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node-a 的 8 张卡全部空闲。</a:t>
            </a:r>
          </a:p>
        </p:txBody>
      </p:sp>
      <p:sp>
        <p:nvSpPr>
          <p:cNvPr id="20" name="svg-line-22-1">
            <a:extLst xmlns:a="http://schemas.openxmlformats.org/drawingml/2006/main">
              <a:ext uri="{FF2B5EF4-FFF2-40B4-BE49-F238E27FC236}">
                <a16:creationId xmlns:a16="http://schemas.microsoft.com/office/drawing/2014/main" id="{1BAF8DED-0FA5-4CB8-90FD-DDFBD422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11248" y="3376272"/>
            <a:ext cx="48509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091">
            <a:solidFill>
              <a:srgbClr val="1C7ED6"/>
            </a:solidFill>
            <a:prstDash val="solid"/>
          </a:ln>
        </p:spPr>
      </p:sp>
      <p:sp>
        <p:nvSpPr>
          <p:cNvPr id="21" name="svg-arrow-22">
            <a:extLst xmlns:a="http://schemas.openxmlformats.org/drawingml/2006/main">
              <a:ext uri="{FF2B5EF4-FFF2-40B4-BE49-F238E27FC236}">
                <a16:creationId xmlns:a16="http://schemas.microsoft.com/office/drawing/2014/main" id="{0D320F8F-BF26-4E41-A3A3-190EC499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351524" y="3331454"/>
            <a:ext cx="89637" cy="896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4763">
            <a:solidFill>
              <a:srgbClr val="1C7ED6"/>
            </a:solidFill>
            <a:prstDash val="solid"/>
          </a:ln>
        </p:spPr>
      </p:sp>
      <p:sp>
        <p:nvSpPr>
          <p:cNvPr id="22" name="svg-rect-23">
            <a:extLst xmlns:a="http://schemas.openxmlformats.org/drawingml/2006/main">
              <a:ext uri="{FF2B5EF4-FFF2-40B4-BE49-F238E27FC236}">
                <a16:creationId xmlns:a16="http://schemas.microsoft.com/office/drawing/2014/main" id="{B9FC495E-0E86-4D44-A238-F8887F53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980" y="2110808"/>
            <a:ext cx="5082948" cy="255202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0546">
            <a:solidFill>
              <a:srgbClr val="D0D7DE"/>
            </a:solidFill>
            <a:prstDash val="solid"/>
          </a:ln>
        </p:spPr>
      </p:sp>
      <p:sp>
        <p:nvSpPr>
          <p:cNvPr id="23" name="svg-text-24">
            <a:extLst xmlns:a="http://schemas.openxmlformats.org/drawingml/2006/main">
              <a:ext uri="{FF2B5EF4-FFF2-40B4-BE49-F238E27FC236}">
                <a16:creationId xmlns:a16="http://schemas.microsoft.com/office/drawing/2014/main" id="{75BB5825-6653-4803-A8AA-3898BAA0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891" y="2268569"/>
            <a:ext cx="2278040" cy="198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79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079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候选接收节点 · 先排除，再分层排序</a:t>
            </a:r>
          </a:p>
        </p:txBody>
      </p:sp>
      <p:sp>
        <p:nvSpPr>
          <p:cNvPr id="24" name="svg-rect-25">
            <a:extLst xmlns:a="http://schemas.openxmlformats.org/drawingml/2006/main">
              <a:ext uri="{FF2B5EF4-FFF2-40B4-BE49-F238E27FC236}">
                <a16:creationId xmlns:a16="http://schemas.microsoft.com/office/drawing/2014/main" id="{4F09C961-1C14-48FE-A0A1-F7FCD1E7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5982" y="2659176"/>
            <a:ext cx="4618945" cy="527277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9F1"/>
          </a:solidFill>
          <a:ln xmlns:a="http://schemas.openxmlformats.org/drawingml/2006/main" w="10546">
            <a:solidFill>
              <a:srgbClr val="2F9E44"/>
            </a:solidFill>
            <a:prstDash val="solid"/>
          </a:ln>
        </p:spPr>
      </p:sp>
      <p:sp>
        <p:nvSpPr>
          <p:cNvPr id="25" name="svg-text-26">
            <a:extLst xmlns:a="http://schemas.openxmlformats.org/drawingml/2006/main">
              <a:ext uri="{FF2B5EF4-FFF2-40B4-BE49-F238E27FC236}">
                <a16:creationId xmlns:a16="http://schemas.microsoft.com/office/drawing/2014/main" id="{18376E0B-B101-4C9C-A3F2-77DA2854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5802" y="2761046"/>
            <a:ext cx="1935099" cy="160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2" b="1">
                <a:solidFill>
                  <a:srgbClr val="2F9E44"/>
                </a:solidFill>
                <a:latin typeface="Arial"/>
                <a:ea typeface="Arial"/>
                <a:cs typeface="Arial"/>
              </a:defRPr>
            </a:pPr>
            <a:r>
              <a:rPr sz="872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① node-b · 6/8 · 本来就会保持占用</a:t>
            </a:r>
          </a:p>
        </p:txBody>
      </p:sp>
      <p:sp>
        <p:nvSpPr>
          <p:cNvPr id="26" name="svg-text-27">
            <a:extLst xmlns:a="http://schemas.openxmlformats.org/drawingml/2006/main">
              <a:ext uri="{FF2B5EF4-FFF2-40B4-BE49-F238E27FC236}">
                <a16:creationId xmlns:a16="http://schemas.microsoft.com/office/drawing/2014/main" id="{F525AC9D-6DAF-441C-BC14-CA917CD2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5802" y="2951709"/>
            <a:ext cx="3559533" cy="14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9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789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不可迁移 Pod、Scope 外工作负载、已接收迁移或已证明无法腾空 → 优先填充</a:t>
            </a:r>
          </a:p>
        </p:txBody>
      </p:sp>
      <p:sp>
        <p:nvSpPr>
          <p:cNvPr id="27" name="svg-rect-28">
            <a:extLst xmlns:a="http://schemas.openxmlformats.org/drawingml/2006/main">
              <a:ext uri="{FF2B5EF4-FFF2-40B4-BE49-F238E27FC236}">
                <a16:creationId xmlns:a16="http://schemas.microsoft.com/office/drawing/2014/main" id="{CB5C29D1-BE83-4411-9FAB-6B6B56E3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5982" y="3291908"/>
            <a:ext cx="4618945" cy="527277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0546">
            <a:solidFill>
              <a:srgbClr val="1C7ED6"/>
            </a:solidFill>
            <a:prstDash val="solid"/>
          </a:ln>
        </p:spPr>
      </p:sp>
      <p:sp>
        <p:nvSpPr>
          <p:cNvPr id="28" name="svg-text-29">
            <a:extLst xmlns:a="http://schemas.openxmlformats.org/drawingml/2006/main">
              <a:ext uri="{FF2B5EF4-FFF2-40B4-BE49-F238E27FC236}">
                <a16:creationId xmlns:a16="http://schemas.microsoft.com/office/drawing/2014/main" id="{ED1BFF47-CCA6-4A05-948D-C16D229D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5802" y="3393778"/>
            <a:ext cx="2267283" cy="160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2" b="1">
                <a:solidFill>
                  <a:srgbClr val="1C7ED6"/>
                </a:solidFill>
                <a:latin typeface="Arial"/>
                <a:ea typeface="Arial"/>
                <a:cs typeface="Arial"/>
              </a:defRPr>
            </a:pPr>
            <a:r>
              <a:rPr sz="872" b="1">
                <a:solidFill>
                  <a:srgbClr val="1C7ED6"/>
                </a:solidFill>
                <a:latin typeface="Arial"/>
                <a:ea typeface="Arial"/>
                <a:cs typeface="Arial"/>
              </a:rPr>
              <a:t>② node-c · 4/8 · 仍可能成为后续腾空目标</a:t>
            </a:r>
          </a:p>
        </p:txBody>
      </p:sp>
      <p:sp>
        <p:nvSpPr>
          <p:cNvPr id="29" name="svg-text-30">
            <a:extLst xmlns:a="http://schemas.openxmlformats.org/drawingml/2006/main">
              <a:ext uri="{FF2B5EF4-FFF2-40B4-BE49-F238E27FC236}">
                <a16:creationId xmlns:a16="http://schemas.microsoft.com/office/drawing/2014/main" id="{D5F1A338-C511-44A0-999C-17711702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5802" y="3584441"/>
            <a:ext cx="3719825" cy="14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9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789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比较未来腾空的 MinAvailable 风险、工作负载影响和迁移量；成本更高者先使用</a:t>
            </a:r>
          </a:p>
        </p:txBody>
      </p:sp>
      <p:sp>
        <p:nvSpPr>
          <p:cNvPr id="30" name="svg-rect-31">
            <a:extLst xmlns:a="http://schemas.openxmlformats.org/drawingml/2006/main">
              <a:ext uri="{FF2B5EF4-FFF2-40B4-BE49-F238E27FC236}">
                <a16:creationId xmlns:a16="http://schemas.microsoft.com/office/drawing/2014/main" id="{360AFBE0-38FE-4F06-9B9B-EEE849B6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5982" y="3924640"/>
            <a:ext cx="4618945" cy="527277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1F0"/>
          </a:solidFill>
          <a:ln xmlns:a="http://schemas.openxmlformats.org/drawingml/2006/main" w="10546">
            <a:solidFill>
              <a:srgbClr val="E03131"/>
            </a:solidFill>
            <a:prstDash val="dash"/>
          </a:ln>
        </p:spPr>
      </p:sp>
      <p:sp>
        <p:nvSpPr>
          <p:cNvPr id="31" name="svg-text-32">
            <a:extLst xmlns:a="http://schemas.openxmlformats.org/drawingml/2006/main">
              <a:ext uri="{FF2B5EF4-FFF2-40B4-BE49-F238E27FC236}">
                <a16:creationId xmlns:a16="http://schemas.microsoft.com/office/drawing/2014/main" id="{24FBA04F-1635-4877-8554-21F6A0BD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5802" y="4026510"/>
            <a:ext cx="1997107" cy="160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2" b="1">
                <a:solidFill>
                  <a:srgbClr val="E03131"/>
                </a:solidFill>
                <a:latin typeface="Arial"/>
                <a:ea typeface="Arial"/>
                <a:cs typeface="Arial"/>
              </a:defRPr>
            </a:pPr>
            <a:r>
              <a:rPr sz="872" b="1">
                <a:solidFill>
                  <a:srgbClr val="E03131"/>
                </a:solidFill>
                <a:latin typeface="Arial"/>
                <a:ea typeface="Arial"/>
                <a:cs typeface="Arial"/>
              </a:rPr>
              <a:t>× node-d · 0/8 · 目标加速卡完全空闲</a:t>
            </a:r>
          </a:p>
        </p:txBody>
      </p:sp>
      <p:sp>
        <p:nvSpPr>
          <p:cNvPr id="32" name="svg-text-33">
            <a:extLst xmlns:a="http://schemas.openxmlformats.org/drawingml/2006/main">
              <a:ext uri="{FF2B5EF4-FFF2-40B4-BE49-F238E27FC236}">
                <a16:creationId xmlns:a16="http://schemas.microsoft.com/office/drawing/2014/main" id="{F0A86D36-A229-413A-9F83-1FE4FBCC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5802" y="4217173"/>
            <a:ext cx="3062628" cy="14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9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789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迁入会重新占用一个目标资源全部空闲的节点，因此不作为接收节点</a:t>
            </a:r>
          </a:p>
        </p:txBody>
      </p:sp>
      <p:sp>
        <p:nvSpPr>
          <p:cNvPr id="33" name="svg-text-34">
            <a:extLst xmlns:a="http://schemas.openxmlformats.org/drawingml/2006/main">
              <a:ext uri="{FF2B5EF4-FFF2-40B4-BE49-F238E27FC236}">
                <a16:creationId xmlns:a16="http://schemas.microsoft.com/office/drawing/2014/main" id="{ADD1FF7C-D8CA-4050-9186-B0300441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611" y="4480812"/>
            <a:ext cx="3643687" cy="14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9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789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同一层级、同一未来成本时，使用 best-fit：迁入后目标资源余量更少者优先。</a:t>
            </a:r>
          </a:p>
        </p:txBody>
      </p:sp>
      <p:sp>
        <p:nvSpPr>
          <p:cNvPr id="34" name="svg-line-35-1">
            <a:extLst xmlns:a="http://schemas.openxmlformats.org/drawingml/2006/main">
              <a:ext uri="{FF2B5EF4-FFF2-40B4-BE49-F238E27FC236}">
                <a16:creationId xmlns:a16="http://schemas.microsoft.com/office/drawing/2014/main" id="{3B507519-D7FB-45D7-9035-1C1263C7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53475" y="3376272"/>
            <a:ext cx="48509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091">
            <a:solidFill>
              <a:srgbClr val="1C7ED6"/>
            </a:solidFill>
            <a:prstDash val="solid"/>
          </a:ln>
        </p:spPr>
      </p:sp>
      <p:sp>
        <p:nvSpPr>
          <p:cNvPr id="35" name="svg-arrow-35">
            <a:extLst xmlns:a="http://schemas.openxmlformats.org/drawingml/2006/main">
              <a:ext uri="{FF2B5EF4-FFF2-40B4-BE49-F238E27FC236}">
                <a16:creationId xmlns:a16="http://schemas.microsoft.com/office/drawing/2014/main" id="{20D0AC3E-A747-468C-8B73-77383D5B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193751" y="3331454"/>
            <a:ext cx="89637" cy="896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4763">
            <a:solidFill>
              <a:srgbClr val="1C7ED6"/>
            </a:solidFill>
            <a:prstDash val="solid"/>
          </a:ln>
        </p:spPr>
      </p:sp>
      <p:sp>
        <p:nvSpPr>
          <p:cNvPr id="36" name="svg-rect-36">
            <a:extLst xmlns:a="http://schemas.openxmlformats.org/drawingml/2006/main">
              <a:ext uri="{FF2B5EF4-FFF2-40B4-BE49-F238E27FC236}">
                <a16:creationId xmlns:a16="http://schemas.microsoft.com/office/drawing/2014/main" id="{2823B2D9-B839-43F5-8038-79BECF3F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207" y="2110808"/>
            <a:ext cx="2235654" cy="255202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EDF9F1"/>
          </a:solidFill>
          <a:ln xmlns:a="http://schemas.openxmlformats.org/drawingml/2006/main" w="10546">
            <a:solidFill>
              <a:srgbClr val="2F9E44"/>
            </a:solidFill>
            <a:prstDash val="solid"/>
          </a:ln>
        </p:spPr>
      </p:sp>
      <p:sp>
        <p:nvSpPr>
          <p:cNvPr id="37" name="svg-text-37">
            <a:extLst xmlns:a="http://schemas.openxmlformats.org/drawingml/2006/main">
              <a:ext uri="{FF2B5EF4-FFF2-40B4-BE49-F238E27FC236}">
                <a16:creationId xmlns:a16="http://schemas.microsoft.com/office/drawing/2014/main" id="{44E65410-DC03-405E-9372-EA2746A4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7118" y="2268569"/>
            <a:ext cx="605518" cy="198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79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079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本例结果</a:t>
            </a:r>
          </a:p>
        </p:txBody>
      </p:sp>
      <p:sp>
        <p:nvSpPr>
          <p:cNvPr id="38" name="svg-rect-38">
            <a:extLst xmlns:a="http://schemas.openxmlformats.org/drawingml/2006/main">
              <a:ext uri="{FF2B5EF4-FFF2-40B4-BE49-F238E27FC236}">
                <a16:creationId xmlns:a16="http://schemas.microsoft.com/office/drawing/2014/main" id="{F7F266C6-E804-4C59-82C0-6EB3A0C7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8209" y="2680267"/>
            <a:ext cx="1771650" cy="632732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2F9E44"/>
            </a:solidFill>
            <a:prstDash val="solid"/>
          </a:ln>
        </p:spPr>
      </p:sp>
      <p:sp>
        <p:nvSpPr>
          <p:cNvPr id="39" name="svg-text-39">
            <a:extLst xmlns:a="http://schemas.openxmlformats.org/drawingml/2006/main">
              <a:ext uri="{FF2B5EF4-FFF2-40B4-BE49-F238E27FC236}">
                <a16:creationId xmlns:a16="http://schemas.microsoft.com/office/drawing/2014/main" id="{C190EF5D-E154-44F1-9F85-8D6F6C91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914" y="2803228"/>
            <a:ext cx="770239" cy="160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72" b="1">
                <a:solidFill>
                  <a:srgbClr val="2F9E44"/>
                </a:solidFill>
                <a:latin typeface="Arial"/>
                <a:ea typeface="Arial"/>
                <a:cs typeface="Arial"/>
              </a:defRPr>
            </a:pPr>
            <a:r>
              <a:rPr sz="872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node-a · 0/8</a:t>
            </a:r>
          </a:p>
        </p:txBody>
      </p:sp>
      <p:sp>
        <p:nvSpPr>
          <p:cNvPr id="40" name="svg-text-40">
            <a:extLst xmlns:a="http://schemas.openxmlformats.org/drawingml/2006/main">
              <a:ext uri="{FF2B5EF4-FFF2-40B4-BE49-F238E27FC236}">
                <a16:creationId xmlns:a16="http://schemas.microsoft.com/office/drawing/2014/main" id="{369928A4-2497-41D8-AC6C-8AAA8ED8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884" y="3014982"/>
            <a:ext cx="688300" cy="14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9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789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GPU 全部空闲</a:t>
            </a:r>
          </a:p>
        </p:txBody>
      </p:sp>
      <p:sp>
        <p:nvSpPr>
          <p:cNvPr id="41" name="svg-rect-41">
            <a:extLst xmlns:a="http://schemas.openxmlformats.org/drawingml/2006/main">
              <a:ext uri="{FF2B5EF4-FFF2-40B4-BE49-F238E27FC236}">
                <a16:creationId xmlns:a16="http://schemas.microsoft.com/office/drawing/2014/main" id="{932EE42D-90AC-4965-8D6D-86486881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8209" y="3439546"/>
            <a:ext cx="1771650" cy="632732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2F9E44"/>
            </a:solidFill>
            <a:prstDash val="solid"/>
          </a:ln>
        </p:spPr>
      </p:sp>
      <p:sp>
        <p:nvSpPr>
          <p:cNvPr id="42" name="svg-text-42">
            <a:extLst xmlns:a="http://schemas.openxmlformats.org/drawingml/2006/main">
              <a:ext uri="{FF2B5EF4-FFF2-40B4-BE49-F238E27FC236}">
                <a16:creationId xmlns:a16="http://schemas.microsoft.com/office/drawing/2014/main" id="{7D943044-A4CF-4E74-B702-700AFBB3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914" y="3562506"/>
            <a:ext cx="770239" cy="160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72" b="1">
                <a:solidFill>
                  <a:srgbClr val="2F9E44"/>
                </a:solidFill>
                <a:latin typeface="Arial"/>
                <a:ea typeface="Arial"/>
                <a:cs typeface="Arial"/>
              </a:defRPr>
            </a:pPr>
            <a:r>
              <a:rPr sz="872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node-b · 8/8</a:t>
            </a:r>
          </a:p>
        </p:txBody>
      </p:sp>
      <p:sp>
        <p:nvSpPr>
          <p:cNvPr id="43" name="svg-text-43">
            <a:extLst xmlns:a="http://schemas.openxmlformats.org/drawingml/2006/main">
              <a:ext uri="{FF2B5EF4-FFF2-40B4-BE49-F238E27FC236}">
                <a16:creationId xmlns:a16="http://schemas.microsoft.com/office/drawing/2014/main" id="{40FBB35A-D76D-414F-8FF3-7A688D22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491" y="3774261"/>
            <a:ext cx="1119085" cy="14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9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789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接收 2 GPU 后全部占用</a:t>
            </a:r>
          </a:p>
        </p:txBody>
      </p:sp>
      <p:sp>
        <p:nvSpPr>
          <p:cNvPr id="44" name="svg-text-44">
            <a:extLst xmlns:a="http://schemas.openxmlformats.org/drawingml/2006/main">
              <a:ext uri="{FF2B5EF4-FFF2-40B4-BE49-F238E27FC236}">
                <a16:creationId xmlns:a16="http://schemas.microsoft.com/office/drawing/2014/main" id="{747EFDAA-823C-42F9-96E6-0F658E17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2360" y="4259355"/>
            <a:ext cx="1263348" cy="14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9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789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node-c、node-d 保持不变</a:t>
            </a:r>
          </a:p>
        </p:txBody>
      </p:sp>
      <p:sp>
        <p:nvSpPr>
          <p:cNvPr id="45" name="svg-rect-45">
            <a:extLst xmlns:a="http://schemas.openxmlformats.org/drawingml/2006/main">
              <a:ext uri="{FF2B5EF4-FFF2-40B4-BE49-F238E27FC236}">
                <a16:creationId xmlns:a16="http://schemas.microsoft.com/office/drawing/2014/main" id="{235EE57E-8AF7-430A-B0C2-7EDEC5F3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509" y="5021376"/>
            <a:ext cx="9490982" cy="40073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0546">
            <a:solidFill>
              <a:srgbClr val="D0D7DE"/>
            </a:solidFill>
            <a:prstDash val="solid"/>
          </a:ln>
        </p:spPr>
      </p:sp>
      <p:sp>
        <p:nvSpPr>
          <p:cNvPr id="46" name="svg-text-46">
            <a:extLst xmlns:a="http://schemas.openxmlformats.org/drawingml/2006/main">
              <a:ext uri="{FF2B5EF4-FFF2-40B4-BE49-F238E27FC236}">
                <a16:creationId xmlns:a16="http://schemas.microsoft.com/office/drawing/2014/main" id="{7A9F4D06-53C2-46B0-8B53-D5EC7CF3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2035" y="5154882"/>
            <a:ext cx="4007930" cy="160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72" b="0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872" b="0">
                <a:solidFill>
                  <a:srgbClr val="1F2328"/>
                </a:solidFill>
                <a:latin typeface="Arial"/>
                <a:ea typeface="Arial"/>
                <a:cs typeface="Arial"/>
              </a:rPr>
              <a:t>结果：腾空 node-a 且不占用 node-d，同时为后续整理保留更多完整节点容量。</a:t>
            </a:r>
          </a:p>
        </p:txBody>
      </p:sp>
    </p:spTree>
    <p:extLst>
      <p:ext uri="{BB962C8B-B14F-4D97-AF65-F5344CB8AC3E}">
        <p14:creationId xmlns:p14="http://schemas.microsoft.com/office/powerpoint/2010/main" val="1424356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vg-rect-1">
            <a:extLst xmlns:a="http://schemas.openxmlformats.org/drawingml/2006/main">
              <a:ext uri="{FF2B5EF4-FFF2-40B4-BE49-F238E27FC236}">
                <a16:creationId xmlns:a16="http://schemas.microsoft.com/office/drawing/2014/main" id="{3C60CFCA-C438-4D13-B790-1BB9710F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19893"/>
            <a:ext cx="11811000" cy="42182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vg-text-2">
            <a:extLst xmlns:a="http://schemas.openxmlformats.org/drawingml/2006/main">
              <a:ext uri="{FF2B5EF4-FFF2-40B4-BE49-F238E27FC236}">
                <a16:creationId xmlns:a16="http://schemas.microsoft.com/office/drawing/2014/main" id="{E1AD0FD1-2FBF-4681-8B9F-A7572E92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57" y="1463734"/>
            <a:ext cx="5370835" cy="259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12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412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执行预算：Scope 允许驱逐的工作负载不会在一次 Run 中全部迁移</a:t>
            </a:r>
          </a:p>
        </p:txBody>
      </p:sp>
      <p:sp>
        <p:nvSpPr>
          <p:cNvPr id="3" name="svg-text-3">
            <a:extLst xmlns:a="http://schemas.openxmlformats.org/drawingml/2006/main">
              <a:ext uri="{FF2B5EF4-FFF2-40B4-BE49-F238E27FC236}">
                <a16:creationId xmlns:a16="http://schemas.microsoft.com/office/drawing/2014/main" id="{5892DA15-6472-438E-9C41-2B560700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57" y="1785162"/>
            <a:ext cx="4994148" cy="168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3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913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maxPerRun 同时限制受影响工作负载数和迁移卡数；突破任一上限的候选在规划阶段直接淘汰。</a:t>
            </a:r>
          </a:p>
        </p:txBody>
      </p:sp>
      <p:sp>
        <p:nvSpPr>
          <p:cNvPr id="4" name="svg-rect-4">
            <a:extLst xmlns:a="http://schemas.openxmlformats.org/drawingml/2006/main">
              <a:ext uri="{FF2B5EF4-FFF2-40B4-BE49-F238E27FC236}">
                <a16:creationId xmlns:a16="http://schemas.microsoft.com/office/drawing/2014/main" id="{BF0C27C4-308F-4589-97AE-907FCFD5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321" y="2290082"/>
            <a:ext cx="2488746" cy="2277836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0546">
            <a:solidFill>
              <a:srgbClr val="1C7ED6"/>
            </a:solidFill>
            <a:prstDash val="solid"/>
          </a:ln>
        </p:spPr>
      </p:sp>
      <p:sp>
        <p:nvSpPr>
          <p:cNvPr id="5" name="svg-text-5">
            <a:extLst xmlns:a="http://schemas.openxmlformats.org/drawingml/2006/main">
              <a:ext uri="{FF2B5EF4-FFF2-40B4-BE49-F238E27FC236}">
                <a16:creationId xmlns:a16="http://schemas.microsoft.com/office/drawing/2014/main" id="{C10B0AAE-F531-4723-84DD-F7F59179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32" y="2458389"/>
            <a:ext cx="1869506" cy="198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79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079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Scope 内允许驱逐的工作负载</a:t>
            </a:r>
          </a:p>
        </p:txBody>
      </p:sp>
      <p:sp>
        <p:nvSpPr>
          <p:cNvPr id="6" name="svg-text-6">
            <a:extLst xmlns:a="http://schemas.openxmlformats.org/drawingml/2006/main">
              <a:ext uri="{FF2B5EF4-FFF2-40B4-BE49-F238E27FC236}">
                <a16:creationId xmlns:a16="http://schemas.microsoft.com/office/drawing/2014/main" id="{ED5F579F-98EE-4A82-BD51-61EDCBC4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32" y="2714013"/>
            <a:ext cx="1550398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train-a · train-b · infer-c</a:t>
            </a:r>
          </a:p>
        </p:txBody>
      </p:sp>
      <p:sp>
        <p:nvSpPr>
          <p:cNvPr id="7" name="svg-rect-8">
            <a:extLst xmlns:a="http://schemas.openxmlformats.org/drawingml/2006/main">
              <a:ext uri="{FF2B5EF4-FFF2-40B4-BE49-F238E27FC236}">
                <a16:creationId xmlns:a16="http://schemas.microsoft.com/office/drawing/2014/main" id="{36F84F0B-680F-417C-A9AE-9CA01F93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32" y="3070452"/>
            <a:ext cx="696005" cy="379639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1C7ED6"/>
            </a:solidFill>
            <a:prstDash val="solid"/>
          </a:ln>
        </p:spPr>
      </p:sp>
      <p:sp>
        <p:nvSpPr>
          <p:cNvPr id="8" name="svg-rect-9">
            <a:extLst xmlns:a="http://schemas.openxmlformats.org/drawingml/2006/main">
              <a:ext uri="{FF2B5EF4-FFF2-40B4-BE49-F238E27FC236}">
                <a16:creationId xmlns:a16="http://schemas.microsoft.com/office/drawing/2014/main" id="{775A6D0F-78CB-4FE6-9926-40DCE55C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693" y="3070452"/>
            <a:ext cx="696005" cy="379639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1C7ED6"/>
            </a:solidFill>
            <a:prstDash val="solid"/>
          </a:ln>
        </p:spPr>
      </p:sp>
      <p:sp>
        <p:nvSpPr>
          <p:cNvPr id="9" name="svg-rect-10">
            <a:extLst xmlns:a="http://schemas.openxmlformats.org/drawingml/2006/main">
              <a:ext uri="{FF2B5EF4-FFF2-40B4-BE49-F238E27FC236}">
                <a16:creationId xmlns:a16="http://schemas.microsoft.com/office/drawing/2014/main" id="{1E312D98-6F46-4D89-919C-5B85BD82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154" y="3070452"/>
            <a:ext cx="696005" cy="379639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1C7ED6"/>
            </a:solidFill>
            <a:prstDash val="solid"/>
          </a:ln>
        </p:spPr>
      </p:sp>
      <p:sp>
        <p:nvSpPr>
          <p:cNvPr id="10" name="svg-text-11">
            <a:extLst xmlns:a="http://schemas.openxmlformats.org/drawingml/2006/main">
              <a:ext uri="{FF2B5EF4-FFF2-40B4-BE49-F238E27FC236}">
                <a16:creationId xmlns:a16="http://schemas.microsoft.com/office/drawing/2014/main" id="{F293B319-B25E-43C3-B3B5-94F66BE9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64" y="3216191"/>
            <a:ext cx="50354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06" b="0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706" b="0">
                <a:solidFill>
                  <a:srgbClr val="1F2328"/>
                </a:solidFill>
                <a:latin typeface="Arial"/>
                <a:ea typeface="Arial"/>
                <a:cs typeface="Arial"/>
              </a:rPr>
              <a:t>工作负载 A</a:t>
            </a:r>
          </a:p>
        </p:txBody>
      </p:sp>
      <p:sp>
        <p:nvSpPr>
          <p:cNvPr id="11" name="svg-text-12">
            <a:extLst xmlns:a="http://schemas.openxmlformats.org/drawingml/2006/main">
              <a:ext uri="{FF2B5EF4-FFF2-40B4-BE49-F238E27FC236}">
                <a16:creationId xmlns:a16="http://schemas.microsoft.com/office/drawing/2014/main" id="{818C2BAB-CF1E-416C-8C7C-0E2ADD62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0924" y="3216191"/>
            <a:ext cx="50354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06" b="0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706" b="0">
                <a:solidFill>
                  <a:srgbClr val="1F2328"/>
                </a:solidFill>
                <a:latin typeface="Arial"/>
                <a:ea typeface="Arial"/>
                <a:cs typeface="Arial"/>
              </a:rPr>
              <a:t>工作负载 B</a:t>
            </a:r>
          </a:p>
        </p:txBody>
      </p:sp>
      <p:sp>
        <p:nvSpPr>
          <p:cNvPr id="12" name="svg-text-13">
            <a:extLst xmlns:a="http://schemas.openxmlformats.org/drawingml/2006/main">
              <a:ext uri="{FF2B5EF4-FFF2-40B4-BE49-F238E27FC236}">
                <a16:creationId xmlns:a16="http://schemas.microsoft.com/office/drawing/2014/main" id="{1156F203-E506-483B-9C79-F3ECD346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385" y="3216191"/>
            <a:ext cx="50354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06" b="0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706" b="0">
                <a:solidFill>
                  <a:srgbClr val="1F2328"/>
                </a:solidFill>
                <a:latin typeface="Arial"/>
                <a:ea typeface="Arial"/>
                <a:cs typeface="Arial"/>
              </a:rPr>
              <a:t>工作负载 C</a:t>
            </a:r>
          </a:p>
        </p:txBody>
      </p:sp>
      <p:sp>
        <p:nvSpPr>
          <p:cNvPr id="13" name="svg-text-14">
            <a:extLst xmlns:a="http://schemas.openxmlformats.org/drawingml/2006/main">
              <a:ext uri="{FF2B5EF4-FFF2-40B4-BE49-F238E27FC236}">
                <a16:creationId xmlns:a16="http://schemas.microsoft.com/office/drawing/2014/main" id="{16BA956E-B4B8-4DF0-A127-3832E28B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32" y="3631474"/>
            <a:ext cx="1533525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这些对象只是“有资格参与”，</a:t>
            </a:r>
          </a:p>
        </p:txBody>
      </p:sp>
      <p:sp>
        <p:nvSpPr>
          <p:cNvPr id="14" name="svg-text-15">
            <a:extLst xmlns:a="http://schemas.openxmlformats.org/drawingml/2006/main">
              <a:ext uri="{FF2B5EF4-FFF2-40B4-BE49-F238E27FC236}">
                <a16:creationId xmlns:a16="http://schemas.microsoft.com/office/drawing/2014/main" id="{8A72DA6B-9DCC-4F51-823A-D87527D2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32" y="3821294"/>
            <a:ext cx="1111704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不是本次都会被驱逐。</a:t>
            </a:r>
          </a:p>
        </p:txBody>
      </p:sp>
      <p:sp>
        <p:nvSpPr>
          <p:cNvPr id="15" name="svg-text-16">
            <a:extLst xmlns:a="http://schemas.openxmlformats.org/drawingml/2006/main">
              <a:ext uri="{FF2B5EF4-FFF2-40B4-BE49-F238E27FC236}">
                <a16:creationId xmlns:a16="http://schemas.microsoft.com/office/drawing/2014/main" id="{88599D1D-2E41-49E2-982A-A4D2683D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32" y="4174148"/>
            <a:ext cx="1667137" cy="160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2" b="1">
                <a:solidFill>
                  <a:srgbClr val="1C7ED6"/>
                </a:solidFill>
                <a:latin typeface="Arial"/>
                <a:ea typeface="Arial"/>
                <a:cs typeface="Arial"/>
              </a:defRPr>
            </a:pPr>
            <a:r>
              <a:rPr sz="872" b="1">
                <a:solidFill>
                  <a:srgbClr val="1C7ED6"/>
                </a:solidFill>
                <a:latin typeface="Arial"/>
                <a:ea typeface="Arial"/>
                <a:cs typeface="Arial"/>
              </a:rPr>
              <a:t>工作负载驱逐范围由 Scope 决定</a:t>
            </a:r>
          </a:p>
        </p:txBody>
      </p:sp>
      <p:sp>
        <p:nvSpPr>
          <p:cNvPr id="16" name="svg-rect-17">
            <a:extLst xmlns:a="http://schemas.openxmlformats.org/drawingml/2006/main">
              <a:ext uri="{FF2B5EF4-FFF2-40B4-BE49-F238E27FC236}">
                <a16:creationId xmlns:a16="http://schemas.microsoft.com/office/drawing/2014/main" id="{C428843F-AE36-4184-A4C5-848CA4DA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798" y="2290082"/>
            <a:ext cx="2488746" cy="2277836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0546">
            <a:solidFill>
              <a:srgbClr val="E8890C"/>
            </a:solidFill>
            <a:prstDash val="solid"/>
          </a:ln>
        </p:spPr>
      </p:sp>
      <p:sp>
        <p:nvSpPr>
          <p:cNvPr id="17" name="svg-text-18">
            <a:extLst xmlns:a="http://schemas.openxmlformats.org/drawingml/2006/main">
              <a:ext uri="{FF2B5EF4-FFF2-40B4-BE49-F238E27FC236}">
                <a16:creationId xmlns:a16="http://schemas.microsoft.com/office/drawing/2014/main" id="{BD5D8CAE-1BCE-4FDF-83A7-64A434CE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709" y="2458389"/>
            <a:ext cx="1211464" cy="198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79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079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本次 Run 的硬上限</a:t>
            </a:r>
          </a:p>
        </p:txBody>
      </p:sp>
      <p:sp>
        <p:nvSpPr>
          <p:cNvPr id="18" name="svg-rect-19">
            <a:extLst xmlns:a="http://schemas.openxmlformats.org/drawingml/2006/main">
              <a:ext uri="{FF2B5EF4-FFF2-40B4-BE49-F238E27FC236}">
                <a16:creationId xmlns:a16="http://schemas.microsoft.com/office/drawing/2014/main" id="{C825576A-2EC1-4DF3-8AB4-EB016F7B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709" y="2933360"/>
            <a:ext cx="2066925" cy="822552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E8890C"/>
            </a:solidFill>
            <a:prstDash val="solid"/>
          </a:ln>
        </p:spPr>
      </p:sp>
      <p:sp>
        <p:nvSpPr>
          <p:cNvPr id="19" name="svg-text-20">
            <a:extLst xmlns:a="http://schemas.openxmlformats.org/drawingml/2006/main">
              <a:ext uri="{FF2B5EF4-FFF2-40B4-BE49-F238E27FC236}">
                <a16:creationId xmlns:a16="http://schemas.microsoft.com/office/drawing/2014/main" id="{F3830CCA-5606-4E08-B96E-923755C2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620" y="3092808"/>
            <a:ext cx="832036" cy="168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3" b="0">
                <a:solidFill>
                  <a:srgbClr val="1F2328"/>
                </a:solidFill>
                <a:latin typeface="Courier New"/>
                <a:ea typeface="Courier New"/>
                <a:cs typeface="Courier New"/>
              </a:defRPr>
            </a:pPr>
            <a:r>
              <a:rPr sz="913" b="0">
                <a:solidFill>
                  <a:srgbClr val="1F2328"/>
                </a:solidFill>
                <a:latin typeface="Courier New"/>
                <a:ea typeface="Courier New"/>
                <a:cs typeface="Courier New"/>
              </a:rPr>
              <a:t>podGroups: 1</a:t>
            </a:r>
          </a:p>
        </p:txBody>
      </p:sp>
      <p:sp>
        <p:nvSpPr>
          <p:cNvPr id="20" name="svg-text-21">
            <a:extLst xmlns:a="http://schemas.openxmlformats.org/drawingml/2006/main">
              <a:ext uri="{FF2B5EF4-FFF2-40B4-BE49-F238E27FC236}">
                <a16:creationId xmlns:a16="http://schemas.microsoft.com/office/drawing/2014/main" id="{AEF024E9-A9AC-459A-890C-89B87483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620" y="3377538"/>
            <a:ext cx="1711323" cy="168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3" b="0">
                <a:solidFill>
                  <a:srgbClr val="1F2328"/>
                </a:solidFill>
                <a:latin typeface="Courier New"/>
                <a:ea typeface="Courier New"/>
                <a:cs typeface="Courier New"/>
              </a:defRPr>
            </a:pPr>
            <a:r>
              <a:rPr sz="913" b="0">
                <a:solidFill>
                  <a:srgbClr val="1F2328"/>
                </a:solidFill>
                <a:latin typeface="Courier New"/>
                <a:ea typeface="Courier New"/>
                <a:cs typeface="Courier New"/>
              </a:rPr>
              <a:t>huawei.com/ascend-1980: 4</a:t>
            </a:r>
          </a:p>
        </p:txBody>
      </p:sp>
      <p:sp>
        <p:nvSpPr>
          <p:cNvPr id="21" name="svg-text-22">
            <a:extLst xmlns:a="http://schemas.openxmlformats.org/drawingml/2006/main">
              <a:ext uri="{FF2B5EF4-FFF2-40B4-BE49-F238E27FC236}">
                <a16:creationId xmlns:a16="http://schemas.microsoft.com/office/drawing/2014/main" id="{3743250D-CEC3-422C-ACBC-1A2E6526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709" y="3926749"/>
            <a:ext cx="1006248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两个上限独立判断；</a:t>
            </a:r>
          </a:p>
        </p:txBody>
      </p:sp>
      <p:sp>
        <p:nvSpPr>
          <p:cNvPr id="22" name="svg-text-23">
            <a:extLst xmlns:a="http://schemas.openxmlformats.org/drawingml/2006/main">
              <a:ext uri="{FF2B5EF4-FFF2-40B4-BE49-F238E27FC236}">
                <a16:creationId xmlns:a16="http://schemas.microsoft.com/office/drawing/2014/main" id="{A6ABD303-A815-4D37-8E4E-753CBB9D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709" y="4116569"/>
            <a:ext cx="1428070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任一个超出，本候选即停止。</a:t>
            </a:r>
          </a:p>
        </p:txBody>
      </p:sp>
      <p:sp>
        <p:nvSpPr>
          <p:cNvPr id="23" name="svg-text-24">
            <a:extLst xmlns:a="http://schemas.openxmlformats.org/drawingml/2006/main">
              <a:ext uri="{FF2B5EF4-FFF2-40B4-BE49-F238E27FC236}">
                <a16:creationId xmlns:a16="http://schemas.microsoft.com/office/drawing/2014/main" id="{F7855643-4324-464A-B1EA-6D4A3039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709" y="4321785"/>
            <a:ext cx="1594056" cy="160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2" b="1">
                <a:solidFill>
                  <a:srgbClr val="E8890C"/>
                </a:solidFill>
                <a:latin typeface="Arial"/>
                <a:ea typeface="Arial"/>
                <a:cs typeface="Arial"/>
              </a:defRPr>
            </a:pPr>
            <a:r>
              <a:rPr sz="872" b="1">
                <a:solidFill>
                  <a:srgbClr val="E8890C"/>
                </a:solidFill>
                <a:latin typeface="Arial"/>
                <a:ea typeface="Arial"/>
                <a:cs typeface="Arial"/>
              </a:rPr>
              <a:t>单次影响面由 maxPerRun 决定</a:t>
            </a:r>
          </a:p>
        </p:txBody>
      </p:sp>
      <p:sp>
        <p:nvSpPr>
          <p:cNvPr id="24" name="svg-rect-25">
            <a:extLst xmlns:a="http://schemas.openxmlformats.org/drawingml/2006/main">
              <a:ext uri="{FF2B5EF4-FFF2-40B4-BE49-F238E27FC236}">
                <a16:creationId xmlns:a16="http://schemas.microsoft.com/office/drawing/2014/main" id="{CE8F6D76-17E6-404A-9FF2-9E8F42D4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290082"/>
            <a:ext cx="5188404" cy="2277836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0546">
            <a:solidFill>
              <a:srgbClr val="D0D7DE"/>
            </a:solidFill>
            <a:prstDash val="solid"/>
          </a:ln>
        </p:spPr>
      </p:sp>
      <p:sp>
        <p:nvSpPr>
          <p:cNvPr id="25" name="svg-text-26">
            <a:extLst xmlns:a="http://schemas.openxmlformats.org/drawingml/2006/main">
              <a:ext uri="{FF2B5EF4-FFF2-40B4-BE49-F238E27FC236}">
                <a16:creationId xmlns:a16="http://schemas.microsoft.com/office/drawing/2014/main" id="{82540373-BDC3-40CC-B82C-48C38ABA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2186" y="2458389"/>
            <a:ext cx="2113529" cy="198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79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079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候选计划在执行前就完成预算检查</a:t>
            </a:r>
          </a:p>
        </p:txBody>
      </p:sp>
      <p:sp>
        <p:nvSpPr>
          <p:cNvPr id="26" name="svg-rect-27">
            <a:extLst xmlns:a="http://schemas.openxmlformats.org/drawingml/2006/main">
              <a:ext uri="{FF2B5EF4-FFF2-40B4-BE49-F238E27FC236}">
                <a16:creationId xmlns:a16="http://schemas.microsoft.com/office/drawing/2014/main" id="{206B39AC-6C13-4EC5-BD0D-48F19058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3277" y="2859541"/>
            <a:ext cx="1476375" cy="1307646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EDF9F1"/>
          </a:solidFill>
          <a:ln xmlns:a="http://schemas.openxmlformats.org/drawingml/2006/main" w="10546">
            <a:solidFill>
              <a:srgbClr val="2F9E44"/>
            </a:solidFill>
            <a:prstDash val="solid"/>
          </a:ln>
        </p:spPr>
      </p:sp>
      <p:sp>
        <p:nvSpPr>
          <p:cNvPr id="27" name="svg-text-28">
            <a:extLst xmlns:a="http://schemas.openxmlformats.org/drawingml/2006/main">
              <a:ext uri="{FF2B5EF4-FFF2-40B4-BE49-F238E27FC236}">
                <a16:creationId xmlns:a16="http://schemas.microsoft.com/office/drawing/2014/main" id="{22C140B4-860A-416E-A46C-10E325CB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4447" y="2987353"/>
            <a:ext cx="774036" cy="168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3" b="1">
                <a:solidFill>
                  <a:srgbClr val="2F9E44"/>
                </a:solidFill>
                <a:latin typeface="Arial"/>
                <a:ea typeface="Arial"/>
                <a:cs typeface="Arial"/>
              </a:defRPr>
            </a:pPr>
            <a:r>
              <a:rPr sz="913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候选 A · 通过</a:t>
            </a:r>
          </a:p>
        </p:txBody>
      </p:sp>
      <p:sp>
        <p:nvSpPr>
          <p:cNvPr id="28" name="svg-text-29">
            <a:extLst xmlns:a="http://schemas.openxmlformats.org/drawingml/2006/main">
              <a:ext uri="{FF2B5EF4-FFF2-40B4-BE49-F238E27FC236}">
                <a16:creationId xmlns:a16="http://schemas.microsoft.com/office/drawing/2014/main" id="{C52B2BB7-E921-42F7-AF7E-517B17E5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7578" y="3272926"/>
            <a:ext cx="687773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30" b="0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1F2328"/>
                </a:solidFill>
                <a:latin typeface="Arial"/>
                <a:ea typeface="Arial"/>
                <a:cs typeface="Arial"/>
              </a:rPr>
              <a:t>1 个工作负载</a:t>
            </a:r>
          </a:p>
        </p:txBody>
      </p:sp>
      <p:sp>
        <p:nvSpPr>
          <p:cNvPr id="29" name="svg-text-30">
            <a:extLst xmlns:a="http://schemas.openxmlformats.org/drawingml/2006/main">
              <a:ext uri="{FF2B5EF4-FFF2-40B4-BE49-F238E27FC236}">
                <a16:creationId xmlns:a16="http://schemas.microsoft.com/office/drawing/2014/main" id="{39660615-2A0B-478A-84D7-E585C1C6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887" y="3483837"/>
            <a:ext cx="753155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30" b="0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1F2328"/>
                </a:solidFill>
                <a:latin typeface="Arial"/>
                <a:ea typeface="Arial"/>
                <a:cs typeface="Arial"/>
              </a:rPr>
              <a:t>移动 4 张 NPU</a:t>
            </a:r>
          </a:p>
        </p:txBody>
      </p:sp>
      <p:sp>
        <p:nvSpPr>
          <p:cNvPr id="30" name="svg-text-31">
            <a:extLst xmlns:a="http://schemas.openxmlformats.org/drawingml/2006/main">
              <a:ext uri="{FF2B5EF4-FFF2-40B4-BE49-F238E27FC236}">
                <a16:creationId xmlns:a16="http://schemas.microsoft.com/office/drawing/2014/main" id="{241AF826-1A84-4D57-BCD6-C4DC567B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1068" y="3810748"/>
            <a:ext cx="900793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30" b="1">
                <a:solidFill>
                  <a:srgbClr val="2F9E44"/>
                </a:solidFill>
                <a:latin typeface="Arial"/>
                <a:ea typeface="Arial"/>
                <a:cs typeface="Arial"/>
              </a:defRPr>
            </a:pPr>
            <a:r>
              <a:rPr sz="83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进入中断影响排序</a:t>
            </a:r>
          </a:p>
        </p:txBody>
      </p:sp>
      <p:sp>
        <p:nvSpPr>
          <p:cNvPr id="31" name="svg-rect-32">
            <a:extLst xmlns:a="http://schemas.openxmlformats.org/drawingml/2006/main">
              <a:ext uri="{FF2B5EF4-FFF2-40B4-BE49-F238E27FC236}">
                <a16:creationId xmlns:a16="http://schemas.microsoft.com/office/drawing/2014/main" id="{430559B6-87F9-467F-8992-EEC2F9FF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289" y="2859541"/>
            <a:ext cx="1476375" cy="1307646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FFF1F0"/>
          </a:solidFill>
          <a:ln xmlns:a="http://schemas.openxmlformats.org/drawingml/2006/main" w="10546">
            <a:solidFill>
              <a:srgbClr val="E03131"/>
            </a:solidFill>
            <a:prstDash val="solid"/>
          </a:ln>
        </p:spPr>
      </p:sp>
      <p:sp>
        <p:nvSpPr>
          <p:cNvPr id="32" name="svg-text-33">
            <a:extLst xmlns:a="http://schemas.openxmlformats.org/drawingml/2006/main">
              <a:ext uri="{FF2B5EF4-FFF2-40B4-BE49-F238E27FC236}">
                <a16:creationId xmlns:a16="http://schemas.microsoft.com/office/drawing/2014/main" id="{5B5F11A7-1451-41FF-8B87-C12031A8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8459" y="2987353"/>
            <a:ext cx="774036" cy="168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3" b="1">
                <a:solidFill>
                  <a:srgbClr val="E03131"/>
                </a:solidFill>
                <a:latin typeface="Arial"/>
                <a:ea typeface="Arial"/>
                <a:cs typeface="Arial"/>
              </a:defRPr>
            </a:pPr>
            <a:r>
              <a:rPr sz="913" b="1">
                <a:solidFill>
                  <a:srgbClr val="E03131"/>
                </a:solidFill>
                <a:latin typeface="Arial"/>
                <a:ea typeface="Arial"/>
                <a:cs typeface="Arial"/>
              </a:rPr>
              <a:t>候选 B · 淘汰</a:t>
            </a:r>
          </a:p>
        </p:txBody>
      </p:sp>
      <p:sp>
        <p:nvSpPr>
          <p:cNvPr id="33" name="svg-text-34">
            <a:extLst xmlns:a="http://schemas.openxmlformats.org/drawingml/2006/main">
              <a:ext uri="{FF2B5EF4-FFF2-40B4-BE49-F238E27FC236}">
                <a16:creationId xmlns:a16="http://schemas.microsoft.com/office/drawing/2014/main" id="{CCCD3488-5362-4722-BE01-BEFE7C8F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590" y="3272926"/>
            <a:ext cx="687773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30" b="0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1F2328"/>
                </a:solidFill>
                <a:latin typeface="Arial"/>
                <a:ea typeface="Arial"/>
                <a:cs typeface="Arial"/>
              </a:rPr>
              <a:t>2 个工作负载</a:t>
            </a:r>
          </a:p>
        </p:txBody>
      </p:sp>
      <p:sp>
        <p:nvSpPr>
          <p:cNvPr id="34" name="svg-text-35">
            <a:extLst xmlns:a="http://schemas.openxmlformats.org/drawingml/2006/main">
              <a:ext uri="{FF2B5EF4-FFF2-40B4-BE49-F238E27FC236}">
                <a16:creationId xmlns:a16="http://schemas.microsoft.com/office/drawing/2014/main" id="{BC5F296A-E8BA-4AA2-A2B6-CC6E7BD9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899" y="3483837"/>
            <a:ext cx="753155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30" b="0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1F2328"/>
                </a:solidFill>
                <a:latin typeface="Arial"/>
                <a:ea typeface="Arial"/>
                <a:cs typeface="Arial"/>
              </a:rPr>
              <a:t>移动 4 张 NPU</a:t>
            </a:r>
          </a:p>
        </p:txBody>
      </p:sp>
      <p:sp>
        <p:nvSpPr>
          <p:cNvPr id="35" name="svg-text-36">
            <a:extLst xmlns:a="http://schemas.openxmlformats.org/drawingml/2006/main">
              <a:ext uri="{FF2B5EF4-FFF2-40B4-BE49-F238E27FC236}">
                <a16:creationId xmlns:a16="http://schemas.microsoft.com/office/drawing/2014/main" id="{F01A759D-5A59-4B11-9B43-BE6A7124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7808" y="3810748"/>
            <a:ext cx="795338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30" b="1">
                <a:solidFill>
                  <a:srgbClr val="E03131"/>
                </a:solidFill>
                <a:latin typeface="Arial"/>
                <a:ea typeface="Arial"/>
                <a:cs typeface="Arial"/>
              </a:defRPr>
            </a:pPr>
            <a:r>
              <a:rPr sz="830" b="1">
                <a:solidFill>
                  <a:srgbClr val="E03131"/>
                </a:solidFill>
                <a:latin typeface="Arial"/>
                <a:ea typeface="Arial"/>
                <a:cs typeface="Arial"/>
              </a:rPr>
              <a:t>工作负载数超限</a:t>
            </a:r>
          </a:p>
        </p:txBody>
      </p:sp>
      <p:sp>
        <p:nvSpPr>
          <p:cNvPr id="36" name="svg-rect-37">
            <a:extLst xmlns:a="http://schemas.openxmlformats.org/drawingml/2006/main">
              <a:ext uri="{FF2B5EF4-FFF2-40B4-BE49-F238E27FC236}">
                <a16:creationId xmlns:a16="http://schemas.microsoft.com/office/drawing/2014/main" id="{6A599D03-93AD-420F-A4B2-0B4736BB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1302" y="2859541"/>
            <a:ext cx="1476375" cy="1307646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FFF1F0"/>
          </a:solidFill>
          <a:ln xmlns:a="http://schemas.openxmlformats.org/drawingml/2006/main" w="10546">
            <a:solidFill>
              <a:srgbClr val="E03131"/>
            </a:solidFill>
            <a:prstDash val="solid"/>
          </a:ln>
        </p:spPr>
      </p:sp>
      <p:sp>
        <p:nvSpPr>
          <p:cNvPr id="37" name="svg-text-38">
            <a:extLst xmlns:a="http://schemas.openxmlformats.org/drawingml/2006/main">
              <a:ext uri="{FF2B5EF4-FFF2-40B4-BE49-F238E27FC236}">
                <a16:creationId xmlns:a16="http://schemas.microsoft.com/office/drawing/2014/main" id="{799489CA-8B77-45C5-A3AD-ADB95C43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2472" y="2987353"/>
            <a:ext cx="774036" cy="168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3" b="1">
                <a:solidFill>
                  <a:srgbClr val="E03131"/>
                </a:solidFill>
                <a:latin typeface="Arial"/>
                <a:ea typeface="Arial"/>
                <a:cs typeface="Arial"/>
              </a:defRPr>
            </a:pPr>
            <a:r>
              <a:rPr sz="913" b="1">
                <a:solidFill>
                  <a:srgbClr val="E03131"/>
                </a:solidFill>
                <a:latin typeface="Arial"/>
                <a:ea typeface="Arial"/>
                <a:cs typeface="Arial"/>
              </a:rPr>
              <a:t>候选 C · 淘汰</a:t>
            </a:r>
          </a:p>
        </p:txBody>
      </p:sp>
      <p:sp>
        <p:nvSpPr>
          <p:cNvPr id="38" name="svg-text-39">
            <a:extLst xmlns:a="http://schemas.openxmlformats.org/drawingml/2006/main">
              <a:ext uri="{FF2B5EF4-FFF2-40B4-BE49-F238E27FC236}">
                <a16:creationId xmlns:a16="http://schemas.microsoft.com/office/drawing/2014/main" id="{1FC453C3-72D6-4559-B35D-8D4CDE93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603" y="3272926"/>
            <a:ext cx="687773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30" b="0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1F2328"/>
                </a:solidFill>
                <a:latin typeface="Arial"/>
                <a:ea typeface="Arial"/>
                <a:cs typeface="Arial"/>
              </a:rPr>
              <a:t>1 个工作负载</a:t>
            </a:r>
          </a:p>
        </p:txBody>
      </p:sp>
      <p:sp>
        <p:nvSpPr>
          <p:cNvPr id="39" name="svg-text-40">
            <a:extLst xmlns:a="http://schemas.openxmlformats.org/drawingml/2006/main">
              <a:ext uri="{FF2B5EF4-FFF2-40B4-BE49-F238E27FC236}">
                <a16:creationId xmlns:a16="http://schemas.microsoft.com/office/drawing/2014/main" id="{EF4BFBEF-F7DF-4763-8FDC-4B543C67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912" y="3483837"/>
            <a:ext cx="753155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30" b="0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1F2328"/>
                </a:solidFill>
                <a:latin typeface="Arial"/>
                <a:ea typeface="Arial"/>
                <a:cs typeface="Arial"/>
              </a:rPr>
              <a:t>移动 8 张 NPU</a:t>
            </a:r>
          </a:p>
        </p:txBody>
      </p:sp>
      <p:sp>
        <p:nvSpPr>
          <p:cNvPr id="40" name="svg-text-41">
            <a:extLst xmlns:a="http://schemas.openxmlformats.org/drawingml/2006/main">
              <a:ext uri="{FF2B5EF4-FFF2-40B4-BE49-F238E27FC236}">
                <a16:creationId xmlns:a16="http://schemas.microsoft.com/office/drawing/2014/main" id="{1DBCEA09-8007-4C9B-9CD0-0FD52F2F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821" y="3810748"/>
            <a:ext cx="795338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30" b="1">
                <a:solidFill>
                  <a:srgbClr val="E03131"/>
                </a:solidFill>
                <a:latin typeface="Arial"/>
                <a:ea typeface="Arial"/>
                <a:cs typeface="Arial"/>
              </a:defRPr>
            </a:pPr>
            <a:r>
              <a:rPr sz="830" b="1">
                <a:solidFill>
                  <a:srgbClr val="E03131"/>
                </a:solidFill>
                <a:latin typeface="Arial"/>
                <a:ea typeface="Arial"/>
                <a:cs typeface="Arial"/>
              </a:rPr>
              <a:t>目标资源数超限</a:t>
            </a:r>
          </a:p>
        </p:txBody>
      </p:sp>
      <p:sp>
        <p:nvSpPr>
          <p:cNvPr id="41" name="svg-rect-42">
            <a:extLst xmlns:a="http://schemas.openxmlformats.org/drawingml/2006/main">
              <a:ext uri="{FF2B5EF4-FFF2-40B4-BE49-F238E27FC236}">
                <a16:creationId xmlns:a16="http://schemas.microsoft.com/office/drawing/2014/main" id="{91487907-7CFB-49DB-AF5D-7D4A3303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905375"/>
            <a:ext cx="8267700" cy="358548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0546">
            <a:solidFill>
              <a:srgbClr val="D0D7DE"/>
            </a:solidFill>
            <a:prstDash val="solid"/>
          </a:ln>
        </p:spPr>
      </p:sp>
      <p:sp>
        <p:nvSpPr>
          <p:cNvPr id="42" name="svg-text-43">
            <a:extLst xmlns:a="http://schemas.openxmlformats.org/drawingml/2006/main">
              <a:ext uri="{FF2B5EF4-FFF2-40B4-BE49-F238E27FC236}">
                <a16:creationId xmlns:a16="http://schemas.microsoft.com/office/drawing/2014/main" id="{F24EF359-7851-4F61-9CE3-D38210C7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613" y="5017790"/>
            <a:ext cx="4470773" cy="160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72" b="0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872" b="0">
                <a:solidFill>
                  <a:srgbClr val="1F2328"/>
                </a:solidFill>
                <a:latin typeface="Arial"/>
                <a:ea typeface="Arial"/>
                <a:cs typeface="Arial"/>
              </a:rPr>
              <a:t>建议先通过 DryRun 评估影响，再使用小预算 Execute 验证，并根据结果逐步调整预算。</a:t>
            </a:r>
          </a:p>
        </p:txBody>
      </p:sp>
    </p:spTree>
    <p:extLst>
      <p:ext uri="{BB962C8B-B14F-4D97-AF65-F5344CB8AC3E}">
        <p14:creationId xmlns:p14="http://schemas.microsoft.com/office/powerpoint/2010/main" val="13621058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svg-rect-1">
            <a:extLst xmlns:a="http://schemas.openxmlformats.org/drawingml/2006/main">
              <a:ext uri="{FF2B5EF4-FFF2-40B4-BE49-F238E27FC236}">
                <a16:creationId xmlns:a16="http://schemas.microsoft.com/office/drawing/2014/main" id="{F8E5C7E5-6A36-4429-B47E-E881939A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003527"/>
            <a:ext cx="11811000" cy="48509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vg-text-2">
            <a:extLst xmlns:a="http://schemas.openxmlformats.org/drawingml/2006/main">
              <a:ext uri="{FF2B5EF4-FFF2-40B4-BE49-F238E27FC236}">
                <a16:creationId xmlns:a16="http://schemas.microsoft.com/office/drawing/2014/main" id="{9F180D98-9644-4173-AF2D-53286168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57" y="1147368"/>
            <a:ext cx="5525010" cy="259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12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412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nominatedNodeName：提供候选节点建议，不替代 Scheduler 决策</a:t>
            </a:r>
          </a:p>
        </p:txBody>
      </p:sp>
      <p:sp>
        <p:nvSpPr>
          <p:cNvPr id="3" name="svg-text-3">
            <a:extLst xmlns:a="http://schemas.openxmlformats.org/drawingml/2006/main">
              <a:ext uri="{FF2B5EF4-FFF2-40B4-BE49-F238E27FC236}">
                <a16:creationId xmlns:a16="http://schemas.microsoft.com/office/drawing/2014/main" id="{D913DEAE-500D-47D3-8AB6-90EC477A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57" y="1468796"/>
            <a:ext cx="5314310" cy="168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3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913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Repack 不预留资源或强制绑定；重建 Pod 的最终节点仍由 Volcano Scheduler 根据实时状态决定。</a:t>
            </a:r>
          </a:p>
        </p:txBody>
      </p:sp>
      <p:sp>
        <p:nvSpPr>
          <p:cNvPr id="4" name="svg-rect-4">
            <a:extLst xmlns:a="http://schemas.openxmlformats.org/drawingml/2006/main">
              <a:ext uri="{FF2B5EF4-FFF2-40B4-BE49-F238E27FC236}">
                <a16:creationId xmlns:a16="http://schemas.microsoft.com/office/drawing/2014/main" id="{BF274F1D-9407-47C0-904E-5CF876B2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139" y="2100263"/>
            <a:ext cx="1877105" cy="1307646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0546">
            <a:solidFill>
              <a:srgbClr val="D0D7DE"/>
            </a:solidFill>
            <a:prstDash val="solid"/>
          </a:ln>
        </p:spPr>
      </p:sp>
      <p:sp>
        <p:nvSpPr>
          <p:cNvPr id="5" name="svg-text-5">
            <a:extLst xmlns:a="http://schemas.openxmlformats.org/drawingml/2006/main">
              <a:ext uri="{FF2B5EF4-FFF2-40B4-BE49-F238E27FC236}">
                <a16:creationId xmlns:a16="http://schemas.microsoft.com/office/drawing/2014/main" id="{A6F770D4-4AF5-4924-915C-C678EA40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26" y="2247478"/>
            <a:ext cx="953731" cy="198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79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079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1. 计划并驱逐</a:t>
            </a:r>
          </a:p>
        </p:txBody>
      </p:sp>
      <p:sp>
        <p:nvSpPr>
          <p:cNvPr id="6" name="svg-text-6">
            <a:extLst xmlns:a="http://schemas.openxmlformats.org/drawingml/2006/main">
              <a:ext uri="{FF2B5EF4-FFF2-40B4-BE49-F238E27FC236}">
                <a16:creationId xmlns:a16="http://schemas.microsoft.com/office/drawing/2014/main" id="{C7BC090E-B140-45EF-A368-3B393C4E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59" y="2555830"/>
            <a:ext cx="679337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计划：pod-0</a:t>
            </a:r>
          </a:p>
        </p:txBody>
      </p:sp>
      <p:sp>
        <p:nvSpPr>
          <p:cNvPr id="7" name="svg-text-7">
            <a:extLst xmlns:a="http://schemas.openxmlformats.org/drawingml/2006/main">
              <a:ext uri="{FF2B5EF4-FFF2-40B4-BE49-F238E27FC236}">
                <a16:creationId xmlns:a16="http://schemas.microsoft.com/office/drawing/2014/main" id="{6F0AB40A-4799-47B3-8912-96B4D140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59" y="2745649"/>
            <a:ext cx="938757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0">
                <a:solidFill>
                  <a:srgbClr val="1F2328"/>
                </a:solidFill>
                <a:latin typeface="Courier New"/>
                <a:ea typeface="Courier New"/>
                <a:cs typeface="Courier New"/>
              </a:defRPr>
            </a:pPr>
            <a:r>
              <a:rPr sz="830" b="0">
                <a:solidFill>
                  <a:srgbClr val="1F2328"/>
                </a:solidFill>
                <a:latin typeface="Courier New"/>
                <a:ea typeface="Courier New"/>
                <a:cs typeface="Courier New"/>
              </a:rPr>
              <a:t>node-a → node-b</a:t>
            </a:r>
          </a:p>
        </p:txBody>
      </p:sp>
      <p:sp>
        <p:nvSpPr>
          <p:cNvPr id="8" name="svg-rect-8">
            <a:extLst xmlns:a="http://schemas.openxmlformats.org/drawingml/2006/main">
              <a:ext uri="{FF2B5EF4-FFF2-40B4-BE49-F238E27FC236}">
                <a16:creationId xmlns:a16="http://schemas.microsoft.com/office/drawing/2014/main" id="{81247D53-0A0C-4F73-B0B4-269056C7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59" y="3007179"/>
            <a:ext cx="506186" cy="18982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031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vg-text-9">
            <a:extLst xmlns:a="http://schemas.openxmlformats.org/drawingml/2006/main">
              <a:ext uri="{FF2B5EF4-FFF2-40B4-BE49-F238E27FC236}">
                <a16:creationId xmlns:a16="http://schemas.microsoft.com/office/drawing/2014/main" id="{C5BF9DD7-6F34-4987-A10F-279E869C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149" y="3053157"/>
            <a:ext cx="30180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64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64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Evict</a:t>
            </a:r>
          </a:p>
        </p:txBody>
      </p:sp>
      <p:sp>
        <p:nvSpPr>
          <p:cNvPr id="10" name="svg-text-10">
            <a:extLst xmlns:a="http://schemas.openxmlformats.org/drawingml/2006/main">
              <a:ext uri="{FF2B5EF4-FFF2-40B4-BE49-F238E27FC236}">
                <a16:creationId xmlns:a16="http://schemas.microsoft.com/office/drawing/2014/main" id="{0845EC60-CE92-4B84-B2FE-B3A8143C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41768"/>
            <a:ext cx="903746" cy="137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47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747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持久化 relocation</a:t>
            </a:r>
          </a:p>
        </p:txBody>
      </p:sp>
      <p:sp>
        <p:nvSpPr>
          <p:cNvPr id="11" name="svg-line-11-1">
            <a:extLst xmlns:a="http://schemas.openxmlformats.org/drawingml/2006/main">
              <a:ext uri="{FF2B5EF4-FFF2-40B4-BE49-F238E27FC236}">
                <a16:creationId xmlns:a16="http://schemas.microsoft.com/office/drawing/2014/main" id="{4ED0FF90-839E-4CA3-90DC-3A0B1F7D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52700" y="2754086"/>
            <a:ext cx="717096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091">
            <a:solidFill>
              <a:srgbClr val="1C7ED6"/>
            </a:solidFill>
            <a:prstDash val="solid"/>
          </a:ln>
        </p:spPr>
      </p:sp>
      <p:sp>
        <p:nvSpPr>
          <p:cNvPr id="12" name="svg-arrow-11">
            <a:extLst xmlns:a="http://schemas.openxmlformats.org/drawingml/2006/main">
              <a:ext uri="{FF2B5EF4-FFF2-40B4-BE49-F238E27FC236}">
                <a16:creationId xmlns:a16="http://schemas.microsoft.com/office/drawing/2014/main" id="{131995F9-13F7-4424-A83A-F72E237E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224978" y="2709267"/>
            <a:ext cx="89637" cy="896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4763">
            <a:solidFill>
              <a:srgbClr val="1C7ED6"/>
            </a:solidFill>
            <a:prstDash val="solid"/>
          </a:ln>
        </p:spPr>
      </p:sp>
      <p:sp>
        <p:nvSpPr>
          <p:cNvPr id="13" name="svg-rect-12">
            <a:extLst xmlns:a="http://schemas.openxmlformats.org/drawingml/2006/main">
              <a:ext uri="{FF2B5EF4-FFF2-40B4-BE49-F238E27FC236}">
                <a16:creationId xmlns:a16="http://schemas.microsoft.com/office/drawing/2014/main" id="{A693FDCA-1F20-4491-B779-7332CC18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6343" y="2100263"/>
            <a:ext cx="2045834" cy="1307646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0546">
            <a:solidFill>
              <a:srgbClr val="1C7ED6"/>
            </a:solidFill>
            <a:prstDash val="solid"/>
          </a:ln>
        </p:spPr>
      </p:sp>
      <p:sp>
        <p:nvSpPr>
          <p:cNvPr id="14" name="svg-text-13">
            <a:extLst xmlns:a="http://schemas.openxmlformats.org/drawingml/2006/main">
              <a:ext uri="{FF2B5EF4-FFF2-40B4-BE49-F238E27FC236}">
                <a16:creationId xmlns:a16="http://schemas.microsoft.com/office/drawing/2014/main" id="{80D760CD-A138-4031-AC4C-E380AB16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059" y="2247478"/>
            <a:ext cx="1148402" cy="198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79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079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2. 重建 Pod 创建</a:t>
            </a:r>
          </a:p>
        </p:txBody>
      </p:sp>
      <p:sp>
        <p:nvSpPr>
          <p:cNvPr id="15" name="svg-text-14">
            <a:extLst xmlns:a="http://schemas.openxmlformats.org/drawingml/2006/main">
              <a:ext uri="{FF2B5EF4-FFF2-40B4-BE49-F238E27FC236}">
                <a16:creationId xmlns:a16="http://schemas.microsoft.com/office/drawing/2014/main" id="{DF18A110-5D41-4CEA-AB36-65185C0E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163" y="2555830"/>
            <a:ext cx="1333160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工作负载控制器创建新 Pod</a:t>
            </a:r>
          </a:p>
        </p:txBody>
      </p:sp>
      <p:sp>
        <p:nvSpPr>
          <p:cNvPr id="16" name="svg-rect-15">
            <a:extLst xmlns:a="http://schemas.openxmlformats.org/drawingml/2006/main">
              <a:ext uri="{FF2B5EF4-FFF2-40B4-BE49-F238E27FC236}">
                <a16:creationId xmlns:a16="http://schemas.microsoft.com/office/drawing/2014/main" id="{8D6D6FB2-2321-4035-A15B-136CAAB8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5982" y="2838450"/>
            <a:ext cx="1286555" cy="316366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1C7ED6"/>
            </a:solidFill>
            <a:prstDash val="solid"/>
          </a:ln>
        </p:spPr>
      </p:sp>
      <p:sp>
        <p:nvSpPr>
          <p:cNvPr id="17" name="svg-text-16">
            <a:extLst xmlns:a="http://schemas.openxmlformats.org/drawingml/2006/main">
              <a:ext uri="{FF2B5EF4-FFF2-40B4-BE49-F238E27FC236}">
                <a16:creationId xmlns:a16="http://schemas.microsoft.com/office/drawing/2014/main" id="{73D60AAD-5637-45AA-82A1-31DC857C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445" y="2924923"/>
            <a:ext cx="1071631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30" b="0">
                <a:solidFill>
                  <a:srgbClr val="1F2328"/>
                </a:solidFill>
                <a:latin typeface="Courier New"/>
                <a:ea typeface="Courier New"/>
                <a:cs typeface="Courier New"/>
              </a:defRPr>
            </a:pPr>
            <a:r>
              <a:rPr sz="830" b="0">
                <a:solidFill>
                  <a:srgbClr val="1F2328"/>
                </a:solidFill>
                <a:latin typeface="Courier New"/>
                <a:ea typeface="Courier New"/>
                <a:cs typeface="Courier New"/>
              </a:rPr>
              <a:t>pod-0-replacement</a:t>
            </a:r>
          </a:p>
        </p:txBody>
      </p:sp>
      <p:sp>
        <p:nvSpPr>
          <p:cNvPr id="18" name="svg-line-17-1">
            <a:extLst xmlns:a="http://schemas.openxmlformats.org/drawingml/2006/main">
              <a:ext uri="{FF2B5EF4-FFF2-40B4-BE49-F238E27FC236}">
                <a16:creationId xmlns:a16="http://schemas.microsoft.com/office/drawing/2014/main" id="{8C2A0D11-1C4D-42E6-B245-CE6A5C90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47632" y="2754086"/>
            <a:ext cx="717096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091">
            <a:solidFill>
              <a:srgbClr val="1C7ED6"/>
            </a:solidFill>
            <a:prstDash val="solid"/>
          </a:ln>
        </p:spPr>
      </p:sp>
      <p:sp>
        <p:nvSpPr>
          <p:cNvPr id="19" name="svg-arrow-17">
            <a:extLst xmlns:a="http://schemas.openxmlformats.org/drawingml/2006/main">
              <a:ext uri="{FF2B5EF4-FFF2-40B4-BE49-F238E27FC236}">
                <a16:creationId xmlns:a16="http://schemas.microsoft.com/office/drawing/2014/main" id="{A45A2BE2-1732-4FD1-AD15-8F1BFC46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19910" y="2709267"/>
            <a:ext cx="89637" cy="896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4763">
            <a:solidFill>
              <a:srgbClr val="1C7ED6"/>
            </a:solidFill>
            <a:prstDash val="solid"/>
          </a:ln>
        </p:spPr>
      </p:sp>
      <p:sp>
        <p:nvSpPr>
          <p:cNvPr id="20" name="svg-rect-18">
            <a:extLst xmlns:a="http://schemas.openxmlformats.org/drawingml/2006/main">
              <a:ext uri="{FF2B5EF4-FFF2-40B4-BE49-F238E27FC236}">
                <a16:creationId xmlns:a16="http://schemas.microsoft.com/office/drawing/2014/main" id="{5EAE6A81-205D-4719-9A64-642311E6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931534"/>
            <a:ext cx="2446564" cy="1645104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0546">
            <a:solidFill>
              <a:srgbClr val="E8890C"/>
            </a:solidFill>
            <a:prstDash val="solid"/>
          </a:ln>
        </p:spPr>
      </p:sp>
      <p:sp>
        <p:nvSpPr>
          <p:cNvPr id="21" name="svg-text-19">
            <a:extLst xmlns:a="http://schemas.openxmlformats.org/drawingml/2006/main">
              <a:ext uri="{FF2B5EF4-FFF2-40B4-BE49-F238E27FC236}">
                <a16:creationId xmlns:a16="http://schemas.microsoft.com/office/drawing/2014/main" id="{28A6E8DA-5CCE-4756-80E0-8BB7A8A7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730" y="2099841"/>
            <a:ext cx="2239654" cy="198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79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079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3. Volcano Controller Manager</a:t>
            </a:r>
          </a:p>
        </p:txBody>
      </p:sp>
      <p:sp>
        <p:nvSpPr>
          <p:cNvPr id="22" name="svg-text-20">
            <a:extLst xmlns:a="http://schemas.openxmlformats.org/drawingml/2006/main">
              <a:ext uri="{FF2B5EF4-FFF2-40B4-BE49-F238E27FC236}">
                <a16:creationId xmlns:a16="http://schemas.microsoft.com/office/drawing/2014/main" id="{4B281B48-F556-453E-9369-0C05BF11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095" y="2429283"/>
            <a:ext cx="1968001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内置 Repack controller 识别重建 Pod</a:t>
            </a:r>
          </a:p>
        </p:txBody>
      </p:sp>
      <p:sp>
        <p:nvSpPr>
          <p:cNvPr id="23" name="svg-text-21">
            <a:extLst xmlns:a="http://schemas.openxmlformats.org/drawingml/2006/main">
              <a:ext uri="{FF2B5EF4-FFF2-40B4-BE49-F238E27FC236}">
                <a16:creationId xmlns:a16="http://schemas.microsoft.com/office/drawing/2014/main" id="{71D7CC33-E09A-4B9A-B0A1-3F86DBB2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095" y="2608557"/>
            <a:ext cx="1744436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基于实时快照选择仍可行的接收节点</a:t>
            </a:r>
          </a:p>
        </p:txBody>
      </p:sp>
      <p:sp>
        <p:nvSpPr>
          <p:cNvPr id="24" name="svg-rect-22">
            <a:extLst xmlns:a="http://schemas.openxmlformats.org/drawingml/2006/main">
              <a:ext uri="{FF2B5EF4-FFF2-40B4-BE49-F238E27FC236}">
                <a16:creationId xmlns:a16="http://schemas.microsoft.com/office/drawing/2014/main" id="{F4CE1690-9EE8-4E67-9A4F-3EA351C8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095" y="2880632"/>
            <a:ext cx="2066925" cy="411276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546">
            <a:solidFill>
              <a:srgbClr val="E8890C"/>
            </a:solidFill>
            <a:prstDash val="solid"/>
          </a:ln>
        </p:spPr>
      </p:sp>
      <p:sp>
        <p:nvSpPr>
          <p:cNvPr id="25" name="svg-text-23">
            <a:extLst xmlns:a="http://schemas.openxmlformats.org/drawingml/2006/main">
              <a:ext uri="{FF2B5EF4-FFF2-40B4-BE49-F238E27FC236}">
                <a16:creationId xmlns:a16="http://schemas.microsoft.com/office/drawing/2014/main" id="{9BCF7508-51B1-4973-B787-49049E85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2737" y="2951709"/>
            <a:ext cx="1423641" cy="14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9" b="0">
                <a:solidFill>
                  <a:srgbClr val="1F2328"/>
                </a:solidFill>
                <a:latin typeface="Courier New"/>
                <a:ea typeface="Courier New"/>
                <a:cs typeface="Courier New"/>
              </a:defRPr>
            </a:pPr>
            <a:r>
              <a:rPr sz="789" b="0">
                <a:solidFill>
                  <a:srgbClr val="1F2328"/>
                </a:solidFill>
                <a:latin typeface="Courier New"/>
                <a:ea typeface="Courier New"/>
                <a:cs typeface="Courier New"/>
              </a:rPr>
              <a:t>status.nominatedNodeName</a:t>
            </a:r>
          </a:p>
        </p:txBody>
      </p:sp>
      <p:sp>
        <p:nvSpPr>
          <p:cNvPr id="26" name="svg-text-24">
            <a:extLst xmlns:a="http://schemas.openxmlformats.org/drawingml/2006/main">
              <a:ext uri="{FF2B5EF4-FFF2-40B4-BE49-F238E27FC236}">
                <a16:creationId xmlns:a16="http://schemas.microsoft.com/office/drawing/2014/main" id="{0D50365A-DB61-4285-B6EA-F04D9960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3595" y="3109892"/>
            <a:ext cx="481924" cy="14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9" b="0">
                <a:solidFill>
                  <a:srgbClr val="1F2328"/>
                </a:solidFill>
                <a:latin typeface="Courier New"/>
                <a:ea typeface="Courier New"/>
                <a:cs typeface="Courier New"/>
              </a:defRPr>
            </a:pPr>
            <a:r>
              <a:rPr sz="789" b="0">
                <a:solidFill>
                  <a:srgbClr val="1F2328"/>
                </a:solidFill>
                <a:latin typeface="Courier New"/>
                <a:ea typeface="Courier New"/>
                <a:cs typeface="Courier New"/>
              </a:rPr>
              <a:t>= node-b</a:t>
            </a:r>
          </a:p>
        </p:txBody>
      </p:sp>
      <p:sp>
        <p:nvSpPr>
          <p:cNvPr id="27" name="svg-line-25-1">
            <a:extLst xmlns:a="http://schemas.openxmlformats.org/drawingml/2006/main">
              <a:ext uri="{FF2B5EF4-FFF2-40B4-BE49-F238E27FC236}">
                <a16:creationId xmlns:a16="http://schemas.microsoft.com/office/drawing/2014/main" id="{36C3AC83-5016-4D0D-A4B8-E32342B4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64386" y="2754086"/>
            <a:ext cx="590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091">
            <a:solidFill>
              <a:srgbClr val="1C7ED6"/>
            </a:solidFill>
            <a:prstDash val="solid"/>
          </a:ln>
        </p:spPr>
      </p:sp>
      <p:sp>
        <p:nvSpPr>
          <p:cNvPr id="28" name="svg-arrow-25">
            <a:extLst xmlns:a="http://schemas.openxmlformats.org/drawingml/2006/main">
              <a:ext uri="{FF2B5EF4-FFF2-40B4-BE49-F238E27FC236}">
                <a16:creationId xmlns:a16="http://schemas.microsoft.com/office/drawing/2014/main" id="{D966CE0E-F4A8-43A5-BF2E-A230F02D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10117" y="2709267"/>
            <a:ext cx="89637" cy="896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4763">
            <a:solidFill>
              <a:srgbClr val="1C7ED6"/>
            </a:solidFill>
            <a:prstDash val="solid"/>
          </a:ln>
        </p:spPr>
      </p:sp>
      <p:sp>
        <p:nvSpPr>
          <p:cNvPr id="29" name="svg-rect-26">
            <a:extLst xmlns:a="http://schemas.openxmlformats.org/drawingml/2006/main">
              <a:ext uri="{FF2B5EF4-FFF2-40B4-BE49-F238E27FC236}">
                <a16:creationId xmlns:a16="http://schemas.microsoft.com/office/drawing/2014/main" id="{18565229-5352-4C4A-8E4C-22A1A1A6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1482" y="2100263"/>
            <a:ext cx="1940379" cy="1307646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DF9F1"/>
          </a:solidFill>
          <a:ln xmlns:a="http://schemas.openxmlformats.org/drawingml/2006/main" w="10546">
            <a:solidFill>
              <a:srgbClr val="2F9E44"/>
            </a:solidFill>
            <a:prstDash val="solid"/>
          </a:ln>
        </p:spPr>
      </p:sp>
      <p:sp>
        <p:nvSpPr>
          <p:cNvPr id="30" name="svg-text-27">
            <a:extLst xmlns:a="http://schemas.openxmlformats.org/drawingml/2006/main">
              <a:ext uri="{FF2B5EF4-FFF2-40B4-BE49-F238E27FC236}">
                <a16:creationId xmlns:a16="http://schemas.microsoft.com/office/drawing/2014/main" id="{246B63E6-13CB-4D66-A495-283A6448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091" y="2247478"/>
            <a:ext cx="1565162" cy="198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79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1079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4. Scheduler 最终绑定</a:t>
            </a:r>
          </a:p>
        </p:txBody>
      </p:sp>
      <p:sp>
        <p:nvSpPr>
          <p:cNvPr id="31" name="svg-text-28">
            <a:extLst xmlns:a="http://schemas.openxmlformats.org/drawingml/2006/main">
              <a:ext uri="{FF2B5EF4-FFF2-40B4-BE49-F238E27FC236}">
                <a16:creationId xmlns:a16="http://schemas.microsoft.com/office/drawing/2014/main" id="{FDFC3F20-4233-4670-9526-357D1127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1302" y="2555830"/>
            <a:ext cx="867047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优先尝试 node-b</a:t>
            </a:r>
          </a:p>
        </p:txBody>
      </p:sp>
      <p:sp>
        <p:nvSpPr>
          <p:cNvPr id="32" name="svg-text-29">
            <a:extLst xmlns:a="http://schemas.openxmlformats.org/drawingml/2006/main">
              <a:ext uri="{FF2B5EF4-FFF2-40B4-BE49-F238E27FC236}">
                <a16:creationId xmlns:a16="http://schemas.microsoft.com/office/drawing/2014/main" id="{FC87BB6F-CC09-4879-AD0B-674FAF17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1302" y="2745649"/>
            <a:ext cx="1428070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仍需满足实时资源、亲和性、</a:t>
            </a:r>
          </a:p>
        </p:txBody>
      </p:sp>
      <p:sp>
        <p:nvSpPr>
          <p:cNvPr id="33" name="svg-text-30">
            <a:extLst xmlns:a="http://schemas.openxmlformats.org/drawingml/2006/main">
              <a:ext uri="{FF2B5EF4-FFF2-40B4-BE49-F238E27FC236}">
                <a16:creationId xmlns:a16="http://schemas.microsoft.com/office/drawing/2014/main" id="{A517DFB4-1F89-4199-96B8-C5F493DE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1302" y="2924923"/>
            <a:ext cx="1111704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污点、拓扑和设备约束</a:t>
            </a:r>
          </a:p>
        </p:txBody>
      </p:sp>
      <p:sp>
        <p:nvSpPr>
          <p:cNvPr id="34" name="svg-line-31-1">
            <a:extLst xmlns:a="http://schemas.openxmlformats.org/drawingml/2006/main">
              <a:ext uri="{FF2B5EF4-FFF2-40B4-BE49-F238E27FC236}">
                <a16:creationId xmlns:a16="http://schemas.microsoft.com/office/drawing/2014/main" id="{67E857D3-FB74-43B0-BDAB-7F666208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88398" y="3597729"/>
            <a:ext cx="953" cy="4007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091">
            <a:solidFill>
              <a:srgbClr val="2F9E44"/>
            </a:solidFill>
            <a:prstDash val="solid"/>
          </a:ln>
        </p:spPr>
      </p:sp>
      <p:sp>
        <p:nvSpPr>
          <p:cNvPr id="35" name="svg-line-31-2">
            <a:extLst xmlns:a="http://schemas.openxmlformats.org/drawingml/2006/main">
              <a:ext uri="{FF2B5EF4-FFF2-40B4-BE49-F238E27FC236}">
                <a16:creationId xmlns:a16="http://schemas.microsoft.com/office/drawing/2014/main" id="{2C18E6AB-C7EE-448F-8593-BC5B0EBB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340373" y="3998459"/>
            <a:ext cx="32480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091">
            <a:solidFill>
              <a:srgbClr val="2F9E44"/>
            </a:solidFill>
            <a:prstDash val="solid"/>
          </a:ln>
        </p:spPr>
      </p:sp>
      <p:sp>
        <p:nvSpPr>
          <p:cNvPr id="36" name="svg-line-31-3">
            <a:extLst xmlns:a="http://schemas.openxmlformats.org/drawingml/2006/main">
              <a:ext uri="{FF2B5EF4-FFF2-40B4-BE49-F238E27FC236}">
                <a16:creationId xmlns:a16="http://schemas.microsoft.com/office/drawing/2014/main" id="{22ABBE5D-0AFF-4AD5-A6FF-4F4AE78D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40373" y="3998459"/>
            <a:ext cx="953" cy="3374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091">
            <a:solidFill>
              <a:srgbClr val="2F9E44"/>
            </a:solidFill>
            <a:prstDash val="solid"/>
          </a:ln>
        </p:spPr>
      </p:sp>
      <p:sp>
        <p:nvSpPr>
          <p:cNvPr id="37" name="svg-arrow-31">
            <a:extLst xmlns:a="http://schemas.openxmlformats.org/drawingml/2006/main">
              <a:ext uri="{FF2B5EF4-FFF2-40B4-BE49-F238E27FC236}">
                <a16:creationId xmlns:a16="http://schemas.microsoft.com/office/drawing/2014/main" id="{82CD3B5E-A589-485D-A0B4-18978A5E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295555" y="4291098"/>
            <a:ext cx="89637" cy="896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4763">
            <a:solidFill>
              <a:srgbClr val="2F9E44"/>
            </a:solidFill>
            <a:prstDash val="solid"/>
          </a:ln>
        </p:spPr>
      </p:sp>
      <p:sp>
        <p:nvSpPr>
          <p:cNvPr id="38" name="svg-text-32">
            <a:extLst xmlns:a="http://schemas.openxmlformats.org/drawingml/2006/main">
              <a:ext uri="{FF2B5EF4-FFF2-40B4-BE49-F238E27FC236}">
                <a16:creationId xmlns:a16="http://schemas.microsoft.com/office/drawing/2014/main" id="{CFB9A126-F157-42CF-BD55-27207F83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404" y="3789657"/>
            <a:ext cx="1605235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30" b="1">
                <a:solidFill>
                  <a:srgbClr val="2F9E44"/>
                </a:solidFill>
                <a:latin typeface="Arial"/>
                <a:ea typeface="Arial"/>
                <a:cs typeface="Arial"/>
              </a:defRPr>
            </a:pPr>
            <a:r>
              <a:rPr sz="83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建议仍可行：优先调度到 node-b</a:t>
            </a:r>
          </a:p>
        </p:txBody>
      </p:sp>
      <p:sp>
        <p:nvSpPr>
          <p:cNvPr id="39" name="svg-rect-33">
            <a:extLst xmlns:a="http://schemas.openxmlformats.org/drawingml/2006/main">
              <a:ext uri="{FF2B5EF4-FFF2-40B4-BE49-F238E27FC236}">
                <a16:creationId xmlns:a16="http://schemas.microsoft.com/office/drawing/2014/main" id="{AA83DF11-3251-4F71-B585-C6DC2453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998" y="4483554"/>
            <a:ext cx="2952750" cy="822552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DF9F1"/>
          </a:solidFill>
          <a:ln xmlns:a="http://schemas.openxmlformats.org/drawingml/2006/main" w="10546">
            <a:solidFill>
              <a:srgbClr val="2F9E44"/>
            </a:solidFill>
            <a:prstDash val="solid"/>
          </a:ln>
        </p:spPr>
      </p:sp>
      <p:sp>
        <p:nvSpPr>
          <p:cNvPr id="40" name="svg-text-34">
            <a:extLst xmlns:a="http://schemas.openxmlformats.org/drawingml/2006/main">
              <a:ext uri="{FF2B5EF4-FFF2-40B4-BE49-F238E27FC236}">
                <a16:creationId xmlns:a16="http://schemas.microsoft.com/office/drawing/2014/main" id="{42E177BA-165A-4A2A-AB88-979BE669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8886" y="4621067"/>
            <a:ext cx="942975" cy="183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96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996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调度到建议节点</a:t>
            </a:r>
          </a:p>
        </p:txBody>
      </p:sp>
      <p:sp>
        <p:nvSpPr>
          <p:cNvPr id="41" name="svg-text-35">
            <a:extLst xmlns:a="http://schemas.openxmlformats.org/drawingml/2006/main">
              <a:ext uri="{FF2B5EF4-FFF2-40B4-BE49-F238E27FC236}">
                <a16:creationId xmlns:a16="http://schemas.microsoft.com/office/drawing/2014/main" id="{23997EF1-6EF0-4A92-91F3-911F3AC1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1171" y="4875848"/>
            <a:ext cx="2478405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selectedNodeName = actualNodeName = node-b</a:t>
            </a:r>
          </a:p>
        </p:txBody>
      </p:sp>
      <p:sp>
        <p:nvSpPr>
          <p:cNvPr id="42" name="svg-text-36">
            <a:extLst xmlns:a="http://schemas.openxmlformats.org/drawingml/2006/main">
              <a:ext uri="{FF2B5EF4-FFF2-40B4-BE49-F238E27FC236}">
                <a16:creationId xmlns:a16="http://schemas.microsoft.com/office/drawing/2014/main" id="{28366E15-0EB9-4D4D-89D3-603820ED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6338" y="5055122"/>
            <a:ext cx="1428070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更容易实现计划中的腾空节点</a:t>
            </a:r>
          </a:p>
        </p:txBody>
      </p:sp>
      <p:sp>
        <p:nvSpPr>
          <p:cNvPr id="43" name="svg-line-37-1">
            <a:extLst xmlns:a="http://schemas.openxmlformats.org/drawingml/2006/main">
              <a:ext uri="{FF2B5EF4-FFF2-40B4-BE49-F238E27FC236}">
                <a16:creationId xmlns:a16="http://schemas.microsoft.com/office/drawing/2014/main" id="{816F9B0F-35B3-4FA4-8902-9A1F7091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46946" y="3597729"/>
            <a:ext cx="953" cy="4007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091">
            <a:solidFill>
              <a:srgbClr val="8B5CF6"/>
            </a:solidFill>
            <a:prstDash val="solid"/>
          </a:ln>
        </p:spPr>
      </p:sp>
      <p:sp>
        <p:nvSpPr>
          <p:cNvPr id="44" name="svg-line-37-2">
            <a:extLst xmlns:a="http://schemas.openxmlformats.org/drawingml/2006/main">
              <a:ext uri="{FF2B5EF4-FFF2-40B4-BE49-F238E27FC236}">
                <a16:creationId xmlns:a16="http://schemas.microsoft.com/office/drawing/2014/main" id="{DAEEF78A-E2D0-4EC2-9858-8823A140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0103304" y="3998459"/>
            <a:ext cx="84364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091">
            <a:solidFill>
              <a:srgbClr val="8B5CF6"/>
            </a:solidFill>
            <a:prstDash val="solid"/>
          </a:ln>
        </p:spPr>
      </p:sp>
      <p:sp>
        <p:nvSpPr>
          <p:cNvPr id="45" name="svg-line-37-3">
            <a:extLst xmlns:a="http://schemas.openxmlformats.org/drawingml/2006/main">
              <a:ext uri="{FF2B5EF4-FFF2-40B4-BE49-F238E27FC236}">
                <a16:creationId xmlns:a16="http://schemas.microsoft.com/office/drawing/2014/main" id="{98EFC186-7164-44D7-82B4-4119C080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103304" y="3998459"/>
            <a:ext cx="953" cy="3374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091">
            <a:solidFill>
              <a:srgbClr val="8B5CF6"/>
            </a:solidFill>
            <a:prstDash val="solid"/>
          </a:ln>
        </p:spPr>
      </p:sp>
      <p:sp>
        <p:nvSpPr>
          <p:cNvPr id="46" name="svg-arrow-37">
            <a:extLst xmlns:a="http://schemas.openxmlformats.org/drawingml/2006/main">
              <a:ext uri="{FF2B5EF4-FFF2-40B4-BE49-F238E27FC236}">
                <a16:creationId xmlns:a16="http://schemas.microsoft.com/office/drawing/2014/main" id="{E977CBBE-9CCC-4DE6-8F37-373A940E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058485" y="4291098"/>
            <a:ext cx="89637" cy="896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4763">
            <a:solidFill>
              <a:srgbClr val="8B5CF6"/>
            </a:solidFill>
            <a:prstDash val="solid"/>
          </a:ln>
        </p:spPr>
      </p:sp>
      <p:sp>
        <p:nvSpPr>
          <p:cNvPr id="47" name="svg-text-38">
            <a:extLst xmlns:a="http://schemas.openxmlformats.org/drawingml/2006/main">
              <a:ext uri="{FF2B5EF4-FFF2-40B4-BE49-F238E27FC236}">
                <a16:creationId xmlns:a16="http://schemas.microsoft.com/office/drawing/2014/main" id="{90979896-AD3B-455A-A2D1-73475876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4913" y="3789657"/>
            <a:ext cx="689882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3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83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实时状态变化</a:t>
            </a:r>
          </a:p>
        </p:txBody>
      </p:sp>
      <p:sp>
        <p:nvSpPr>
          <p:cNvPr id="48" name="svg-rect-39">
            <a:extLst xmlns:a="http://schemas.openxmlformats.org/drawingml/2006/main">
              <a:ext uri="{FF2B5EF4-FFF2-40B4-BE49-F238E27FC236}">
                <a16:creationId xmlns:a16="http://schemas.microsoft.com/office/drawing/2014/main" id="{28449D18-445F-4020-8C64-E46A7584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4386" y="4483554"/>
            <a:ext cx="2699657" cy="822552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5F0FF"/>
          </a:solidFill>
          <a:ln xmlns:a="http://schemas.openxmlformats.org/drawingml/2006/main" w="10546">
            <a:solidFill>
              <a:srgbClr val="8B5CF6"/>
            </a:solidFill>
            <a:prstDash val="solid"/>
          </a:ln>
        </p:spPr>
      </p:sp>
      <p:sp>
        <p:nvSpPr>
          <p:cNvPr id="49" name="svg-text-40">
            <a:extLst xmlns:a="http://schemas.openxmlformats.org/drawingml/2006/main">
              <a:ext uri="{FF2B5EF4-FFF2-40B4-BE49-F238E27FC236}">
                <a16:creationId xmlns:a16="http://schemas.microsoft.com/office/drawing/2014/main" id="{4F57FDCB-99EC-4AD9-ACD7-54A53242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727" y="4621067"/>
            <a:ext cx="942975" cy="183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96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996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调度到其他节点</a:t>
            </a:r>
          </a:p>
        </p:txBody>
      </p:sp>
      <p:sp>
        <p:nvSpPr>
          <p:cNvPr id="50" name="svg-text-41">
            <a:extLst xmlns:a="http://schemas.openxmlformats.org/drawingml/2006/main">
              <a:ext uri="{FF2B5EF4-FFF2-40B4-BE49-F238E27FC236}">
                <a16:creationId xmlns:a16="http://schemas.microsoft.com/office/drawing/2014/main" id="{6FFB40BF-083E-45C9-82EF-52FCEC8E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831" y="4875848"/>
            <a:ext cx="2330768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Scheduler 可选择 node-c，避免阻塞 Pod 调度</a:t>
            </a:r>
          </a:p>
        </p:txBody>
      </p:sp>
      <p:sp>
        <p:nvSpPr>
          <p:cNvPr id="51" name="svg-text-42">
            <a:extLst xmlns:a="http://schemas.openxmlformats.org/drawingml/2006/main">
              <a:ext uri="{FF2B5EF4-FFF2-40B4-BE49-F238E27FC236}">
                <a16:creationId xmlns:a16="http://schemas.microsoft.com/office/drawing/2014/main" id="{CC333842-2CB3-4683-9C2F-DC7D20B6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650" y="5055122"/>
            <a:ext cx="1951128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actualNodeName=node-c，结果可审计</a:t>
            </a:r>
          </a:p>
        </p:txBody>
      </p:sp>
      <p:sp>
        <p:nvSpPr>
          <p:cNvPr id="52" name="svg-rect-43">
            <a:extLst xmlns:a="http://schemas.openxmlformats.org/drawingml/2006/main">
              <a:ext uri="{FF2B5EF4-FFF2-40B4-BE49-F238E27FC236}">
                <a16:creationId xmlns:a16="http://schemas.microsoft.com/office/drawing/2014/main" id="{805BFA1E-2843-4CA3-AAB9-B863FF9E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139" y="4483554"/>
            <a:ext cx="4682218" cy="822552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0546">
            <a:solidFill>
              <a:srgbClr val="D0D7DE"/>
            </a:solidFill>
            <a:prstDash val="solid"/>
          </a:ln>
        </p:spPr>
      </p:sp>
      <p:sp>
        <p:nvSpPr>
          <p:cNvPr id="53" name="svg-text-44">
            <a:extLst xmlns:a="http://schemas.openxmlformats.org/drawingml/2006/main">
              <a:ext uri="{FF2B5EF4-FFF2-40B4-BE49-F238E27FC236}">
                <a16:creationId xmlns:a16="http://schemas.microsoft.com/office/drawing/2014/main" id="{C24016D9-2E69-4DD5-A548-8C46B126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1067"/>
            <a:ext cx="1955346" cy="183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96" b="1">
                <a:solidFill>
                  <a:srgbClr val="1F2328"/>
                </a:solidFill>
                <a:latin typeface="Arial"/>
                <a:ea typeface="Arial"/>
                <a:cs typeface="Arial"/>
              </a:defRPr>
            </a:pPr>
            <a:r>
              <a:rPr sz="996" b="1">
                <a:solidFill>
                  <a:srgbClr val="1F2328"/>
                </a:solidFill>
                <a:latin typeface="Arial"/>
                <a:ea typeface="Arial"/>
                <a:cs typeface="Arial"/>
              </a:rPr>
              <a:t>这不是强制绑定，也不是资源预留</a:t>
            </a:r>
          </a:p>
        </p:txBody>
      </p:sp>
      <p:sp>
        <p:nvSpPr>
          <p:cNvPr id="54" name="svg-text-45">
            <a:extLst xmlns:a="http://schemas.openxmlformats.org/drawingml/2006/main">
              <a:ext uri="{FF2B5EF4-FFF2-40B4-BE49-F238E27FC236}">
                <a16:creationId xmlns:a16="http://schemas.microsoft.com/office/drawing/2014/main" id="{45124A7B-2942-432C-97EC-E20F6474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5848"/>
            <a:ext cx="4534784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Repack 不设置 cordon、污点或资源预留；释放的容量仍可供调度队列中的其他工作负载使用。</a:t>
            </a:r>
          </a:p>
        </p:txBody>
      </p:sp>
      <p:sp>
        <p:nvSpPr>
          <p:cNvPr id="55" name="svg-text-46">
            <a:extLst xmlns:a="http://schemas.openxmlformats.org/drawingml/2006/main">
              <a:ext uri="{FF2B5EF4-FFF2-40B4-BE49-F238E27FC236}">
                <a16:creationId xmlns:a16="http://schemas.microsoft.com/office/drawing/2014/main" id="{1C100D6C-4E95-40FF-989A-6983C515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5667"/>
            <a:ext cx="3163865" cy="15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0" b="0">
                <a:solidFill>
                  <a:srgbClr val="57606A"/>
                </a:solidFill>
                <a:latin typeface="Arial"/>
                <a:ea typeface="Arial"/>
                <a:cs typeface="Arial"/>
              </a:defRPr>
            </a:pPr>
            <a:r>
              <a:rPr sz="830" b="0">
                <a:solidFill>
                  <a:srgbClr val="57606A"/>
                </a:solidFill>
                <a:latin typeface="Arial"/>
                <a:ea typeface="Arial"/>
                <a:cs typeface="Arial"/>
              </a:rPr>
              <a:t>候选节点不可行时，Scheduler 可继续选择其他满足约束的节点。</a:t>
            </a:r>
          </a:p>
        </p:txBody>
      </p:sp>
    </p:spTree>
    <p:extLst>
      <p:ext uri="{BB962C8B-B14F-4D97-AF65-F5344CB8AC3E}">
        <p14:creationId xmlns:p14="http://schemas.microsoft.com/office/powerpoint/2010/main" val="1011373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2026-08-05T03:02:58.2080000Z</dcterms:created>
  <dcterms:modified xsi:type="dcterms:W3CDTF">2026-08-05T03:02:58.2080000Z</dcterms:modified>
</coreProperties>
</file>